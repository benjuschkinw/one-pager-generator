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5"/>
  </p:sldMasterIdLst>
  <p:notesMasterIdLst>
    <p:notesMasterId r:id="rId7"/>
  </p:notesMasterIdLst>
  <p:handoutMasterIdLst>
    <p:handoutMasterId r:id="rId8"/>
  </p:handoutMasterIdLst>
  <p:sldIdLst>
    <p:sldId id="2147377611" r:id="rId6"/>
  </p:sldIdLst>
  <p:sldSz cx="9144000" cy="5143500" type="screen16x9"/>
  <p:notesSz cx="6797675" cy="9928225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06699353-3A2F-4446-8C95-63D4AFDEF5DF}">
          <p14:sldIdLst>
            <p14:sldId id="2147377611"/>
          </p14:sldIdLst>
        </p14:section>
      </p14:sectionLst>
    </p:ext>
    <p:ext uri="{EFAFB233-063F-42B5-8137-9DF3F51BA10A}">
      <p15:sldGuideLst xmlns:p15="http://schemas.microsoft.com/office/powerpoint/2012/main">
        <p15:guide id="3" pos="2767" userDrawn="1">
          <p15:clr>
            <a:srgbClr val="A4A3A4"/>
          </p15:clr>
        </p15:guide>
        <p15:guide id="4" orient="horz" pos="259" userDrawn="1">
          <p15:clr>
            <a:srgbClr val="A4A3A4"/>
          </p15:clr>
        </p15:guide>
        <p15:guide id="6" pos="204" userDrawn="1">
          <p15:clr>
            <a:srgbClr val="A4A3A4"/>
          </p15:clr>
        </p15:guide>
        <p15:guide id="7" pos="3742" userDrawn="1">
          <p15:clr>
            <a:srgbClr val="A4A3A4"/>
          </p15:clr>
        </p15:guide>
        <p15:guide id="8" pos="2018" userDrawn="1">
          <p15:clr>
            <a:srgbClr val="A4A3A4"/>
          </p15:clr>
        </p15:guide>
        <p15:guide id="10" orient="horz" pos="2958" userDrawn="1">
          <p15:clr>
            <a:srgbClr val="A4A3A4"/>
          </p15:clr>
        </p15:guide>
        <p15:guide id="12" pos="5556" userDrawn="1">
          <p15:clr>
            <a:srgbClr val="A4A3A4"/>
          </p15:clr>
        </p15:guide>
        <p15:guide id="14" pos="2993" userDrawn="1">
          <p15:clr>
            <a:srgbClr val="A4A3A4"/>
          </p15:clr>
        </p15:guide>
        <p15:guide id="15" orient="horz" pos="191" userDrawn="1">
          <p15:clr>
            <a:srgbClr val="A4A3A4"/>
          </p15:clr>
        </p15:guide>
        <p15:guide id="17" orient="horz" pos="3049" userDrawn="1">
          <p15:clr>
            <a:srgbClr val="A4A3A4"/>
          </p15:clr>
        </p15:guide>
        <p15:guide id="18" orient="horz" pos="2935" userDrawn="1">
          <p15:clr>
            <a:srgbClr val="A4A3A4"/>
          </p15:clr>
        </p15:guide>
        <p15:guide id="23" orient="horz" pos="1733" userDrawn="1">
          <p15:clr>
            <a:srgbClr val="A4A3A4"/>
          </p15:clr>
        </p15:guide>
        <p15:guide id="24" orient="horz" pos="1847" userDrawn="1">
          <p15:clr>
            <a:srgbClr val="A4A3A4"/>
          </p15:clr>
        </p15:guide>
        <p15:guide id="31" orient="horz" pos="327" userDrawn="1">
          <p15:clr>
            <a:srgbClr val="A4A3A4"/>
          </p15:clr>
        </p15:guide>
        <p15:guide id="33" pos="2880" userDrawn="1">
          <p15:clr>
            <a:srgbClr val="A4A3A4"/>
          </p15:clr>
        </p15:guide>
        <p15:guide id="34" orient="horz" pos="418" userDrawn="1">
          <p15:clr>
            <a:srgbClr val="A4A3A4"/>
          </p15:clr>
        </p15:guide>
        <p15:guide id="37" pos="1927" userDrawn="1">
          <p15:clr>
            <a:srgbClr val="A4A3A4"/>
          </p15:clr>
        </p15:guide>
        <p15:guide id="40" pos="383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38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A13604D-951F-F98C-ADD8-F2D53F50562A}" name="Jan Oeschger" initials="JO" userId="d2299cbd914f24eb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eresa Dick" initials="TD" lastIdx="2" clrIdx="0"/>
  <p:cmAuthor id="2" name="Claudius Stammbach" initials="CS" lastIdx="1" clrIdx="1">
    <p:extLst>
      <p:ext uri="{19B8F6BF-5375-455C-9EA6-DF929625EA0E}">
        <p15:presenceInfo xmlns:p15="http://schemas.microsoft.com/office/powerpoint/2012/main" userId="2fe753960fb41129" providerId="Windows Live"/>
      </p:ext>
    </p:extLst>
  </p:cmAuthor>
  <p:cmAuthor id="3" name="David Fürsich" initials="DF" lastIdx="1" clrIdx="2">
    <p:extLst>
      <p:ext uri="{19B8F6BF-5375-455C-9EA6-DF929625EA0E}">
        <p15:presenceInfo xmlns:p15="http://schemas.microsoft.com/office/powerpoint/2012/main" userId="S::david.fuersich@uzh.ch::8a974e71-c146-4c53-8538-34bd4a20bc8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3F6A"/>
    <a:srgbClr val="3D3D3D"/>
    <a:srgbClr val="00B050"/>
    <a:srgbClr val="F4C500"/>
    <a:srgbClr val="107A1A"/>
    <a:srgbClr val="9DC3E6"/>
    <a:srgbClr val="8FAADC"/>
    <a:srgbClr val="D0CECE"/>
    <a:srgbClr val="BFBFB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48" autoAdjust="0"/>
    <p:restoredTop sz="95487" autoAdjust="0"/>
  </p:normalViewPr>
  <p:slideViewPr>
    <p:cSldViewPr snapToGrid="0">
      <p:cViewPr varScale="1">
        <p:scale>
          <a:sx n="98" d="100"/>
          <a:sy n="98" d="100"/>
        </p:scale>
        <p:origin x="508" y="60"/>
      </p:cViewPr>
      <p:guideLst>
        <p:guide pos="2767"/>
        <p:guide orient="horz" pos="259"/>
        <p:guide pos="204"/>
        <p:guide pos="3742"/>
        <p:guide pos="2018"/>
        <p:guide orient="horz" pos="2958"/>
        <p:guide pos="5556"/>
        <p:guide pos="2993"/>
        <p:guide orient="horz" pos="191"/>
        <p:guide orient="horz" pos="3049"/>
        <p:guide orient="horz" pos="2935"/>
        <p:guide orient="horz" pos="1733"/>
        <p:guide orient="horz" pos="1847"/>
        <p:guide orient="horz" pos="327"/>
        <p:guide pos="2880"/>
        <p:guide orient="horz" pos="418"/>
        <p:guide pos="1927"/>
        <p:guide pos="3833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5592" y="2034"/>
      </p:cViewPr>
      <p:guideLst>
        <p:guide orient="horz" pos="3388"/>
        <p:guide pos="212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microsoft.com/office/2018/10/relationships/authors" Target="authors.xml"/><Relationship Id="rId10" Type="http://schemas.openxmlformats.org/officeDocument/2006/relationships/commentAuthors" Target="commentAuthors.xml"/><Relationship Id="rId4" Type="http://schemas.openxmlformats.org/officeDocument/2006/relationships/customXml" Target="../customXml/item4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889304412864622E-2"/>
          <c:y val="0.15160349854227406"/>
          <c:w val="0.9222139117427075"/>
          <c:h val="0.69679300291545188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tx2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1305</c:v>
                </c:pt>
                <c:pt idx="1">
                  <c:v>5250</c:v>
                </c:pt>
                <c:pt idx="2">
                  <c:v>9046</c:v>
                </c:pt>
                <c:pt idx="3">
                  <c:v>11705</c:v>
                </c:pt>
                <c:pt idx="4">
                  <c:v>14631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54-4FE9-A8C3-C7F7BB83500A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248</c:v>
                </c:pt>
                <c:pt idx="1">
                  <c:v>1454</c:v>
                </c:pt>
                <c:pt idx="2">
                  <c:v>2639</c:v>
                </c:pt>
                <c:pt idx="3">
                  <c:v>3547</c:v>
                </c:pt>
                <c:pt idx="4">
                  <c:v>4433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B54-4FE9-A8C3-C7F7BB8350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432416943"/>
        <c:axId val="1"/>
      </c:barChart>
      <c:lineChart>
        <c:grouping val="standard"/>
        <c:varyColors val="0"/>
        <c:ser>
          <c:idx val="2"/>
          <c:order val="2"/>
          <c:spPr>
            <a:ln w="19050" cmpd="sng" algn="ctr">
              <a:solidFill>
                <a:schemeClr val="accent6"/>
              </a:solidFill>
              <a:prstDash val="solid"/>
            </a:ln>
          </c:spPr>
          <c:marker>
            <c:symbol val="none"/>
          </c:marker>
          <c:val>
            <c:numRef>
              <c:f>Sheet1!$A$3:$E$3</c:f>
              <c:numCache>
                <c:formatCode>General</c:formatCode>
                <c:ptCount val="5"/>
                <c:pt idx="0">
                  <c:v>19.003831417624522</c:v>
                </c:pt>
                <c:pt idx="1">
                  <c:v>27.695238095238096</c:v>
                </c:pt>
                <c:pt idx="2">
                  <c:v>29.173115189033826</c:v>
                </c:pt>
                <c:pt idx="3">
                  <c:v>30.303289192652709</c:v>
                </c:pt>
                <c:pt idx="4">
                  <c:v>30.298680883056523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7B54-4FE9-A8C3-C7F7BB8350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143241694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463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432416943"/>
        <c:crosses val="min"/>
        <c:crossBetween val="between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50"/>
          <c:min val="-10"/>
        </c:scaling>
        <c:delete val="0"/>
        <c:axPos val="r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2"/>
        <c:crosses val="max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8294177732379977"/>
          <c:y val="0.20428571428571429"/>
          <c:w val="0.42288049029622066"/>
          <c:h val="0.59142857142857141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tx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DDBD-4609-81C3-6253B120A167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DBD-4609-81C3-6253B120A167}"/>
              </c:ext>
            </c:extLst>
          </c:dPt>
          <c:dPt>
            <c:idx val="2"/>
            <c:bubble3D val="0"/>
            <c:spPr>
              <a:solidFill>
                <a:srgbClr val="4C6C9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DDBD-4609-81C3-6253B120A167}"/>
              </c:ext>
            </c:extLst>
          </c:dPt>
          <c:dPt>
            <c:idx val="3"/>
            <c:bubble3D val="0"/>
            <c:spPr>
              <a:solidFill>
                <a:srgbClr val="C3CFE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DBD-4609-81C3-6253B120A167}"/>
              </c:ext>
            </c:extLst>
          </c:dPt>
          <c:dPt>
            <c:idx val="4"/>
            <c:bubble3D val="0"/>
            <c:spPr>
              <a:solidFill>
                <a:srgbClr val="80808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DDBD-4609-81C3-6253B120A167}"/>
              </c:ext>
            </c:extLst>
          </c:dPt>
          <c:dPt>
            <c:idx val="5"/>
            <c:bubble3D val="0"/>
            <c:spPr>
              <a:solidFill>
                <a:schemeClr val="accent3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DDBD-4609-81C3-6253B120A167}"/>
              </c:ext>
            </c:extLst>
          </c:dPt>
          <c:dLbls>
            <c:dLbl>
              <c:idx val="0"/>
              <c:layout>
                <c:manualLayout>
                  <c:x val="-3.0643513789581204E-3"/>
                  <c:y val="-1.4285714285714286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DBD-4609-81C3-6253B120A167}"/>
                </c:ext>
              </c:extLst>
            </c:dLbl>
            <c:dLbl>
              <c:idx val="1"/>
              <c:layout>
                <c:manualLayout>
                  <c:x val="-1.0214504596527069E-3"/>
                  <c:y val="1.2857142857142857E-2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DDBD-4609-81C3-6253B120A167}"/>
                </c:ext>
              </c:extLst>
            </c:dLbl>
            <c:dLbl>
              <c:idx val="2"/>
              <c:layout>
                <c:manualLayout>
                  <c:x val="-4.0858018386108275E-3"/>
                  <c:y val="1.4285714285714286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DDBD-4609-81C3-6253B120A167}"/>
                </c:ext>
              </c:extLst>
            </c:dLbl>
            <c:dLbl>
              <c:idx val="3"/>
              <c:layout>
                <c:manualLayout>
                  <c:x val="-1.0214504596527068E-2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DDBD-4609-81C3-6253B120A167}"/>
                </c:ext>
              </c:extLst>
            </c:dLbl>
            <c:dLbl>
              <c:idx val="4"/>
              <c:layout>
                <c:manualLayout>
                  <c:x val="-8.171603677221655E-3"/>
                  <c:y val="-5.7142857142857143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DDBD-4609-81C3-6253B120A167}"/>
                </c:ext>
              </c:extLst>
            </c:dLbl>
            <c:dLbl>
              <c:idx val="5"/>
              <c:layout>
                <c:manualLayout>
                  <c:x val="0"/>
                  <c:y val="-2.8571428571428571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DDBD-4609-81C3-6253B120A16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Sheet1!$A$1:$A$6</c:f>
              <c:numCache>
                <c:formatCode>General</c:formatCode>
                <c:ptCount val="6"/>
                <c:pt idx="0">
                  <c:v>42.6</c:v>
                </c:pt>
                <c:pt idx="1">
                  <c:v>17.7</c:v>
                </c:pt>
                <c:pt idx="2">
                  <c:v>8.6999999999999993</c:v>
                </c:pt>
                <c:pt idx="3">
                  <c:v>7.3999999999999995</c:v>
                </c:pt>
                <c:pt idx="4">
                  <c:v>6.9</c:v>
                </c:pt>
                <c:pt idx="5">
                  <c:v>16.8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DBD-4609-81C3-6253B120A1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9315628192032689"/>
          <c:y val="0.20724637681159419"/>
          <c:w val="0.41266598569969354"/>
          <c:h val="0.58550724637681162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tx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2996-43B0-942C-B82300B91A05}"/>
              </c:ext>
            </c:extLst>
          </c:dPt>
          <c:dPt>
            <c:idx val="1"/>
            <c:bubble3D val="0"/>
            <c:spPr>
              <a:solidFill>
                <a:schemeClr val="bg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2996-43B0-942C-B82300B91A05}"/>
              </c:ext>
            </c:extLst>
          </c:dPt>
          <c:dLbls>
            <c:dLbl>
              <c:idx val="0"/>
              <c:layout>
                <c:manualLayout>
                  <c:x val="1.0214504596527069E-3"/>
                  <c:y val="7.246376811594203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6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2996-43B0-942C-B82300B91A0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Sheet1!$A$1:$A$2</c:f>
              <c:numCache>
                <c:formatCode>General</c:formatCode>
                <c:ptCount val="2"/>
                <c:pt idx="0">
                  <c:v>95</c:v>
                </c:pt>
                <c:pt idx="1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996-43B0-942C-B82300B91A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0"/>
    <c:dispBlanksAs val="gap"/>
    <c:showDLblsOverMax val="1"/>
  </c:chart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6C526B2-3BB1-4109-9747-9F43A6241E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" y="1"/>
            <a:ext cx="2918909" cy="539503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04D3DF9-2175-4A73-AF72-F7B3C5B83B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4254" y="1"/>
            <a:ext cx="2918909" cy="539503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D7BC3E50-0BA3-4064-AC93-A2BB1F6C9705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51B6A70-DF5E-45D1-9B5F-2DCF24A43D9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" y="10216076"/>
            <a:ext cx="2918909" cy="539501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FE67EDA-D7CF-4709-9B20-44776F5861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4254" y="10216076"/>
            <a:ext cx="2918909" cy="539501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DF76C5B6-3087-4253-8452-0518541DE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9939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18385" cy="539647"/>
          </a:xfrm>
          <a:prstGeom prst="rect">
            <a:avLst/>
          </a:prstGeom>
        </p:spPr>
        <p:txBody>
          <a:bodyPr vert="horz" lIns="91421" tIns="45710" rIns="91421" bIns="45710" rtlCol="0"/>
          <a:lstStyle>
            <a:lvl1pPr algn="l" rtl="0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4794" y="0"/>
            <a:ext cx="2918385" cy="539647"/>
          </a:xfrm>
          <a:prstGeom prst="rect">
            <a:avLst/>
          </a:prstGeom>
        </p:spPr>
        <p:txBody>
          <a:bodyPr vert="horz" lIns="91421" tIns="45710" rIns="91421" bIns="45710" rtlCol="0"/>
          <a:lstStyle>
            <a:lvl1pPr algn="r" rtl="0">
              <a:defRPr sz="1200"/>
            </a:lvl1pPr>
          </a:lstStyle>
          <a:p>
            <a:fld id="{77552CD5-DB5B-46F3-833F-DFE2EF9956CA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1344613"/>
            <a:ext cx="6450013" cy="3629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1" tIns="45710" rIns="91421" bIns="4571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475" y="5176120"/>
            <a:ext cx="5387787" cy="4235009"/>
          </a:xfrm>
          <a:prstGeom prst="rect">
            <a:avLst/>
          </a:prstGeom>
        </p:spPr>
        <p:txBody>
          <a:bodyPr vert="horz" lIns="91421" tIns="45710" rIns="91421" bIns="4571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10215933"/>
            <a:ext cx="2918385" cy="539646"/>
          </a:xfrm>
          <a:prstGeom prst="rect">
            <a:avLst/>
          </a:prstGeom>
        </p:spPr>
        <p:txBody>
          <a:bodyPr vert="horz" lIns="91421" tIns="45710" rIns="91421" bIns="45710" rtlCol="0" anchor="b"/>
          <a:lstStyle>
            <a:lvl1pPr algn="l" rtl="0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4794" y="10215933"/>
            <a:ext cx="2918385" cy="539646"/>
          </a:xfrm>
          <a:prstGeom prst="rect">
            <a:avLst/>
          </a:prstGeom>
        </p:spPr>
        <p:txBody>
          <a:bodyPr vert="horz" lIns="91421" tIns="45710" rIns="91421" bIns="45710" rtlCol="0" anchor="b"/>
          <a:lstStyle>
            <a:lvl1pPr algn="r" rtl="0">
              <a:defRPr sz="1200"/>
            </a:lvl1pPr>
          </a:lstStyle>
          <a:p>
            <a:fld id="{B39E50BF-321C-41EB-A04D-89790E5D4E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524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9E50BF-321C-41EB-A04D-89790E5D4E0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070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oleObject" Target="../embeddings/oleObject5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4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4" Type="http://schemas.openxmlformats.org/officeDocument/2006/relationships/oleObject" Target="../embeddings/oleObject7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oleObject" Target="../embeddings/oleObject8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4" Type="http://schemas.openxmlformats.org/officeDocument/2006/relationships/oleObject" Target="../embeddings/oleObject9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4" Type="http://schemas.openxmlformats.org/officeDocument/2006/relationships/oleObject" Target="../embeddings/oleObject9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4" Type="http://schemas.openxmlformats.org/officeDocument/2006/relationships/oleObject" Target="../embeddings/oleObject10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oleObject" Target="../embeddings/oleObject11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4" Type="http://schemas.openxmlformats.org/officeDocument/2006/relationships/oleObject" Target="../embeddings/oleObject12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4" Type="http://schemas.openxmlformats.org/officeDocument/2006/relationships/oleObject" Target="../embeddings/oleObject13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4" Type="http://schemas.openxmlformats.org/officeDocument/2006/relationships/oleObject" Target="../embeddings/oleObject14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oleObject" Target="../embeddings/oleObject11.bin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4" Type="http://schemas.openxmlformats.org/officeDocument/2006/relationships/oleObject" Target="../embeddings/oleObject15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oleObject" Target="../embeddings/oleObject16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4" Type="http://schemas.openxmlformats.org/officeDocument/2006/relationships/oleObject" Target="../embeddings/oleObject17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2197881D-8918-C775-716D-504199AEAB0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306224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D326D55-2195-6F43-30AD-801D3AF8DEC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35265" y="1852000"/>
            <a:ext cx="84963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2400" b="1" cap="all" baseline="0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01D1B8A-8A41-09B0-7E35-0CC6735BEA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2939" y="2138354"/>
            <a:ext cx="8485080" cy="180000"/>
          </a:xfrm>
          <a:prstGeom prst="rect">
            <a:avLst/>
          </a:prstGeom>
        </p:spPr>
        <p:txBody>
          <a:bodyPr lIns="0" tIns="0" rIns="0" bIns="0"/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 cap="none" baseline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84ADFD49-95F7-80F6-AEFE-B3216BE40E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0623" y="1220788"/>
            <a:ext cx="1776413" cy="27146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buNone/>
              <a:defRPr sz="900" i="1"/>
            </a:lvl1pPr>
            <a:lvl2pPr marL="493713" indent="0">
              <a:buNone/>
              <a:defRPr/>
            </a:lvl2pPr>
            <a:lvl3pPr marL="842962" indent="0">
              <a:buNone/>
              <a:defRPr/>
            </a:lvl3pPr>
            <a:lvl4pPr marL="1266060" indent="0">
              <a:buNone/>
              <a:defRPr/>
            </a:lvl4pPr>
            <a:lvl5pPr marL="1688082" indent="0"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r>
              <a:rPr lang="en-US"/>
              <a:t>edit Master</a:t>
            </a:r>
            <a:endParaRPr lang="en-US" dirty="0"/>
          </a:p>
        </p:txBody>
      </p:sp>
      <p:sp>
        <p:nvSpPr>
          <p:cNvPr id="8" name="Picture Placeholder 18">
            <a:extLst>
              <a:ext uri="{FF2B5EF4-FFF2-40B4-BE49-F238E27FC236}">
                <a16:creationId xmlns:a16="http://schemas.microsoft.com/office/drawing/2014/main" id="{169389F3-C80B-12A0-BEBF-29CECB50D26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28492" y="2571750"/>
            <a:ext cx="1936750" cy="1411288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endParaRPr lang="en-GB" dirty="0"/>
          </a:p>
        </p:txBody>
      </p:sp>
      <p:sp>
        <p:nvSpPr>
          <p:cNvPr id="9" name="Picture Placeholder 18">
            <a:extLst>
              <a:ext uri="{FF2B5EF4-FFF2-40B4-BE49-F238E27FC236}">
                <a16:creationId xmlns:a16="http://schemas.microsoft.com/office/drawing/2014/main" id="{9BFE5C34-DBA0-5D49-91AF-9F555F519D5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511295" y="2571750"/>
            <a:ext cx="1936750" cy="1411288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endParaRPr lang="en-GB" dirty="0"/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8B6D6F96-F0E6-4B7E-28B5-C130CFE96C3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694098" y="2571750"/>
            <a:ext cx="1936750" cy="1411288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endParaRPr lang="en-GB" dirty="0"/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3A9C7694-ECE3-2790-6678-02A06101EDF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76901" y="2571750"/>
            <a:ext cx="1936750" cy="1411288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  <p:txBody>
          <a:bodyPr/>
          <a:lstStyle>
            <a:lvl1pPr marL="0" indent="0" algn="ctr">
              <a:buNone/>
              <a:defRPr sz="1600"/>
            </a:lvl1pPr>
          </a:lstStyle>
          <a:p>
            <a:endParaRPr lang="en-GB" dirty="0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85104EFF-3519-D684-2B80-9FFFF618421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30623" y="582103"/>
            <a:ext cx="1216025" cy="576262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03D4DD5E-1D96-1647-E8E9-6A7D83D65AB5}"/>
              </a:ext>
            </a:extLst>
          </p:cNvPr>
          <p:cNvSpPr>
            <a:spLocks noGrp="1" noChangeArrowheads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328492" y="4885139"/>
            <a:ext cx="1800506" cy="180000"/>
          </a:xfrm>
          <a:prstGeom prst="rect">
            <a:avLst/>
          </a:prstGeom>
          <a:ln/>
        </p:spPr>
        <p:txBody>
          <a:bodyPr lIns="0" tIns="0" rIns="0" bIns="0" anchor="t" anchorCtr="0"/>
          <a:lstStyle>
            <a:lvl1pPr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6" name="Footer Placeholder 14">
            <a:extLst>
              <a:ext uri="{FF2B5EF4-FFF2-40B4-BE49-F238E27FC236}">
                <a16:creationId xmlns:a16="http://schemas.microsoft.com/office/drawing/2014/main" id="{94C02E6F-63B2-083F-642C-8B1F445E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82158" y="4885139"/>
            <a:ext cx="1579685" cy="180000"/>
          </a:xfrm>
        </p:spPr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4" name="Slide Number Placeholder 15">
            <a:extLst>
              <a:ext uri="{FF2B5EF4-FFF2-40B4-BE49-F238E27FC236}">
                <a16:creationId xmlns:a16="http://schemas.microsoft.com/office/drawing/2014/main" id="{F28FAFE6-9AFA-66FA-4823-21272A3DF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3242" y="4885139"/>
            <a:ext cx="422266" cy="180000"/>
          </a:xfrm>
        </p:spPr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782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B01325C-F6E0-5196-931B-A1B01CEE6C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416809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122BFCF-C366-74D8-A4C9-F9C21651B586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0" y="854416"/>
            <a:ext cx="9144000" cy="3803650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</p:spPr>
        <p:txBody>
          <a:bodyPr/>
          <a:lstStyle>
            <a:lvl1pPr rtl="0">
              <a:defRPr>
                <a:solidFill>
                  <a:srgbClr val="3D3D3D"/>
                </a:solidFill>
              </a:defRPr>
            </a:lvl1pPr>
            <a:lvl2pPr rtl="0">
              <a:defRPr>
                <a:solidFill>
                  <a:srgbClr val="3D3D3D"/>
                </a:solidFill>
              </a:defRPr>
            </a:lvl2pPr>
            <a:lvl3pPr rtl="0">
              <a:defRPr>
                <a:solidFill>
                  <a:srgbClr val="3D3D3D"/>
                </a:solidFill>
              </a:defRPr>
            </a:lvl3pPr>
            <a:lvl4pPr rtl="0">
              <a:defRPr>
                <a:solidFill>
                  <a:srgbClr val="3D3D3D"/>
                </a:solidFill>
              </a:defRPr>
            </a:lvl4pPr>
            <a:lvl5pPr rtl="0">
              <a:defRPr>
                <a:solidFill>
                  <a:srgbClr val="3D3D3D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48">
            <a:extLst>
              <a:ext uri="{FF2B5EF4-FFF2-40B4-BE49-F238E27FC236}">
                <a16:creationId xmlns:a16="http://schemas.microsoft.com/office/drawing/2014/main" id="{76B350E4-262C-3E8F-1846-C531E4F4E11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350" y="854416"/>
            <a:ext cx="9144000" cy="38064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D3D3D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5C5EA24-6E97-5361-8311-23AF3AC81F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7241" y="994467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1FC61E5-D144-2242-BF45-37C95813DF0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4616" y="994467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2BF5378-90EB-4E83-E32D-7FE3FDAAD45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96002" y="994467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A1FE1E8-09BC-F168-C97F-B3B3636D348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7241" y="1379802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E3024907-E3FC-DB97-3D68-9673A4BFE34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24616" y="1379802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1875939-1564-A563-E1B1-28C7FCAF317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396002" y="1379802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559B74B-2A78-AD77-D6B0-81FC5A178D2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7241" y="1765137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1CFDDBB6-5D9D-088B-807B-740F795C88C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24616" y="1765137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F61922F-810E-CE54-FDE5-256A402ACDD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396002" y="1765137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5F7E069F-B93D-0828-2228-B59D5A728BC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27241" y="2150472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>
            <a:noAutofit/>
          </a:bodyPr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645F426C-F783-9C4F-5DC0-9261791073F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24616" y="2150472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680E0419-0FAE-AE9C-C845-DE167ABDFCF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396002" y="2150472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D393012A-0302-1EA7-5687-6BD37E1CDBF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27241" y="2535807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B522191-38FA-D2C3-B0A0-8FD372F1632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24616" y="2535807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EB2C0169-A407-6649-0101-9F3D7C9F049B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396002" y="2535807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66C4C7EE-12B8-E805-9A3F-09EAFA0251A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7241" y="2921142"/>
            <a:ext cx="4318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A76401FC-0A8D-D819-0C91-8812551A25C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24616" y="2921142"/>
            <a:ext cx="3292000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78FCB58C-7411-015C-1882-B9F2434CB0B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396002" y="2921142"/>
            <a:ext cx="720725" cy="273600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wrap="none" anchor="ctr"/>
          <a:lstStyle>
            <a:lvl1pPr marL="0" indent="0" algn="ctr" rtl="0">
              <a:lnSpc>
                <a:spcPct val="100000"/>
              </a:lnSpc>
              <a:spcBef>
                <a:spcPts val="0"/>
              </a:spcBef>
              <a:buNone/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2pPr>
            <a:lvl3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3pPr>
            <a:lvl4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4pPr>
            <a:lvl5pPr algn="ctr">
              <a:lnSpc>
                <a:spcPct val="100000"/>
              </a:lnSpc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83BA6765-3480-C4C6-4405-C8E0899B655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91658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58F6906-75FC-6374-D76F-C994509A6890}"/>
              </a:ext>
            </a:extLst>
          </p:cNvPr>
          <p:cNvSpPr>
            <a:spLocks noGrp="1" noChangeArrowheads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328492" y="4885139"/>
            <a:ext cx="1800506" cy="180000"/>
          </a:xfrm>
          <a:prstGeom prst="rect">
            <a:avLst/>
          </a:prstGeom>
          <a:ln/>
        </p:spPr>
        <p:txBody>
          <a:bodyPr lIns="0" tIns="0" rIns="0" bIns="0" anchor="t" anchorCtr="0"/>
          <a:lstStyle>
            <a:lvl1pPr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25" name="Slide Number Placeholder 15">
            <a:extLst>
              <a:ext uri="{FF2B5EF4-FFF2-40B4-BE49-F238E27FC236}">
                <a16:creationId xmlns:a16="http://schemas.microsoft.com/office/drawing/2014/main" id="{454D0225-0606-0EDA-3721-1903ABF8B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3242" y="4885139"/>
            <a:ext cx="422266" cy="180000"/>
          </a:xfrm>
        </p:spPr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7" name="Footer Placeholder 14">
            <a:extLst>
              <a:ext uri="{FF2B5EF4-FFF2-40B4-BE49-F238E27FC236}">
                <a16:creationId xmlns:a16="http://schemas.microsoft.com/office/drawing/2014/main" id="{410CE8EB-870D-171D-4D12-687A3D832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82158" y="4885139"/>
            <a:ext cx="1579685" cy="180000"/>
          </a:xfrm>
        </p:spPr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669540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7" userDrawn="1">
          <p15:clr>
            <a:srgbClr val="FBAE40"/>
          </p15:clr>
        </p15:guide>
        <p15:guide id="2" orient="horz" pos="41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2833EEB4-718C-DF24-AD79-7C6B4D3496F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37401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4" imgH="405" progId="TCLayout.ActiveDocument.1">
                  <p:embed/>
                </p:oleObj>
              </mc:Choice>
              <mc:Fallback>
                <p:oleObj name="think-cell Slide" r:id="rId5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6A7EACC-4B95-4072-5C50-D113157841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2361" y="1330773"/>
            <a:ext cx="9144000" cy="2805113"/>
          </a:xfrm>
          <a:prstGeom prst="rect">
            <a:avLst/>
          </a:prstGeom>
          <a:solidFill>
            <a:schemeClr val="tx1">
              <a:lumMod val="95000"/>
              <a:lumOff val="5000"/>
              <a:alpha val="80000"/>
            </a:schemeClr>
          </a:solidFill>
        </p:spPr>
        <p:txBody>
          <a:bodyPr/>
          <a:lstStyle>
            <a:lvl1pPr marL="0" indent="0" rtl="0">
              <a:buNone/>
              <a:defRPr>
                <a:solidFill>
                  <a:srgbClr val="3D3D3D"/>
                </a:solidFill>
              </a:defRPr>
            </a:lvl1pPr>
            <a:lvl2pPr>
              <a:defRPr>
                <a:solidFill>
                  <a:srgbClr val="3D3D3D"/>
                </a:solidFill>
              </a:defRPr>
            </a:lvl2pPr>
            <a:lvl3pPr>
              <a:defRPr>
                <a:solidFill>
                  <a:srgbClr val="3D3D3D"/>
                </a:solidFill>
              </a:defRPr>
            </a:lvl3pPr>
            <a:lvl4pPr>
              <a:defRPr>
                <a:solidFill>
                  <a:srgbClr val="3D3D3D"/>
                </a:solidFill>
              </a:defRPr>
            </a:lvl4pPr>
            <a:lvl5pPr marL="1688082" indent="0" rtl="0">
              <a:buNone/>
              <a:defRPr>
                <a:solidFill>
                  <a:srgbClr val="3D3D3D"/>
                </a:solidFill>
              </a:defRPr>
            </a:lvl5pPr>
          </a:lstStyle>
          <a:p>
            <a:pPr lvl="0"/>
            <a:r>
              <a:rPr lang="en-US" dirty="0"/>
              <a:t>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8E6C3FF-00A7-FE8C-C105-70DC9EC76A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361" y="1336095"/>
            <a:ext cx="9146361" cy="2805113"/>
          </a:xfrm>
          <a:prstGeom prst="rect">
            <a:avLst/>
          </a:prstGeom>
          <a:solidFill>
            <a:srgbClr val="3D3D3D"/>
          </a:solidFill>
        </p:spPr>
        <p:txBody>
          <a:bodyPr/>
          <a:lstStyle>
            <a:lvl1pPr marL="0" indent="0">
              <a:buNone/>
              <a:defRPr>
                <a:solidFill>
                  <a:srgbClr val="3D3D3D"/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7A097E4-D9B3-7FF4-7DD5-2881DB3112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9113" y="3408363"/>
            <a:ext cx="4433887" cy="411162"/>
          </a:xfrm>
          <a:prstGeom prst="rect">
            <a:avLst/>
          </a:prstGeom>
        </p:spPr>
        <p:txBody>
          <a:bodyPr/>
          <a:lstStyle>
            <a:lvl1pPr marL="0" indent="0" rtl="0">
              <a:buFontTx/>
              <a:buNone/>
              <a:defRPr sz="2600" b="1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600" b="1">
                <a:solidFill>
                  <a:schemeClr val="bg1"/>
                </a:solidFill>
              </a:defRPr>
            </a:lvl2pPr>
            <a:lvl3pPr marL="914400" indent="0">
              <a:buNone/>
              <a:defRPr sz="2600" b="1">
                <a:solidFill>
                  <a:schemeClr val="bg1"/>
                </a:solidFill>
              </a:defRPr>
            </a:lvl3pPr>
            <a:lvl4pPr marL="1371600" indent="0">
              <a:buNone/>
              <a:defRPr sz="2600" b="1">
                <a:solidFill>
                  <a:schemeClr val="bg1"/>
                </a:solidFill>
              </a:defRPr>
            </a:lvl4pPr>
            <a:lvl5pPr>
              <a:defRPr sz="2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856155ED-769D-AB8F-77A7-EE26CD3FB6E3}"/>
              </a:ext>
            </a:extLst>
          </p:cNvPr>
          <p:cNvSpPr>
            <a:spLocks noGrp="1" noChangeArrowheads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328492" y="4885139"/>
            <a:ext cx="1800506" cy="180000"/>
          </a:xfrm>
          <a:prstGeom prst="rect">
            <a:avLst/>
          </a:prstGeom>
          <a:ln/>
        </p:spPr>
        <p:txBody>
          <a:bodyPr lIns="0" tIns="0" rIns="0" bIns="0" anchor="t" anchorCtr="0"/>
          <a:lstStyle>
            <a:lvl1pPr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5" name="Fußzeilenplatzhalter 6">
            <a:extLst>
              <a:ext uri="{FF2B5EF4-FFF2-40B4-BE49-F238E27FC236}">
                <a16:creationId xmlns:a16="http://schemas.microsoft.com/office/drawing/2014/main" id="{83B0F7F6-EA27-9BF9-BED3-62958AE7AD8A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 bwMode="auto">
          <a:xfrm>
            <a:off x="3782158" y="4885139"/>
            <a:ext cx="1579685" cy="180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 rtl="0">
              <a:defRPr sz="9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93A36832-5332-3665-9ECF-B0337459C44B}"/>
              </a:ext>
            </a:extLst>
          </p:cNvPr>
          <p:cNvSpPr txBox="1">
            <a:spLocks/>
          </p:cNvSpPr>
          <p:nvPr userDrawn="1"/>
        </p:nvSpPr>
        <p:spPr>
          <a:xfrm>
            <a:off x="8393242" y="4885139"/>
            <a:ext cx="422266" cy="180000"/>
          </a:xfrm>
          <a:prstGeom prst="rect">
            <a:avLst/>
          </a:prstGeom>
          <a:ln/>
        </p:spPr>
        <p:txBody>
          <a:bodyPr lIns="0" tIns="0" rIns="0" bIns="0" anchor="t"/>
          <a:lstStyle>
            <a:defPPr>
              <a:defRPr lang="en-US"/>
            </a:defPPr>
            <a:lvl1pPr marL="0" algn="r" defTabSz="457200" rtl="0" eaLnBrk="1" latinLnBrk="0" hangingPunct="1">
              <a:defRPr sz="9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34709C5-D592-4784-B331-5CC8F77FAAFB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95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39021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85883B-728C-1796-C126-6B8D62988DD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92771B8D-156C-518E-4576-7231EBF2D9C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782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254553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92619880-DA56-2A20-F6A3-C69132B15E8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8487016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F22AB65-2EA0-F431-B8DB-1563EB3A21F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846912"/>
            <a:ext cx="8491658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6D59254-1EBB-4CD3-49CD-2104E201C9C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3AECDE67-E01B-9178-88C8-D838BAC5E03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024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18280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6" name="Gerader Verbinder 2">
            <a:extLst>
              <a:ext uri="{FF2B5EF4-FFF2-40B4-BE49-F238E27FC236}">
                <a16:creationId xmlns:a16="http://schemas.microsoft.com/office/drawing/2014/main" id="{C84BCC25-37B2-A8A8-4A62-BF24E679E7E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84963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F22AB65-2EA0-F431-B8DB-1563EB3A21F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846912"/>
            <a:ext cx="8491658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92619880-DA56-2A20-F6A3-C69132B15E8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8487016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13545F3-C130-0DC7-4F06-80AD1C3C0D3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91694BE-596B-36FA-A233-A33BE79723B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443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4247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D6B8517-9C5F-B3A7-5742-8082D6DB237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3850" y="846912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62A1C91-4A34-7D1A-619E-FB551D67EAA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51389" y="846912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40641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11DA4587-EE17-4073-80FA-0B0DE283B66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51389" y="1178881"/>
            <a:ext cx="40641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9D266DA-EF3F-C340-40ED-EE28A0226FE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1501971-B8B9-8484-0787-44320AF02CE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979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993075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62A1C91-4A34-7D1A-619E-FB551D67EAA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751389" y="846912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40641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11DA4587-EE17-4073-80FA-0B0DE283B66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751389" y="1178881"/>
            <a:ext cx="40641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9" name="Gerader Verbinder 2">
            <a:extLst>
              <a:ext uri="{FF2B5EF4-FFF2-40B4-BE49-F238E27FC236}">
                <a16:creationId xmlns:a16="http://schemas.microsoft.com/office/drawing/2014/main" id="{4C493647-95DB-582E-C88A-D3BFEBB16AA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51389" y="1069809"/>
            <a:ext cx="406876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DC5CD8-7BAF-118B-0257-4E7A04EBB3B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23850" y="846912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10" name="Gerader Verbinder 2">
            <a:extLst>
              <a:ext uri="{FF2B5EF4-FFF2-40B4-BE49-F238E27FC236}">
                <a16:creationId xmlns:a16="http://schemas.microsoft.com/office/drawing/2014/main" id="{33F0510F-E570-0292-738B-40FE158FB841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406876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DCF6D5A8-F414-748D-BABA-5ECDCCD3075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19055F7-5CF0-022F-E8ED-520A87BC1E2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629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09090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27352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84888" y="846912"/>
            <a:ext cx="27360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3" y="1178881"/>
            <a:ext cx="2721382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84888" y="1178881"/>
            <a:ext cx="2730620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1656D2CF-FEBC-457A-BBE4-EAD28CBF098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04024" y="846912"/>
            <a:ext cx="273595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DE70A22-C355-1235-78A2-CEB9D1C7277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89A6374F-FEC8-E43D-A482-CD3376919E9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A30D6717-18EF-AB6F-A3A7-5E8261BF249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198955" y="1178881"/>
            <a:ext cx="2741469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169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81856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6" name="Gerader Verbinder 2">
            <a:extLst>
              <a:ext uri="{FF2B5EF4-FFF2-40B4-BE49-F238E27FC236}">
                <a16:creationId xmlns:a16="http://schemas.microsoft.com/office/drawing/2014/main" id="{D4639432-BA0A-E377-5592-8200BB12364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27360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3" y="1178881"/>
            <a:ext cx="2721382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84888" y="1178881"/>
            <a:ext cx="2730620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27352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36" name="Gerader Verbinder 2">
            <a:extLst>
              <a:ext uri="{FF2B5EF4-FFF2-40B4-BE49-F238E27FC236}">
                <a16:creationId xmlns:a16="http://schemas.microsoft.com/office/drawing/2014/main" id="{B4DD0D50-E58D-526C-033A-73A71AE0384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04472" y="1069809"/>
            <a:ext cx="273595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" name="Gerader Verbinder 2">
            <a:extLst>
              <a:ext uri="{FF2B5EF4-FFF2-40B4-BE49-F238E27FC236}">
                <a16:creationId xmlns:a16="http://schemas.microsoft.com/office/drawing/2014/main" id="{867031DE-E1D5-D981-0D84-B22A2B03597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84888" y="1069809"/>
            <a:ext cx="27360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84888" y="846912"/>
            <a:ext cx="27360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A3D8EE8B-AE43-468A-AF30-B7F8CDA1E7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295D2C4-085A-74F3-112E-39B1777475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003F3D5F-62E4-8700-9056-F72505F5251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198955" y="1178881"/>
            <a:ext cx="2741469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CB666C4-0DA7-6214-B151-008102DC942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204024" y="846912"/>
            <a:ext cx="273595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652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11585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5616575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84888" y="846912"/>
            <a:ext cx="27360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5611933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84888" y="1178881"/>
            <a:ext cx="2730620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55B0DF8F-0485-352D-C1B9-A61FB7B157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61CFFC1-1E1C-78FC-CE5C-0236517A3D3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5739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2958" userDrawn="1">
          <p15:clr>
            <a:srgbClr val="FBAE40"/>
          </p15:clr>
        </p15:guide>
        <p15:guide id="10" pos="2767" userDrawn="1">
          <p15:clr>
            <a:srgbClr val="FBAE40"/>
          </p15:clr>
        </p15:guide>
        <p15:guide id="11" pos="2993" userDrawn="1">
          <p15:clr>
            <a:srgbClr val="FBAE40"/>
          </p15:clr>
        </p15:guide>
        <p15:guide id="13" pos="1927" userDrawn="1">
          <p15:clr>
            <a:srgbClr val="FBAE40"/>
          </p15:clr>
        </p15:guide>
        <p15:guide id="14" pos="3742" userDrawn="1">
          <p15:clr>
            <a:srgbClr val="FBAE40"/>
          </p15:clr>
        </p15:guide>
        <p15:guide id="15" pos="3833" userDrawn="1">
          <p15:clr>
            <a:srgbClr val="FBAE40"/>
          </p15:clr>
        </p15:guide>
        <p15:guide id="17" pos="2018" userDrawn="1">
          <p15:clr>
            <a:srgbClr val="FBAE40"/>
          </p15:clr>
        </p15:guide>
        <p15:guide id="18" orient="horz" pos="66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37345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6" name="Gerader Verbinder 2">
            <a:extLst>
              <a:ext uri="{FF2B5EF4-FFF2-40B4-BE49-F238E27FC236}">
                <a16:creationId xmlns:a16="http://schemas.microsoft.com/office/drawing/2014/main" id="{D4639432-BA0A-E377-5592-8200BB12364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5616575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5611933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84888" y="1178881"/>
            <a:ext cx="2730620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5616575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37" name="Gerader Verbinder 2">
            <a:extLst>
              <a:ext uri="{FF2B5EF4-FFF2-40B4-BE49-F238E27FC236}">
                <a16:creationId xmlns:a16="http://schemas.microsoft.com/office/drawing/2014/main" id="{867031DE-E1D5-D981-0D84-B22A2B03597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84888" y="1069809"/>
            <a:ext cx="27360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84888" y="846912"/>
            <a:ext cx="27360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99D20A6-E4A9-3510-1CCD-D538CE9F770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D33DAEE-ECA3-EE96-AC58-63405FAA7D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6598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2958" userDrawn="1">
          <p15:clr>
            <a:srgbClr val="FBAE40"/>
          </p15:clr>
        </p15:guide>
        <p15:guide id="10" pos="2767" userDrawn="1">
          <p15:clr>
            <a:srgbClr val="FBAE40"/>
          </p15:clr>
        </p15:guide>
        <p15:guide id="11" pos="2993" userDrawn="1">
          <p15:clr>
            <a:srgbClr val="FBAE40"/>
          </p15:clr>
        </p15:guide>
        <p15:guide id="13" pos="1927" userDrawn="1">
          <p15:clr>
            <a:srgbClr val="FBAE40"/>
          </p15:clr>
        </p15:guide>
        <p15:guide id="14" pos="3742" userDrawn="1">
          <p15:clr>
            <a:srgbClr val="FBAE40"/>
          </p15:clr>
        </p15:guide>
        <p15:guide id="15" pos="3833" userDrawn="1">
          <p15:clr>
            <a:srgbClr val="FBAE40"/>
          </p15:clr>
        </p15:guide>
        <p15:guide id="17" pos="2018" userDrawn="1">
          <p15:clr>
            <a:srgbClr val="FBAE40"/>
          </p15:clr>
        </p15:guide>
        <p15:guide id="18" orient="horz" pos="66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3701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27352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03575" y="846912"/>
            <a:ext cx="561731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27306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03575" y="1178881"/>
            <a:ext cx="5611933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F5D4F436-70D7-3002-8CD6-0DA229FB163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60DEC2AF-327D-95E5-BB45-6978C30CBEA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835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2958" userDrawn="1">
          <p15:clr>
            <a:srgbClr val="FBAE40"/>
          </p15:clr>
        </p15:guide>
        <p15:guide id="10" pos="2767" userDrawn="1">
          <p15:clr>
            <a:srgbClr val="FBAE40"/>
          </p15:clr>
        </p15:guide>
        <p15:guide id="11" pos="2993" userDrawn="1">
          <p15:clr>
            <a:srgbClr val="FBAE40"/>
          </p15:clr>
        </p15:guide>
        <p15:guide id="13" pos="1927" userDrawn="1">
          <p15:clr>
            <a:srgbClr val="FBAE40"/>
          </p15:clr>
        </p15:guide>
        <p15:guide id="14" pos="3742" userDrawn="1">
          <p15:clr>
            <a:srgbClr val="FBAE40"/>
          </p15:clr>
        </p15:guide>
        <p15:guide id="15" pos="3833" userDrawn="1">
          <p15:clr>
            <a:srgbClr val="FBAE40"/>
          </p15:clr>
        </p15:guide>
        <p15:guide id="17" pos="2018" userDrawn="1">
          <p15:clr>
            <a:srgbClr val="FBAE40"/>
          </p15:clr>
        </p15:guide>
        <p15:guide id="18" orient="horz" pos="667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94849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6" name="Gerader Verbinder 2">
            <a:extLst>
              <a:ext uri="{FF2B5EF4-FFF2-40B4-BE49-F238E27FC236}">
                <a16:creationId xmlns:a16="http://schemas.microsoft.com/office/drawing/2014/main" id="{D4639432-BA0A-E377-5592-8200BB12364B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273526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363680FE-0362-D141-FE2A-4A4F4F33C0D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81"/>
            <a:ext cx="2730621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0E2D57C5-72FC-DD0E-E6C6-2127F43001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203575" y="1178881"/>
            <a:ext cx="5611933" cy="348043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5E5CB80C-FCB5-9B8F-F48C-208C38F8144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27352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37" name="Gerader Verbinder 2">
            <a:extLst>
              <a:ext uri="{FF2B5EF4-FFF2-40B4-BE49-F238E27FC236}">
                <a16:creationId xmlns:a16="http://schemas.microsoft.com/office/drawing/2014/main" id="{867031DE-E1D5-D981-0D84-B22A2B03597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03575" y="1069809"/>
            <a:ext cx="5617313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BBC33-7B79-613F-B478-8A387463C1A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203575" y="846912"/>
            <a:ext cx="561731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EBD9D15-264F-3B12-89B7-B460569C72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52DDD7C4-C08D-679B-3C58-22E1479D90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1829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2958" userDrawn="1">
          <p15:clr>
            <a:srgbClr val="FBAE40"/>
          </p15:clr>
        </p15:guide>
        <p15:guide id="10" pos="2767" userDrawn="1">
          <p15:clr>
            <a:srgbClr val="FBAE40"/>
          </p15:clr>
        </p15:guide>
        <p15:guide id="11" pos="2993" userDrawn="1">
          <p15:clr>
            <a:srgbClr val="FBAE40"/>
          </p15:clr>
        </p15:guide>
        <p15:guide id="13" pos="1927" userDrawn="1">
          <p15:clr>
            <a:srgbClr val="FBAE40"/>
          </p15:clr>
        </p15:guide>
        <p15:guide id="14" pos="3742" userDrawn="1">
          <p15:clr>
            <a:srgbClr val="FBAE40"/>
          </p15:clr>
        </p15:guide>
        <p15:guide id="15" pos="3833" userDrawn="1">
          <p15:clr>
            <a:srgbClr val="FBAE40"/>
          </p15:clr>
        </p15:guide>
        <p15:guide id="17" pos="2018" userDrawn="1">
          <p15:clr>
            <a:srgbClr val="FBAE40"/>
          </p15:clr>
        </p15:guide>
        <p15:guide id="18" orient="horz" pos="66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91442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5264384-7F5C-F25F-2934-E989728ED6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84963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E70AD731-0FCC-1471-9625-DF4977DD82F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3135" y="3128151"/>
            <a:ext cx="8482372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CC31E426-0731-AD94-45D7-2088C929B9D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79"/>
            <a:ext cx="8482372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748A64B7-0EF4-DC35-647D-53514AF46CE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3850" y="2791391"/>
            <a:ext cx="84963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972814A-E3F6-DB3E-EBAD-847C978B3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FAD413A-221F-7730-8870-8D480238059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398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  <p15:guide id="8" orient="horz" pos="18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59467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E70AD731-0FCC-1471-9625-DF4977DD82F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3135" y="3128151"/>
            <a:ext cx="8482372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CC31E426-0731-AD94-45D7-2088C929B9D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79"/>
            <a:ext cx="8482372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9" name="Gerader Verbinder 2">
            <a:extLst>
              <a:ext uri="{FF2B5EF4-FFF2-40B4-BE49-F238E27FC236}">
                <a16:creationId xmlns:a16="http://schemas.microsoft.com/office/drawing/2014/main" id="{6281F47A-28DB-96BB-FA47-C6FCD011A4F2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84963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FC7E5674-F10F-E69F-8667-31DB99952BD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84963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22" name="Gerader Verbinder 2">
            <a:extLst>
              <a:ext uri="{FF2B5EF4-FFF2-40B4-BE49-F238E27FC236}">
                <a16:creationId xmlns:a16="http://schemas.microsoft.com/office/drawing/2014/main" id="{6F70B8C4-BF85-937E-BB11-31FB3A86E96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3009646"/>
            <a:ext cx="8496300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76D061AB-D45F-200B-3A3A-77917E3077C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3850" y="2791391"/>
            <a:ext cx="849630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B28B3D62-3C7D-5ED6-1450-4A87EA7BBD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021D2FFA-F2C4-6403-0FE2-15414B0E92C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367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667" userDrawn="1">
          <p15:clr>
            <a:srgbClr val="FBAE40"/>
          </p15:clr>
        </p15:guide>
        <p15:guide id="8" orient="horz" pos="189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38600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70FB309-0B92-86DB-5507-2DB98CCBB59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751388" y="2791789"/>
            <a:ext cx="406412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5264384-7F5C-F25F-2934-E989728ED6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4063206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AB218703-0B16-DEBD-98D1-AEA911445C4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751388" y="846912"/>
            <a:ext cx="4063206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0866A207-2478-81B4-5289-3AB9613E946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751388" y="3128151"/>
            <a:ext cx="4068762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E70AD731-0FCC-1471-9625-DF4977DD82F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3135" y="3128151"/>
            <a:ext cx="4053921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>
            <a:extLst>
              <a:ext uri="{FF2B5EF4-FFF2-40B4-BE49-F238E27FC236}">
                <a16:creationId xmlns:a16="http://schemas.microsoft.com/office/drawing/2014/main" id="{364CA5B2-5CB2-6704-A7DB-AD4005C0E47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756029" y="1178879"/>
            <a:ext cx="4064120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48F69E-8369-653A-41A4-1B3286C832D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3850" y="2791391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E50BEB16-5A21-3CCE-3796-2132129D2D0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79"/>
            <a:ext cx="4064121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43595AED-4416-DC0B-380B-DE04C3B79C4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FB3B4F99-110E-A37A-BE18-1A38E7C173E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115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7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18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560B616A-6A13-E28E-4A18-1895ED57A69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92111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3" imgH="503" progId="TCLayout.ActiveDocument.1">
                  <p:embed/>
                </p:oleObj>
              </mc:Choice>
              <mc:Fallback>
                <p:oleObj name="think-cell Slide" r:id="rId4" imgW="503" imgH="50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560B616A-6A13-E28E-4A18-1895ED57A695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44791E1-F460-462D-937F-F611A9E7EC7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856B9BE-BDE3-4DE3-9B1A-85CC31AAE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8219E2F-0A9A-466E-9D5A-7A6785999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3D715D4-4879-448F-935C-BDF8158B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7166092-C41E-F76C-06D0-1F7CE64AE61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050" b="0">
                <a:solidFill>
                  <a:schemeClr val="tx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FC502E1-17FE-312E-A97A-D4FF33D2C57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rtl="0">
              <a:lnSpc>
                <a:spcPts val="192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0866A207-2478-81B4-5289-3AB9613E946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751388" y="3128151"/>
            <a:ext cx="4068762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70FB309-0B92-86DB-5507-2DB98CCBB59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751388" y="2791789"/>
            <a:ext cx="4064120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22" name="Gerader Verbinder 2">
            <a:extLst>
              <a:ext uri="{FF2B5EF4-FFF2-40B4-BE49-F238E27FC236}">
                <a16:creationId xmlns:a16="http://schemas.microsoft.com/office/drawing/2014/main" id="{28B7C4A1-867F-7A4F-41FB-67FC22715E4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46746" y="3008862"/>
            <a:ext cx="4068762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E70AD731-0FCC-1471-9625-DF4977DD82F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33135" y="3128151"/>
            <a:ext cx="4053921" cy="1531162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2" name="Gerader Verbinder 2">
            <a:extLst>
              <a:ext uri="{FF2B5EF4-FFF2-40B4-BE49-F238E27FC236}">
                <a16:creationId xmlns:a16="http://schemas.microsoft.com/office/drawing/2014/main" id="{5F217ED3-806D-9B90-F2ED-8C8B9AF6A596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33135" y="3008862"/>
            <a:ext cx="4068762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Gerader Verbinder 2">
            <a:extLst>
              <a:ext uri="{FF2B5EF4-FFF2-40B4-BE49-F238E27FC236}">
                <a16:creationId xmlns:a16="http://schemas.microsoft.com/office/drawing/2014/main" id="{F43D3543-727B-9785-3969-7695938977A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23850" y="1069809"/>
            <a:ext cx="4063206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45264384-7F5C-F25F-2934-E989728ED6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23850" y="846912"/>
            <a:ext cx="4063206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cxnSp>
        <p:nvCxnSpPr>
          <p:cNvPr id="39" name="Gerader Verbinder 2">
            <a:extLst>
              <a:ext uri="{FF2B5EF4-FFF2-40B4-BE49-F238E27FC236}">
                <a16:creationId xmlns:a16="http://schemas.microsoft.com/office/drawing/2014/main" id="{6469EC4A-5367-7A8D-B2A5-63414C4C62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56944" y="1069809"/>
            <a:ext cx="4063206" cy="0"/>
          </a:xfrm>
          <a:prstGeom prst="line">
            <a:avLst/>
          </a:prstGeom>
          <a:noFill/>
          <a:ln w="19050" cap="flat" cmpd="sng" algn="ctr">
            <a:solidFill>
              <a:srgbClr val="223E6A"/>
            </a:solidFill>
            <a:prstDash val="solid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AB218703-0B16-DEBD-98D1-AEA911445C4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751388" y="846912"/>
            <a:ext cx="4063206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1" name="Text Placeholder 29">
            <a:extLst>
              <a:ext uri="{FF2B5EF4-FFF2-40B4-BE49-F238E27FC236}">
                <a16:creationId xmlns:a16="http://schemas.microsoft.com/office/drawing/2014/main" id="{364CA5B2-5CB2-6704-A7DB-AD4005C0E47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756029" y="1178879"/>
            <a:ext cx="4064120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AA7E144-E201-1016-685E-4F87E28CD58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23850" y="2791391"/>
            <a:ext cx="4068763" cy="21215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AB76AE7B-5DC4-9A14-19D2-AF43E233B9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28492" y="1178879"/>
            <a:ext cx="4064121" cy="1512000"/>
          </a:xfrm>
          <a:prstGeom prst="rect">
            <a:avLst/>
          </a:prstGeom>
        </p:spPr>
        <p:txBody>
          <a:bodyPr/>
          <a:lstStyle>
            <a:lvl1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1pPr>
            <a:lvl2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2pPr>
            <a:lvl3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3pPr>
            <a:lvl4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4pPr>
            <a:lvl5pPr marL="90000" indent="-90000" algn="just" rtl="0">
              <a:lnSpc>
                <a:spcPct val="100000"/>
              </a:lnSpc>
              <a:spcBef>
                <a:spcPts val="300"/>
              </a:spcBef>
              <a:defRPr sz="80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4451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7" userDrawn="1">
          <p15:clr>
            <a:srgbClr val="FBAE40"/>
          </p15:clr>
        </p15:guide>
        <p15:guide id="3" orient="horz" pos="191" userDrawn="1">
          <p15:clr>
            <a:srgbClr val="FBAE40"/>
          </p15:clr>
        </p15:guide>
        <p15:guide id="5" orient="horz" pos="259" userDrawn="1">
          <p15:clr>
            <a:srgbClr val="FBAE40"/>
          </p15:clr>
        </p15:guide>
        <p15:guide id="6" orient="horz" pos="327" userDrawn="1">
          <p15:clr>
            <a:srgbClr val="FBAE40"/>
          </p15:clr>
        </p15:guide>
        <p15:guide id="7" orient="horz" pos="189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6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835FDF6-69F1-4D07-88E9-E7A15A68ED3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35495159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5" imgW="484" imgH="486" progId="TCLayout.ActiveDocument.1">
                  <p:embed/>
                </p:oleObj>
              </mc:Choice>
              <mc:Fallback>
                <p:oleObj name="think-cell Slide" r:id="rId25" imgW="484" imgH="48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835FDF6-69F1-4D07-88E9-E7A15A68ED3D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Gerade Verbindung 18"/>
          <p:cNvCxnSpPr>
            <a:cxnSpLocks/>
          </p:cNvCxnSpPr>
          <p:nvPr userDrawn="1">
            <p:custDataLst>
              <p:tags r:id="rId21"/>
            </p:custDataLst>
          </p:nvPr>
        </p:nvCxnSpPr>
        <p:spPr>
          <a:xfrm>
            <a:off x="323850" y="4837540"/>
            <a:ext cx="8496300" cy="0"/>
          </a:xfrm>
          <a:prstGeom prst="line">
            <a:avLst/>
          </a:prstGeom>
          <a:ln w="6350">
            <a:solidFill>
              <a:srgbClr val="263F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4">
            <a:extLst>
              <a:ext uri="{FF2B5EF4-FFF2-40B4-BE49-F238E27FC236}">
                <a16:creationId xmlns:a16="http://schemas.microsoft.com/office/drawing/2014/main" id="{EED79411-0D9F-4E34-B20E-B15E099E1FFB}"/>
              </a:ext>
            </a:extLst>
          </p:cNvPr>
          <p:cNvSpPr>
            <a:spLocks noGrp="1" noChangeArrowheads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328492" y="4885139"/>
            <a:ext cx="1800506" cy="180000"/>
          </a:xfrm>
          <a:prstGeom prst="rect">
            <a:avLst/>
          </a:prstGeom>
          <a:ln/>
        </p:spPr>
        <p:txBody>
          <a:bodyPr lIns="0" tIns="0" rIns="0" bIns="0" anchor="t" anchorCtr="0"/>
          <a:lstStyle>
            <a:lvl1pPr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r>
              <a:rPr lang="en-US"/>
              <a:t>CONSTELLATION CAPITAL AG</a:t>
            </a:r>
            <a:endParaRPr lang="en-US" dirty="0">
              <a:ea typeface="ＭＳ Ｐゴシック"/>
            </a:endParaRPr>
          </a:p>
        </p:txBody>
      </p:sp>
      <p:sp>
        <p:nvSpPr>
          <p:cNvPr id="32" name="Rectangle 6">
            <a:extLst>
              <a:ext uri="{FF2B5EF4-FFF2-40B4-BE49-F238E27FC236}">
                <a16:creationId xmlns:a16="http://schemas.microsoft.com/office/drawing/2014/main" id="{E2F54366-387C-4966-A835-2F1B1AE00373}"/>
              </a:ext>
            </a:extLst>
          </p:cNvPr>
          <p:cNvSpPr>
            <a:spLocks noGrp="1" noChangeArrowheads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393242" y="4885139"/>
            <a:ext cx="422266" cy="180000"/>
          </a:xfrm>
          <a:prstGeom prst="rect">
            <a:avLst/>
          </a:prstGeom>
          <a:ln/>
        </p:spPr>
        <p:txBody>
          <a:bodyPr lIns="0" tIns="0" rIns="0" bIns="0" anchor="t"/>
          <a:lstStyle>
            <a:lvl1pPr algn="r" rtl="0">
              <a:defRPr sz="9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pPr>
              <a:defRPr/>
            </a:pPr>
            <a:fld id="{934709C5-D592-4784-B331-5CC8F77FAAF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33" name="Fußzeilenplatzhalter 6">
            <a:extLst>
              <a:ext uri="{FF2B5EF4-FFF2-40B4-BE49-F238E27FC236}">
                <a16:creationId xmlns:a16="http://schemas.microsoft.com/office/drawing/2014/main" id="{B183A919-F06C-4079-B189-E31D2D5F08AA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 bwMode="auto">
          <a:xfrm>
            <a:off x="3782158" y="4885139"/>
            <a:ext cx="1579685" cy="1800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 rtl="0">
              <a:defRPr sz="9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>
                <a:ea typeface="ＭＳ Ｐゴシック"/>
              </a:rPr>
              <a:t>Strictly Private &amp; Confidential</a:t>
            </a:r>
            <a:endParaRPr lang="en-US" dirty="0">
              <a:ea typeface="ＭＳ Ｐゴシック"/>
            </a:endParaRPr>
          </a:p>
        </p:txBody>
      </p:sp>
      <p:pic>
        <p:nvPicPr>
          <p:cNvPr id="4" name="Grafik 12">
            <a:extLst>
              <a:ext uri="{FF2B5EF4-FFF2-40B4-BE49-F238E27FC236}">
                <a16:creationId xmlns:a16="http://schemas.microsoft.com/office/drawing/2014/main" id="{E282406B-3247-588A-F7F9-6EF2CEADB845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3122" y="219924"/>
            <a:ext cx="1057028" cy="513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136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673" r:id="rId4"/>
    <p:sldLayoutId id="2147483761" r:id="rId5"/>
    <p:sldLayoutId id="2147483738" r:id="rId6"/>
    <p:sldLayoutId id="2147483762" r:id="rId7"/>
    <p:sldLayoutId id="2147483734" r:id="rId8"/>
    <p:sldLayoutId id="2147483763" r:id="rId9"/>
    <p:sldLayoutId id="2147483733" r:id="rId10"/>
    <p:sldLayoutId id="2147483764" r:id="rId11"/>
    <p:sldLayoutId id="2147483739" r:id="rId12"/>
    <p:sldLayoutId id="2147483765" r:id="rId13"/>
    <p:sldLayoutId id="2147483740" r:id="rId14"/>
    <p:sldLayoutId id="2147483767" r:id="rId15"/>
    <p:sldLayoutId id="2147483741" r:id="rId16"/>
    <p:sldLayoutId id="2147483766" r:id="rId17"/>
    <p:sldLayoutId id="2147483732" r:id="rId18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rgbClr val="263F6A"/>
          </a:solidFill>
          <a:latin typeface="Calibri" pitchFamily="34" charset="0"/>
          <a:ea typeface="+mj-ea"/>
          <a:cs typeface="Calibri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15">
          <a:solidFill>
            <a:schemeClr val="tx1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15">
          <a:solidFill>
            <a:schemeClr val="tx1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15">
          <a:solidFill>
            <a:schemeClr val="tx1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15">
          <a:solidFill>
            <a:schemeClr val="tx1"/>
          </a:solidFill>
          <a:latin typeface="Times New Roman" pitchFamily="18" charset="0"/>
        </a:defRPr>
      </a:lvl5pPr>
      <a:lvl6pPr marL="422020" algn="l" rtl="0" fontAlgn="base">
        <a:spcBef>
          <a:spcPct val="50000"/>
        </a:spcBef>
        <a:spcAft>
          <a:spcPct val="0"/>
        </a:spcAft>
        <a:defRPr sz="2954">
          <a:solidFill>
            <a:srgbClr val="729098"/>
          </a:solidFill>
          <a:latin typeface="Times New Roman" pitchFamily="18" charset="0"/>
        </a:defRPr>
      </a:lvl6pPr>
      <a:lvl7pPr marL="844041" algn="l" rtl="0" fontAlgn="base">
        <a:spcBef>
          <a:spcPct val="50000"/>
        </a:spcBef>
        <a:spcAft>
          <a:spcPct val="0"/>
        </a:spcAft>
        <a:defRPr sz="2954">
          <a:solidFill>
            <a:srgbClr val="729098"/>
          </a:solidFill>
          <a:latin typeface="Times New Roman" pitchFamily="18" charset="0"/>
        </a:defRPr>
      </a:lvl7pPr>
      <a:lvl8pPr marL="1266061" algn="l" rtl="0" fontAlgn="base">
        <a:spcBef>
          <a:spcPct val="50000"/>
        </a:spcBef>
        <a:spcAft>
          <a:spcPct val="0"/>
        </a:spcAft>
        <a:defRPr sz="2954">
          <a:solidFill>
            <a:srgbClr val="729098"/>
          </a:solidFill>
          <a:latin typeface="Times New Roman" pitchFamily="18" charset="0"/>
        </a:defRPr>
      </a:lvl8pPr>
      <a:lvl9pPr marL="1688080" algn="l" rtl="0" fontAlgn="base">
        <a:spcBef>
          <a:spcPct val="50000"/>
        </a:spcBef>
        <a:spcAft>
          <a:spcPct val="0"/>
        </a:spcAft>
        <a:defRPr sz="2954">
          <a:solidFill>
            <a:srgbClr val="729098"/>
          </a:solidFill>
          <a:latin typeface="Times New Roman" pitchFamily="18" charset="0"/>
        </a:defRPr>
      </a:lvl9pPr>
    </p:titleStyle>
    <p:bodyStyle>
      <a:lvl1pPr marL="180975" indent="-180975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rgbClr val="263F6A"/>
        </a:buClr>
        <a:buSzPct val="105000"/>
        <a:buFont typeface="Wingdings" pitchFamily="2" charset="2"/>
        <a:buChar char="§"/>
        <a:defRPr sz="1292">
          <a:solidFill>
            <a:srgbClr val="000000"/>
          </a:solidFill>
          <a:latin typeface="Calibri" pitchFamily="34" charset="0"/>
          <a:ea typeface="+mn-ea"/>
          <a:cs typeface="Calibri" panose="020F0502020204030204" pitchFamily="34" charset="0"/>
        </a:defRPr>
      </a:lvl1pPr>
      <a:lvl2pPr marL="719138" indent="-225425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rgbClr val="263F6A"/>
        </a:buClr>
        <a:buSzPct val="110000"/>
        <a:buFont typeface="Symbol" panose="05050102010706020507" pitchFamily="18" charset="2"/>
        <a:buChar char="-"/>
        <a:defRPr sz="1292">
          <a:solidFill>
            <a:srgbClr val="000000"/>
          </a:solidFill>
          <a:latin typeface="Calibri" pitchFamily="34" charset="0"/>
          <a:cs typeface="Calibri" panose="020F0502020204030204" pitchFamily="34" charset="0"/>
        </a:defRPr>
      </a:lvl2pPr>
      <a:lvl3pPr marL="987425" indent="-144463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chemeClr val="accent1"/>
        </a:buClr>
        <a:buSzPct val="110000"/>
        <a:buFont typeface="Arial" panose="020B0604020202020204" pitchFamily="34" charset="0"/>
        <a:buChar char="•"/>
        <a:defRPr sz="1292">
          <a:solidFill>
            <a:srgbClr val="000000"/>
          </a:solidFill>
          <a:latin typeface="Calibri" pitchFamily="34" charset="0"/>
        </a:defRPr>
      </a:lvl3pPr>
      <a:lvl4pPr marL="1393546" indent="-127486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 sz="1292">
          <a:solidFill>
            <a:srgbClr val="000000"/>
          </a:solidFill>
          <a:latin typeface="Calibri" pitchFamily="34" charset="0"/>
        </a:defRPr>
      </a:lvl4pPr>
      <a:lvl5pPr marL="1809706" indent="-121624" algn="l" rtl="0" eaLnBrk="0" fontAlgn="base" hangingPunct="0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 sz="1292">
          <a:solidFill>
            <a:srgbClr val="000000"/>
          </a:solidFill>
          <a:latin typeface="Calibri" pitchFamily="34" charset="0"/>
        </a:defRPr>
      </a:lvl5pPr>
      <a:lvl6pPr marL="2231725" indent="-121624" algn="l" rtl="0" fontAlgn="base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>
          <a:solidFill>
            <a:srgbClr val="000000"/>
          </a:solidFill>
          <a:latin typeface="+mn-lt"/>
        </a:defRPr>
      </a:lvl6pPr>
      <a:lvl7pPr marL="2653745" indent="-121624" algn="l" rtl="0" fontAlgn="base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>
          <a:solidFill>
            <a:srgbClr val="000000"/>
          </a:solidFill>
          <a:latin typeface="+mn-lt"/>
        </a:defRPr>
      </a:lvl7pPr>
      <a:lvl8pPr marL="3075766" indent="-121624" algn="l" rtl="0" fontAlgn="base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>
          <a:solidFill>
            <a:srgbClr val="000000"/>
          </a:solidFill>
          <a:latin typeface="+mn-lt"/>
        </a:defRPr>
      </a:lvl8pPr>
      <a:lvl9pPr marL="3497786" indent="-121624" algn="l" rtl="0" fontAlgn="base">
        <a:lnSpc>
          <a:spcPct val="105000"/>
        </a:lnSpc>
        <a:spcBef>
          <a:spcPct val="25000"/>
        </a:spcBef>
        <a:spcAft>
          <a:spcPct val="0"/>
        </a:spcAft>
        <a:buClr>
          <a:srgbClr val="729098"/>
        </a:buClr>
        <a:buSzPct val="110000"/>
        <a:buChar char="-"/>
        <a:defRPr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20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4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06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080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10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12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141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162" algn="l" defTabSz="844041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5556" userDrawn="1">
          <p15:clr>
            <a:srgbClr val="F26B43"/>
          </p15:clr>
        </p15:guide>
        <p15:guide id="3" pos="2880" userDrawn="1">
          <p15:clr>
            <a:srgbClr val="F26B43"/>
          </p15:clr>
        </p15:guide>
        <p15:guide id="4" pos="204" userDrawn="1">
          <p15:clr>
            <a:srgbClr val="F26B43"/>
          </p15:clr>
        </p15:guide>
        <p15:guide id="5" pos="3742" userDrawn="1">
          <p15:clr>
            <a:srgbClr val="F26B43"/>
          </p15:clr>
        </p15:guide>
        <p15:guide id="6" orient="horz" pos="418" userDrawn="1">
          <p15:clr>
            <a:srgbClr val="F26B43"/>
          </p15:clr>
        </p15:guide>
        <p15:guide id="7" orient="horz" pos="327" userDrawn="1">
          <p15:clr>
            <a:srgbClr val="F26B43"/>
          </p15:clr>
        </p15:guide>
        <p15:guide id="8" orient="horz" pos="191" userDrawn="1">
          <p15:clr>
            <a:srgbClr val="F26B43"/>
          </p15:clr>
        </p15:guide>
        <p15:guide id="9" orient="horz" pos="259" userDrawn="1">
          <p15:clr>
            <a:srgbClr val="F26B43"/>
          </p15:clr>
        </p15:guide>
        <p15:guide id="10" pos="2993" userDrawn="1">
          <p15:clr>
            <a:srgbClr val="F26B43"/>
          </p15:clr>
        </p15:guide>
        <p15:guide id="11" pos="2767" userDrawn="1">
          <p15:clr>
            <a:srgbClr val="F26B43"/>
          </p15:clr>
        </p15:guide>
        <p15:guide id="12" pos="2018" userDrawn="1">
          <p15:clr>
            <a:srgbClr val="F26B43"/>
          </p15:clr>
        </p15:guide>
        <p15:guide id="13" pos="3833" userDrawn="1">
          <p15:clr>
            <a:srgbClr val="F26B43"/>
          </p15:clr>
        </p15:guide>
        <p15:guide id="14" pos="1927" userDrawn="1">
          <p15:clr>
            <a:srgbClr val="F26B43"/>
          </p15:clr>
        </p15:guide>
        <p15:guide id="15" orient="horz" pos="2935" userDrawn="1">
          <p15:clr>
            <a:srgbClr val="F26B43"/>
          </p15:clr>
        </p15:guide>
        <p15:guide id="16" orient="horz" pos="2958" userDrawn="1">
          <p15:clr>
            <a:srgbClr val="F26B43"/>
          </p15:clr>
        </p15:guide>
        <p15:guide id="17" orient="horz" pos="531" userDrawn="1">
          <p15:clr>
            <a:srgbClr val="F26B43"/>
          </p15:clr>
        </p15:guide>
        <p15:guide id="18" orient="horz" pos="1733" userDrawn="1">
          <p15:clr>
            <a:srgbClr val="F26B43"/>
          </p15:clr>
        </p15:guide>
        <p15:guide id="19" orient="horz" pos="1847" userDrawn="1">
          <p15:clr>
            <a:srgbClr val="F26B43"/>
          </p15:clr>
        </p15:guide>
        <p15:guide id="20" orient="horz" pos="30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tags" Target="../tags/tag69.xml"/><Relationship Id="rId21" Type="http://schemas.openxmlformats.org/officeDocument/2006/relationships/tags" Target="../tags/tag64.xml"/><Relationship Id="rId42" Type="http://schemas.openxmlformats.org/officeDocument/2006/relationships/tags" Target="../tags/tag85.xml"/><Relationship Id="rId47" Type="http://schemas.openxmlformats.org/officeDocument/2006/relationships/tags" Target="../tags/tag90.xml"/><Relationship Id="rId63" Type="http://schemas.openxmlformats.org/officeDocument/2006/relationships/tags" Target="../tags/tag106.xml"/><Relationship Id="rId68" Type="http://schemas.openxmlformats.org/officeDocument/2006/relationships/tags" Target="../tags/tag111.xml"/><Relationship Id="rId16" Type="http://schemas.openxmlformats.org/officeDocument/2006/relationships/tags" Target="../tags/tag59.xml"/><Relationship Id="rId11" Type="http://schemas.openxmlformats.org/officeDocument/2006/relationships/tags" Target="../tags/tag54.xml"/><Relationship Id="rId32" Type="http://schemas.openxmlformats.org/officeDocument/2006/relationships/tags" Target="../tags/tag75.xml"/><Relationship Id="rId37" Type="http://schemas.openxmlformats.org/officeDocument/2006/relationships/tags" Target="../tags/tag80.xml"/><Relationship Id="rId53" Type="http://schemas.openxmlformats.org/officeDocument/2006/relationships/tags" Target="../tags/tag96.xml"/><Relationship Id="rId58" Type="http://schemas.openxmlformats.org/officeDocument/2006/relationships/tags" Target="../tags/tag101.xml"/><Relationship Id="rId74" Type="http://schemas.openxmlformats.org/officeDocument/2006/relationships/tags" Target="../tags/tag117.xml"/><Relationship Id="rId79" Type="http://schemas.openxmlformats.org/officeDocument/2006/relationships/oleObject" Target="../embeddings/oleObject18.bin"/><Relationship Id="rId5" Type="http://schemas.openxmlformats.org/officeDocument/2006/relationships/tags" Target="../tags/tag48.xml"/><Relationship Id="rId61" Type="http://schemas.openxmlformats.org/officeDocument/2006/relationships/tags" Target="../tags/tag104.xml"/><Relationship Id="rId82" Type="http://schemas.openxmlformats.org/officeDocument/2006/relationships/chart" Target="../charts/chart3.xml"/><Relationship Id="rId19" Type="http://schemas.openxmlformats.org/officeDocument/2006/relationships/tags" Target="../tags/tag62.xml"/><Relationship Id="rId14" Type="http://schemas.openxmlformats.org/officeDocument/2006/relationships/tags" Target="../tags/tag57.xml"/><Relationship Id="rId22" Type="http://schemas.openxmlformats.org/officeDocument/2006/relationships/tags" Target="../tags/tag65.xml"/><Relationship Id="rId27" Type="http://schemas.openxmlformats.org/officeDocument/2006/relationships/tags" Target="../tags/tag70.xml"/><Relationship Id="rId30" Type="http://schemas.openxmlformats.org/officeDocument/2006/relationships/tags" Target="../tags/tag73.xml"/><Relationship Id="rId35" Type="http://schemas.openxmlformats.org/officeDocument/2006/relationships/tags" Target="../tags/tag78.xml"/><Relationship Id="rId43" Type="http://schemas.openxmlformats.org/officeDocument/2006/relationships/tags" Target="../tags/tag86.xml"/><Relationship Id="rId48" Type="http://schemas.openxmlformats.org/officeDocument/2006/relationships/tags" Target="../tags/tag91.xml"/><Relationship Id="rId56" Type="http://schemas.openxmlformats.org/officeDocument/2006/relationships/tags" Target="../tags/tag99.xml"/><Relationship Id="rId64" Type="http://schemas.openxmlformats.org/officeDocument/2006/relationships/tags" Target="../tags/tag107.xml"/><Relationship Id="rId69" Type="http://schemas.openxmlformats.org/officeDocument/2006/relationships/tags" Target="../tags/tag112.xml"/><Relationship Id="rId77" Type="http://schemas.openxmlformats.org/officeDocument/2006/relationships/slideLayout" Target="../slideLayouts/slideLayout4.xml"/><Relationship Id="rId8" Type="http://schemas.openxmlformats.org/officeDocument/2006/relationships/tags" Target="../tags/tag51.xml"/><Relationship Id="rId51" Type="http://schemas.openxmlformats.org/officeDocument/2006/relationships/tags" Target="../tags/tag94.xml"/><Relationship Id="rId72" Type="http://schemas.openxmlformats.org/officeDocument/2006/relationships/tags" Target="../tags/tag115.xml"/><Relationship Id="rId80" Type="http://schemas.openxmlformats.org/officeDocument/2006/relationships/chart" Target="../charts/chart1.xml"/><Relationship Id="rId3" Type="http://schemas.openxmlformats.org/officeDocument/2006/relationships/tags" Target="../tags/tag46.xml"/><Relationship Id="rId12" Type="http://schemas.openxmlformats.org/officeDocument/2006/relationships/tags" Target="../tags/tag55.xml"/><Relationship Id="rId17" Type="http://schemas.openxmlformats.org/officeDocument/2006/relationships/tags" Target="../tags/tag60.xml"/><Relationship Id="rId25" Type="http://schemas.openxmlformats.org/officeDocument/2006/relationships/tags" Target="../tags/tag68.xml"/><Relationship Id="rId33" Type="http://schemas.openxmlformats.org/officeDocument/2006/relationships/tags" Target="../tags/tag76.xml"/><Relationship Id="rId38" Type="http://schemas.openxmlformats.org/officeDocument/2006/relationships/tags" Target="../tags/tag81.xml"/><Relationship Id="rId46" Type="http://schemas.openxmlformats.org/officeDocument/2006/relationships/tags" Target="../tags/tag89.xml"/><Relationship Id="rId59" Type="http://schemas.openxmlformats.org/officeDocument/2006/relationships/tags" Target="../tags/tag102.xml"/><Relationship Id="rId67" Type="http://schemas.openxmlformats.org/officeDocument/2006/relationships/tags" Target="../tags/tag110.xml"/><Relationship Id="rId20" Type="http://schemas.openxmlformats.org/officeDocument/2006/relationships/tags" Target="../tags/tag63.xml"/><Relationship Id="rId41" Type="http://schemas.openxmlformats.org/officeDocument/2006/relationships/tags" Target="../tags/tag84.xml"/><Relationship Id="rId54" Type="http://schemas.openxmlformats.org/officeDocument/2006/relationships/tags" Target="../tags/tag97.xml"/><Relationship Id="rId62" Type="http://schemas.openxmlformats.org/officeDocument/2006/relationships/tags" Target="../tags/tag105.xml"/><Relationship Id="rId70" Type="http://schemas.openxmlformats.org/officeDocument/2006/relationships/tags" Target="../tags/tag113.xml"/><Relationship Id="rId75" Type="http://schemas.openxmlformats.org/officeDocument/2006/relationships/tags" Target="../tags/tag118.xml"/><Relationship Id="rId83" Type="http://schemas.openxmlformats.org/officeDocument/2006/relationships/image" Target="../media/image2.png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5" Type="http://schemas.openxmlformats.org/officeDocument/2006/relationships/tags" Target="../tags/tag58.xml"/><Relationship Id="rId23" Type="http://schemas.openxmlformats.org/officeDocument/2006/relationships/tags" Target="../tags/tag66.xml"/><Relationship Id="rId28" Type="http://schemas.openxmlformats.org/officeDocument/2006/relationships/tags" Target="../tags/tag71.xml"/><Relationship Id="rId36" Type="http://schemas.openxmlformats.org/officeDocument/2006/relationships/tags" Target="../tags/tag79.xml"/><Relationship Id="rId49" Type="http://schemas.openxmlformats.org/officeDocument/2006/relationships/tags" Target="../tags/tag92.xml"/><Relationship Id="rId57" Type="http://schemas.openxmlformats.org/officeDocument/2006/relationships/tags" Target="../tags/tag100.xml"/><Relationship Id="rId10" Type="http://schemas.openxmlformats.org/officeDocument/2006/relationships/tags" Target="../tags/tag53.xml"/><Relationship Id="rId31" Type="http://schemas.openxmlformats.org/officeDocument/2006/relationships/tags" Target="../tags/tag74.xml"/><Relationship Id="rId44" Type="http://schemas.openxmlformats.org/officeDocument/2006/relationships/tags" Target="../tags/tag87.xml"/><Relationship Id="rId52" Type="http://schemas.openxmlformats.org/officeDocument/2006/relationships/tags" Target="../tags/tag95.xml"/><Relationship Id="rId60" Type="http://schemas.openxmlformats.org/officeDocument/2006/relationships/tags" Target="../tags/tag103.xml"/><Relationship Id="rId65" Type="http://schemas.openxmlformats.org/officeDocument/2006/relationships/tags" Target="../tags/tag108.xml"/><Relationship Id="rId73" Type="http://schemas.openxmlformats.org/officeDocument/2006/relationships/tags" Target="../tags/tag116.xml"/><Relationship Id="rId78" Type="http://schemas.openxmlformats.org/officeDocument/2006/relationships/notesSlide" Target="../notesSlides/notesSlide1.xml"/><Relationship Id="rId81" Type="http://schemas.openxmlformats.org/officeDocument/2006/relationships/chart" Target="../charts/chart2.xml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3" Type="http://schemas.openxmlformats.org/officeDocument/2006/relationships/tags" Target="../tags/tag56.xml"/><Relationship Id="rId18" Type="http://schemas.openxmlformats.org/officeDocument/2006/relationships/tags" Target="../tags/tag61.xml"/><Relationship Id="rId39" Type="http://schemas.openxmlformats.org/officeDocument/2006/relationships/tags" Target="../tags/tag82.xml"/><Relationship Id="rId34" Type="http://schemas.openxmlformats.org/officeDocument/2006/relationships/tags" Target="../tags/tag77.xml"/><Relationship Id="rId50" Type="http://schemas.openxmlformats.org/officeDocument/2006/relationships/tags" Target="../tags/tag93.xml"/><Relationship Id="rId55" Type="http://schemas.openxmlformats.org/officeDocument/2006/relationships/tags" Target="../tags/tag98.xml"/><Relationship Id="rId76" Type="http://schemas.openxmlformats.org/officeDocument/2006/relationships/tags" Target="../tags/tag119.xml"/><Relationship Id="rId7" Type="http://schemas.openxmlformats.org/officeDocument/2006/relationships/tags" Target="../tags/tag50.xml"/><Relationship Id="rId71" Type="http://schemas.openxmlformats.org/officeDocument/2006/relationships/tags" Target="../tags/tag114.xml"/><Relationship Id="rId2" Type="http://schemas.openxmlformats.org/officeDocument/2006/relationships/tags" Target="../tags/tag45.xml"/><Relationship Id="rId29" Type="http://schemas.openxmlformats.org/officeDocument/2006/relationships/tags" Target="../tags/tag72.xml"/><Relationship Id="rId24" Type="http://schemas.openxmlformats.org/officeDocument/2006/relationships/tags" Target="../tags/tag67.xml"/><Relationship Id="rId40" Type="http://schemas.openxmlformats.org/officeDocument/2006/relationships/tags" Target="../tags/tag83.xml"/><Relationship Id="rId45" Type="http://schemas.openxmlformats.org/officeDocument/2006/relationships/tags" Target="../tags/tag88.xml"/><Relationship Id="rId66" Type="http://schemas.openxmlformats.org/officeDocument/2006/relationships/tags" Target="../tags/tag10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" name="think-cell data - do not delete" hidden="1">
            <a:extLst>
              <a:ext uri="{FF2B5EF4-FFF2-40B4-BE49-F238E27FC236}">
                <a16:creationId xmlns:a16="http://schemas.microsoft.com/office/drawing/2014/main" id="{21A1F4EF-68E9-E4D5-A12D-F49D0E0A6A8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36660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9" imgW="404" imgH="405" progId="TCLayout.ActiveDocument.1">
                  <p:embed/>
                </p:oleObj>
              </mc:Choice>
              <mc:Fallback>
                <p:oleObj name="think-cell Slide" r:id="rId79" imgW="404" imgH="405" progId="TCLayout.ActiveDocument.1">
                  <p:embed/>
                  <p:pic>
                    <p:nvPicPr>
                      <p:cNvPr id="8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1F4EF-68E9-E4D5-A12D-F49D0E0A6A8F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Rectangle 100">
            <a:extLst>
              <a:ext uri="{FF2B5EF4-FFF2-40B4-BE49-F238E27FC236}">
                <a16:creationId xmlns:a16="http://schemas.microsoft.com/office/drawing/2014/main" id="{DE48DC95-939C-BA25-A59A-7B4D912F5FB1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6216650" y="4071938"/>
            <a:ext cx="155575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2481AC6-C2C6-4DEE-A2F5-2DA9AC49DE8F}" type="datetime'''79''''''''’''''5''''''''4''''''5''.''''''''0'''">
              <a:rPr lang="en-US" sz="600" noProof="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79’545.0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40CE990D-E56D-7B22-B157-160F71927C29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5033963" y="4071938"/>
            <a:ext cx="117475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600" noProof="0" dirty="0">
              <a:solidFill>
                <a:schemeClr val="tx1"/>
              </a:solidFill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877133-DE99-DC2A-F378-00B61173648C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4702404" y="3058088"/>
            <a:ext cx="2346736" cy="1594570"/>
            <a:chOff x="4740658" y="3064743"/>
            <a:chExt cx="2346736" cy="1594570"/>
          </a:xfrm>
        </p:grpSpPr>
        <p:sp>
          <p:nvSpPr>
            <p:cNvPr id="8" name="Rechteck 5">
              <a:extLst>
                <a:ext uri="{FF2B5EF4-FFF2-40B4-BE49-F238E27FC236}">
                  <a16:creationId xmlns:a16="http://schemas.microsoft.com/office/drawing/2014/main" id="{874F9C5C-D0F0-C4E0-2C64-DF34E90A3F55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4740658" y="3064743"/>
              <a:ext cx="2346736" cy="159457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>
              <a:outerShdw algn="tl" rotWithShape="0">
                <a:prstClr val="black"/>
              </a:outerShdw>
            </a:effectLst>
          </p:spPr>
          <p:txBody>
  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185738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1pPr>
              <a:lvl2pPr marL="185738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2pPr>
              <a:lvl3pPr marL="538163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3pPr>
              <a:lvl4pPr marL="900113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4pPr>
              <a:lvl5pPr marL="1254125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5pPr>
              <a:lvl6pPr marL="14890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6pPr>
              <a:lvl7pPr marL="19462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7pPr>
              <a:lvl8pPr marL="24034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8pPr>
              <a:lvl9pPr marL="28606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800" i="1" noProof="0" dirty="0"/>
            </a:p>
            <a:p>
              <a:pPr>
                <a:buClr>
                  <a:schemeClr val="tx2"/>
                </a:buClr>
                <a:buFont typeface="Wingdings" panose="05000000000000000000" pitchFamily="2" charset="2"/>
                <a:buChar char="§"/>
              </a:pPr>
              <a:endParaRPr lang="en-US" sz="800" i="1" noProof="0" dirty="0"/>
            </a:p>
            <a:p>
              <a:pPr marL="4763" indent="0">
                <a:buClr>
                  <a:schemeClr val="tx2"/>
                </a:buClr>
                <a:buNone/>
              </a:pPr>
              <a:endParaRPr lang="en-US" sz="900" noProof="0" dirty="0"/>
            </a:p>
          </p:txBody>
        </p:sp>
        <p:cxnSp>
          <p:nvCxnSpPr>
            <p:cNvPr id="11" name="Gerader Verbinder 12">
              <a:extLst>
                <a:ext uri="{FF2B5EF4-FFF2-40B4-BE49-F238E27FC236}">
                  <a16:creationId xmlns:a16="http://schemas.microsoft.com/office/drawing/2014/main" id="{F3FAFC22-7FF4-A65E-2257-ABD0509992B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91996" y="3309424"/>
              <a:ext cx="2209205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CB14811-3B6D-0C04-5F7B-B229A2402813}"/>
                </a:ext>
              </a:extLst>
            </p:cNvPr>
            <p:cNvSpPr txBox="1"/>
            <p:nvPr/>
          </p:nvSpPr>
          <p:spPr>
            <a:xfrm>
              <a:off x="4791995" y="3102047"/>
              <a:ext cx="220920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b="1" noProof="0" dirty="0">
                  <a:solidFill>
                    <a:schemeClr val="tx2"/>
                  </a:solidFill>
                </a:rPr>
                <a:t>Key Financials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22199-AEA4-69B0-6151-C3DD926F1F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4419" y="4913018"/>
            <a:ext cx="1800506" cy="180000"/>
          </a:xfrm>
        </p:spPr>
        <p:txBody>
          <a:bodyPr/>
          <a:lstStyle/>
          <a:p>
            <a:pPr>
              <a:defRPr/>
            </a:pPr>
            <a:r>
              <a:rPr lang="en-US" noProof="0" dirty="0"/>
              <a:t>CONSTELLATION CAPITAL AG</a:t>
            </a:r>
            <a:endParaRPr lang="en-US" noProof="0" dirty="0">
              <a:ea typeface="ＭＳ Ｐゴシック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61E200-9C38-8A97-82C4-AD300F0A3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>
                <a:ea typeface="ＭＳ Ｐゴシック"/>
              </a:rPr>
              <a:t>Strictly Private &amp; 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449A3-901D-C9E9-959C-21ED72AC8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34709C5-D592-4784-B331-5CC8F77FAAFB}" type="slidenum">
              <a:rPr lang="en-US" noProof="0" smtClean="0"/>
              <a:pPr>
                <a:defRPr/>
              </a:pPr>
              <a:t>1</a:t>
            </a:fld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6E01ED-B42B-B08C-030D-CE61E6EE04D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8492" y="223605"/>
            <a:ext cx="8487016" cy="218265"/>
          </a:xfrm>
        </p:spPr>
        <p:txBody>
          <a:bodyPr/>
          <a:lstStyle/>
          <a:p>
            <a:r>
              <a:rPr lang="en-US" noProof="0" dirty="0"/>
              <a:t>One Pager </a:t>
            </a:r>
            <a:r>
              <a:rPr lang="en-US" b="1" i="0" noProof="0" dirty="0">
                <a:solidFill>
                  <a:srgbClr val="10162F"/>
                </a:solidFill>
                <a:effectLst/>
                <a:latin typeface="Apercu"/>
              </a:rPr>
              <a:t>| Project </a:t>
            </a:r>
            <a:r>
              <a:rPr lang="en-US" b="1" dirty="0">
                <a:solidFill>
                  <a:srgbClr val="10162F"/>
                </a:solidFill>
                <a:latin typeface="Apercu"/>
              </a:rPr>
              <a:t>DREAM </a:t>
            </a:r>
            <a:r>
              <a:rPr lang="en-US" b="1" i="0" noProof="0" dirty="0">
                <a:solidFill>
                  <a:srgbClr val="10162F"/>
                </a:solidFill>
                <a:effectLst/>
                <a:latin typeface="Apercu"/>
              </a:rPr>
              <a:t>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523162C-DC35-4B5C-173B-8CEE563AD2E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8492" y="466320"/>
            <a:ext cx="8487016" cy="243656"/>
          </a:xfrm>
        </p:spPr>
        <p:txBody>
          <a:bodyPr/>
          <a:lstStyle/>
          <a:p>
            <a:r>
              <a:rPr lang="en-US" dirty="0"/>
              <a:t>Provider of premium bedding products &amp; sleep-comfort solutions</a:t>
            </a:r>
            <a:endParaRPr lang="en-US" noProof="0" dirty="0"/>
          </a:p>
        </p:txBody>
      </p:sp>
      <p:sp>
        <p:nvSpPr>
          <p:cNvPr id="9" name="Rechteck 10">
            <a:extLst>
              <a:ext uri="{FF2B5EF4-FFF2-40B4-BE49-F238E27FC236}">
                <a16:creationId xmlns:a16="http://schemas.microsoft.com/office/drawing/2014/main" id="{84471072-E9EE-B4CC-E347-E6BD7C683BC2}"/>
              </a:ext>
            </a:extLst>
          </p:cNvPr>
          <p:cNvSpPr/>
          <p:nvPr/>
        </p:nvSpPr>
        <p:spPr>
          <a:xfrm>
            <a:off x="7189750" y="1339850"/>
            <a:ext cx="1624051" cy="2576513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rot="0" spcFirstLastPara="0" vertOverflow="overflow" horzOverflow="overflow" vert="horz" wrap="square" lIns="91440" tIns="36000" rIns="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endParaRPr lang="en-US" sz="500" b="1" noProof="0" dirty="0">
              <a:solidFill>
                <a:schemeClr val="tx2"/>
              </a:solidFill>
              <a:latin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500" b="1" noProof="0" dirty="0">
              <a:solidFill>
                <a:schemeClr val="tx2"/>
              </a:solidFill>
            </a:endParaRPr>
          </a:p>
          <a:p>
            <a:pPr marL="72000" indent="-72000"/>
            <a:endParaRPr lang="en-US" sz="500" b="1" noProof="0" dirty="0">
              <a:solidFill>
                <a:schemeClr val="tx2"/>
              </a:solidFill>
              <a:latin typeface="+mn-lt"/>
            </a:endParaRPr>
          </a:p>
          <a:p>
            <a:pPr marL="88900" indent="-88900">
              <a:spcAft>
                <a:spcPts val="600"/>
              </a:spcAft>
              <a:buClr>
                <a:srgbClr val="00B050"/>
              </a:buClr>
              <a:buFont typeface="Calibri" panose="020F0502020204030204" pitchFamily="34" charset="0"/>
              <a:buChar char="+"/>
              <a:defRPr/>
            </a:pPr>
            <a:r>
              <a:rPr lang="en-US" sz="800" dirty="0"/>
              <a:t>Asset light business model with strong margins</a:t>
            </a:r>
          </a:p>
          <a:p>
            <a:pPr marL="88900" marR="0" lvl="0" indent="-88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B81908"/>
              </a:buClr>
              <a:buSzTx/>
              <a:buFont typeface="Symbol" panose="05050102010706020507" pitchFamily="18" charset="2"/>
              <a:buChar char="-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Lack of corporate structures for a platform</a:t>
            </a:r>
          </a:p>
          <a:p>
            <a:pPr marL="88900" indent="-88900">
              <a:spcAft>
                <a:spcPts val="600"/>
              </a:spcAft>
              <a:buClr>
                <a:schemeClr val="accent5"/>
              </a:buClr>
              <a:buFont typeface="Symbol" panose="05050102010706020507" pitchFamily="18" charset="2"/>
              <a:buChar char="-"/>
              <a:defRPr/>
            </a:pPr>
            <a:r>
              <a:rPr lang="en-US" sz="800" dirty="0"/>
              <a:t>High platform dependence on Amazon</a:t>
            </a:r>
          </a:p>
          <a:p>
            <a:pPr marL="88900" indent="-88900">
              <a:spcAft>
                <a:spcPts val="600"/>
              </a:spcAft>
              <a:buClr>
                <a:schemeClr val="accent5"/>
              </a:buClr>
              <a:buFont typeface="Symbol" panose="05050102010706020507" pitchFamily="18" charset="2"/>
              <a:buChar char="-"/>
              <a:defRPr/>
            </a:pPr>
            <a:r>
              <a:rPr lang="en-US" sz="800" noProof="0" dirty="0">
                <a:solidFill>
                  <a:srgbClr val="000000"/>
                </a:solidFill>
              </a:rPr>
              <a:t>Limited brand moat bey</a:t>
            </a:r>
            <a:r>
              <a:rPr lang="en-US" sz="800" dirty="0" err="1">
                <a:solidFill>
                  <a:srgbClr val="000000"/>
                </a:solidFill>
              </a:rPr>
              <a:t>ond</a:t>
            </a:r>
            <a:r>
              <a:rPr lang="en-US" sz="800" dirty="0">
                <a:solidFill>
                  <a:srgbClr val="000000"/>
                </a:solidFill>
              </a:rPr>
              <a:t> reviews and product rankings</a:t>
            </a:r>
            <a:endParaRPr lang="en-US" sz="800" noProof="0" dirty="0">
              <a:solidFill>
                <a:srgbClr val="000000"/>
              </a:solidFill>
            </a:endParaRPr>
          </a:p>
        </p:txBody>
      </p:sp>
      <p:cxnSp>
        <p:nvCxnSpPr>
          <p:cNvPr id="13" name="Gerader Verbinder 17">
            <a:extLst>
              <a:ext uri="{FF2B5EF4-FFF2-40B4-BE49-F238E27FC236}">
                <a16:creationId xmlns:a16="http://schemas.microsoft.com/office/drawing/2014/main" id="{656E7BFC-419B-9663-BAD5-449D161369E4}"/>
              </a:ext>
            </a:extLst>
          </p:cNvPr>
          <p:cNvCxnSpPr>
            <a:cxnSpLocks/>
          </p:cNvCxnSpPr>
          <p:nvPr/>
        </p:nvCxnSpPr>
        <p:spPr bwMode="auto">
          <a:xfrm>
            <a:off x="7251303" y="1557338"/>
            <a:ext cx="149225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feld 11">
            <a:extLst>
              <a:ext uri="{FF2B5EF4-FFF2-40B4-BE49-F238E27FC236}">
                <a16:creationId xmlns:a16="http://schemas.microsoft.com/office/drawing/2014/main" id="{13B3ED2A-5A53-08A3-9661-2957E030E6E5}"/>
              </a:ext>
            </a:extLst>
          </p:cNvPr>
          <p:cNvSpPr txBox="1"/>
          <p:nvPr/>
        </p:nvSpPr>
        <p:spPr>
          <a:xfrm>
            <a:off x="328492" y="842963"/>
            <a:ext cx="8487015" cy="41751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sx="1000" sy="1000"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90000" tIns="45720" rIns="108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GB"/>
            </a:defPPr>
            <a:lvl1pPr algn="ctr">
              <a:lnSpc>
                <a:spcPct val="100000"/>
              </a:lnSpc>
              <a:spcBef>
                <a:spcPts val="0"/>
              </a:spcBef>
              <a:defRPr>
                <a:latin typeface="+mn-lt"/>
              </a:defRPr>
            </a:lvl1pPr>
          </a:lstStyle>
          <a:p>
            <a:pPr algn="l"/>
            <a:r>
              <a:rPr lang="en-US" sz="1200" b="1" noProof="0" dirty="0">
                <a:solidFill>
                  <a:schemeClr val="accent1"/>
                </a:solidFill>
              </a:rPr>
              <a:t>Investment-Thesis: </a:t>
            </a:r>
            <a:r>
              <a:rPr lang="en-GB" sz="1200" b="1" dirty="0"/>
              <a:t>Opportunity to acquire 100% of the s</a:t>
            </a:r>
            <a:r>
              <a:rPr lang="en-US" sz="1200" b="1" dirty="0">
                <a:solidFill>
                  <a:schemeClr val="dk1"/>
                </a:solidFill>
              </a:rPr>
              <a:t>hares in a provider of premium bedding products</a:t>
            </a:r>
            <a:endParaRPr lang="en-US" sz="1200" b="1" noProof="0" dirty="0"/>
          </a:p>
        </p:txBody>
      </p:sp>
      <p:sp>
        <p:nvSpPr>
          <p:cNvPr id="22" name="Textfeld 15">
            <a:extLst>
              <a:ext uri="{FF2B5EF4-FFF2-40B4-BE49-F238E27FC236}">
                <a16:creationId xmlns:a16="http://schemas.microsoft.com/office/drawing/2014/main" id="{3803EA97-3642-D56C-01C3-D0BBA63D64BC}"/>
              </a:ext>
            </a:extLst>
          </p:cNvPr>
          <p:cNvSpPr txBox="1"/>
          <p:nvPr/>
        </p:nvSpPr>
        <p:spPr>
          <a:xfrm>
            <a:off x="7196138" y="4089546"/>
            <a:ext cx="1617663" cy="57943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72000" tIns="36000" rIns="36000" bIns="36000" rtlCol="0" anchor="t" anchorCtr="0">
            <a:noAutofit/>
          </a:bodyPr>
          <a:lstStyle>
            <a:defPPr>
              <a:defRPr lang="en-GB"/>
            </a:defPPr>
            <a:lvl1pPr>
              <a:lnSpc>
                <a:spcPct val="100000"/>
              </a:lnSpc>
              <a:spcBef>
                <a:spcPts val="0"/>
              </a:spcBef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sz="1100" noProof="0" dirty="0">
                <a:solidFill>
                  <a:srgbClr val="223F6A"/>
                </a:solidFill>
              </a:rPr>
              <a:t>Status:</a:t>
            </a:r>
          </a:p>
          <a:p>
            <a:r>
              <a:rPr lang="en-US" sz="800" b="0" noProof="0" dirty="0">
                <a:solidFill>
                  <a:schemeClr val="tx1"/>
                </a:solidFill>
              </a:rPr>
              <a:t>Internal discussion –  08.12.25</a:t>
            </a:r>
            <a:endParaRPr lang="en-US" sz="800" b="0" dirty="0">
              <a:solidFill>
                <a:schemeClr val="tx1"/>
              </a:solidFill>
            </a:endParaRPr>
          </a:p>
          <a:p>
            <a:r>
              <a:rPr lang="en-US" sz="800" dirty="0">
                <a:solidFill>
                  <a:srgbClr val="FF0000"/>
                </a:solidFill>
              </a:rPr>
              <a:t>NBO – 08.12.2025</a:t>
            </a:r>
          </a:p>
        </p:txBody>
      </p:sp>
      <p:sp>
        <p:nvSpPr>
          <p:cNvPr id="23" name="Gleichschenkliges Dreieck 48">
            <a:extLst>
              <a:ext uri="{FF2B5EF4-FFF2-40B4-BE49-F238E27FC236}">
                <a16:creationId xmlns:a16="http://schemas.microsoft.com/office/drawing/2014/main" id="{37A76318-5856-C496-3B4C-DDA43E4AA880}"/>
              </a:ext>
            </a:extLst>
          </p:cNvPr>
          <p:cNvSpPr/>
          <p:nvPr/>
        </p:nvSpPr>
        <p:spPr>
          <a:xfrm flipV="1">
            <a:off x="7205663" y="3962400"/>
            <a:ext cx="1608138" cy="96207"/>
          </a:xfrm>
          <a:prstGeom prst="triangle">
            <a:avLst/>
          </a:prstGeom>
          <a:solidFill>
            <a:schemeClr val="bg2">
              <a:lumMod val="60000"/>
              <a:lumOff val="40000"/>
            </a:schemeClr>
          </a:solidFill>
          <a:ln w="6350">
            <a:noFill/>
          </a:ln>
          <a:effectLst>
            <a:outerShdw sx="1000" sy="1000"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endParaRPr lang="en-US" noProof="0" dirty="0">
              <a:latin typeface="+mn-lt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2973785-C1FD-8D28-58AE-1010ECC16D87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4744347" y="4728489"/>
            <a:ext cx="108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 noProof="0" dirty="0">
              <a:solidFill>
                <a:schemeClr val="tx1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592734A-72D5-0A8A-BB52-A94A228305E7}"/>
              </a:ext>
            </a:extLst>
          </p:cNvPr>
          <p:cNvGrpSpPr/>
          <p:nvPr/>
        </p:nvGrpSpPr>
        <p:grpSpPr>
          <a:xfrm>
            <a:off x="5178458" y="4739089"/>
            <a:ext cx="184150" cy="50800"/>
            <a:chOff x="6181306" y="3315549"/>
            <a:chExt cx="184150" cy="50800"/>
          </a:xfrm>
          <a:solidFill>
            <a:schemeClr val="accent6"/>
          </a:solidFill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5876B385-F5CC-0E08-9C86-E0868242FCF1}"/>
                </a:ext>
              </a:extLst>
            </p:cNvPr>
            <p:cNvCxnSpPr/>
            <p:nvPr>
              <p:custDataLst>
                <p:tags r:id="rId74"/>
              </p:custDataLst>
            </p:nvPr>
          </p:nvCxnSpPr>
          <p:spPr bwMode="gray">
            <a:xfrm>
              <a:off x="6181306" y="3340949"/>
              <a:ext cx="184150" cy="0"/>
            </a:xfrm>
            <a:prstGeom prst="line">
              <a:avLst/>
            </a:prstGeom>
            <a:grpFill/>
            <a:ln w="19050" cap="rnd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Diamond 42">
              <a:extLst>
                <a:ext uri="{FF2B5EF4-FFF2-40B4-BE49-F238E27FC236}">
                  <a16:creationId xmlns:a16="http://schemas.microsoft.com/office/drawing/2014/main" id="{0BE74355-E7AD-F37A-6EED-A146E172EE9C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 bwMode="auto">
            <a:xfrm>
              <a:off x="6247981" y="3315549"/>
              <a:ext cx="50800" cy="50800"/>
            </a:xfrm>
            <a:prstGeom prst="diamond">
              <a:avLst/>
            </a:prstGeom>
            <a:grpFill/>
            <a:ln w="9525" algn="ctr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00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44" name="Textplatzhalter 2">
            <a:extLst>
              <a:ext uri="{FF2B5EF4-FFF2-40B4-BE49-F238E27FC236}">
                <a16:creationId xmlns:a16="http://schemas.microsoft.com/office/drawing/2014/main" id="{C537F91A-EBB3-4F23-F3B8-38CD0D8C483C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4374353" y="4703370"/>
            <a:ext cx="36195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E6C1758D-4EF9-4D1E-9703-ABD13EAFE920}" type="datetime'''''''Rev''''''''''''''''''''''''''e''n''''''''''u''e'''''''">
              <a:rPr lang="en-US" sz="600" noProof="0" smtClean="0">
                <a:solidFill>
                  <a:srgbClr val="000000"/>
                </a:solidFill>
                <a:sym typeface="CKNord Book" panose="020B060402010101010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Revenue</a:t>
            </a:fld>
            <a:endParaRPr lang="en-US" sz="600" noProof="0" dirty="0">
              <a:solidFill>
                <a:srgbClr val="000000"/>
              </a:solidFill>
              <a:sym typeface="CKNord Book" panose="020B0604020101010102"/>
            </a:endParaRPr>
          </a:p>
        </p:txBody>
      </p:sp>
      <p:sp>
        <p:nvSpPr>
          <p:cNvPr id="46" name="Textplatzhalter 2">
            <a:extLst>
              <a:ext uri="{FF2B5EF4-FFF2-40B4-BE49-F238E27FC236}">
                <a16:creationId xmlns:a16="http://schemas.microsoft.com/office/drawing/2014/main" id="{CD4E7819-7F20-F54B-3079-26E12F689061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4878645" y="4708452"/>
            <a:ext cx="257465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2E93527E-F925-42B7-9AF0-F8DE52962105}" type="datetime'E''''''''''''B''''''''''''''''''''''I''T''''''D''A'''''''''">
              <a:rPr lang="en-US" sz="600" noProof="0" smtClean="0">
                <a:solidFill>
                  <a:srgbClr val="000000"/>
                </a:solidFill>
                <a:sym typeface="CKNord Book" panose="020B060402010101010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EBITDA</a:t>
            </a:fld>
            <a:endParaRPr lang="en-US" sz="600" noProof="0" dirty="0">
              <a:solidFill>
                <a:srgbClr val="000000"/>
              </a:solidFill>
              <a:sym typeface="CKNord Book" panose="020B0604020101010102"/>
            </a:endParaRPr>
          </a:p>
        </p:txBody>
      </p:sp>
      <p:sp>
        <p:nvSpPr>
          <p:cNvPr id="47" name="Textplatzhalter 2">
            <a:extLst>
              <a:ext uri="{FF2B5EF4-FFF2-40B4-BE49-F238E27FC236}">
                <a16:creationId xmlns:a16="http://schemas.microsoft.com/office/drawing/2014/main" id="{C8935A7B-3AB9-DF00-8C32-B40601D7418A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auto">
          <a:xfrm>
            <a:off x="5400533" y="4703370"/>
            <a:ext cx="497604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3608428A-8830-4F49-98F1-C45F6784252C}" type="datetime'''''EBI''''TDA ''''''''''''''''ma''''''r''g''i''n'">
              <a:rPr lang="en-US" sz="600" noProof="0" smtClean="0">
                <a:solidFill>
                  <a:srgbClr val="000000"/>
                </a:solidFill>
                <a:sym typeface="CKNord Book" panose="020B060402010101010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EBITDA margin</a:t>
            </a:fld>
            <a:endParaRPr lang="en-US" sz="600" noProof="0" dirty="0">
              <a:solidFill>
                <a:srgbClr val="000000"/>
              </a:solidFill>
              <a:sym typeface="CKNord Book" panose="020B0604020101010102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F568DCE-BA44-1F2B-4186-212A9FD19387}"/>
              </a:ext>
            </a:extLst>
          </p:cNvPr>
          <p:cNvGrpSpPr/>
          <p:nvPr/>
        </p:nvGrpSpPr>
        <p:grpSpPr>
          <a:xfrm flipV="1">
            <a:off x="6966800" y="4706239"/>
            <a:ext cx="126131" cy="119027"/>
            <a:chOff x="8376540" y="743817"/>
            <a:chExt cx="413396" cy="373698"/>
          </a:xfrm>
          <a:effectLst/>
        </p:grpSpPr>
        <p:sp>
          <p:nvSpPr>
            <p:cNvPr id="58" name="Rechteck 98">
              <a:extLst>
                <a:ext uri="{FF2B5EF4-FFF2-40B4-BE49-F238E27FC236}">
                  <a16:creationId xmlns:a16="http://schemas.microsoft.com/office/drawing/2014/main" id="{03DC9434-0AD8-A9D5-8FF5-E6CC5B4C9251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  <p:sp>
          <p:nvSpPr>
            <p:cNvPr id="59" name="Ellipse 99">
              <a:extLst>
                <a:ext uri="{FF2B5EF4-FFF2-40B4-BE49-F238E27FC236}">
                  <a16:creationId xmlns:a16="http://schemas.microsoft.com/office/drawing/2014/main" id="{02C20125-D7E2-D2CC-535E-869639B0BA49}"/>
                </a:ext>
              </a:extLst>
            </p:cNvPr>
            <p:cNvSpPr/>
            <p:nvPr/>
          </p:nvSpPr>
          <p:spPr bwMode="gray">
            <a:xfrm>
              <a:off x="8439238" y="786650"/>
              <a:ext cx="288000" cy="288032"/>
            </a:xfrm>
            <a:prstGeom prst="ellipse">
              <a:avLst/>
            </a:prstGeom>
            <a:solidFill>
              <a:srgbClr val="F4C500"/>
            </a:solidFill>
            <a:ln w="3175"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AD188CA-21A4-7C18-F0FC-CB30387BBBFC}"/>
              </a:ext>
            </a:extLst>
          </p:cNvPr>
          <p:cNvGrpSpPr/>
          <p:nvPr/>
        </p:nvGrpSpPr>
        <p:grpSpPr>
          <a:xfrm flipV="1">
            <a:off x="7993779" y="4706239"/>
            <a:ext cx="126131" cy="119027"/>
            <a:chOff x="8376540" y="743817"/>
            <a:chExt cx="413396" cy="373698"/>
          </a:xfrm>
          <a:effectLst/>
        </p:grpSpPr>
        <p:sp>
          <p:nvSpPr>
            <p:cNvPr id="61" name="Rechteck 98">
              <a:extLst>
                <a:ext uri="{FF2B5EF4-FFF2-40B4-BE49-F238E27FC236}">
                  <a16:creationId xmlns:a16="http://schemas.microsoft.com/office/drawing/2014/main" id="{B1321563-C3B6-9ABD-1223-948F33BF928B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  <p:sp>
          <p:nvSpPr>
            <p:cNvPr id="62" name="Ellipse 99">
              <a:extLst>
                <a:ext uri="{FF2B5EF4-FFF2-40B4-BE49-F238E27FC236}">
                  <a16:creationId xmlns:a16="http://schemas.microsoft.com/office/drawing/2014/main" id="{02A8A43C-119F-F0DC-BB75-1AE4694C83F4}"/>
                </a:ext>
              </a:extLst>
            </p:cNvPr>
            <p:cNvSpPr/>
            <p:nvPr/>
          </p:nvSpPr>
          <p:spPr bwMode="gray">
            <a:xfrm>
              <a:off x="8439238" y="786650"/>
              <a:ext cx="288000" cy="288032"/>
            </a:xfrm>
            <a:prstGeom prst="ellipse">
              <a:avLst/>
            </a:prstGeom>
            <a:solidFill>
              <a:srgbClr val="C00000"/>
            </a:solidFill>
            <a:ln w="3175"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6CD35BF-9950-1463-7D5E-73D49449925E}"/>
              </a:ext>
            </a:extLst>
          </p:cNvPr>
          <p:cNvGrpSpPr/>
          <p:nvPr/>
        </p:nvGrpSpPr>
        <p:grpSpPr>
          <a:xfrm>
            <a:off x="5906229" y="4706239"/>
            <a:ext cx="126131" cy="119027"/>
            <a:chOff x="6209554" y="4914192"/>
            <a:chExt cx="126131" cy="119027"/>
          </a:xfrm>
        </p:grpSpPr>
        <p:sp>
          <p:nvSpPr>
            <p:cNvPr id="64" name="Rechteck 98">
              <a:extLst>
                <a:ext uri="{FF2B5EF4-FFF2-40B4-BE49-F238E27FC236}">
                  <a16:creationId xmlns:a16="http://schemas.microsoft.com/office/drawing/2014/main" id="{B39F5B2D-3E94-276D-E9BA-823EB2A77C75}"/>
                </a:ext>
              </a:extLst>
            </p:cNvPr>
            <p:cNvSpPr/>
            <p:nvPr/>
          </p:nvSpPr>
          <p:spPr>
            <a:xfrm flipV="1">
              <a:off x="6209554" y="4914192"/>
              <a:ext cx="126131" cy="11902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  <p:sp>
          <p:nvSpPr>
            <p:cNvPr id="65" name="Ellipse 99">
              <a:extLst>
                <a:ext uri="{FF2B5EF4-FFF2-40B4-BE49-F238E27FC236}">
                  <a16:creationId xmlns:a16="http://schemas.microsoft.com/office/drawing/2014/main" id="{A1EC22D5-61DC-4F4B-8E3C-9773DC8B7B2E}"/>
                </a:ext>
              </a:extLst>
            </p:cNvPr>
            <p:cNvSpPr/>
            <p:nvPr/>
          </p:nvSpPr>
          <p:spPr bwMode="gray">
            <a:xfrm flipV="1">
              <a:off x="6228684" y="4927835"/>
              <a:ext cx="87872" cy="91741"/>
            </a:xfrm>
            <a:prstGeom prst="ellipse">
              <a:avLst/>
            </a:prstGeom>
            <a:solidFill>
              <a:srgbClr val="00B050"/>
            </a:solidFill>
            <a:ln w="3175">
              <a:noFill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</p:grpSp>
      <p:sp>
        <p:nvSpPr>
          <p:cNvPr id="66" name="Textplatzhalter 2">
            <a:extLst>
              <a:ext uri="{FF2B5EF4-FFF2-40B4-BE49-F238E27FC236}">
                <a16:creationId xmlns:a16="http://schemas.microsoft.com/office/drawing/2014/main" id="{F130D185-505D-8DA9-E435-609B4D0F0E7B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auto">
          <a:xfrm>
            <a:off x="8145170" y="4709715"/>
            <a:ext cx="683605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600" noProof="0" dirty="0">
                <a:solidFill>
                  <a:srgbClr val="000000"/>
                </a:solidFill>
                <a:sym typeface="CKNord Book" panose="020B0604020101010102"/>
              </a:rPr>
              <a:t>Not of interest to CCA</a:t>
            </a:r>
          </a:p>
        </p:txBody>
      </p:sp>
      <p:sp>
        <p:nvSpPr>
          <p:cNvPr id="67" name="Textplatzhalter 2">
            <a:extLst>
              <a:ext uri="{FF2B5EF4-FFF2-40B4-BE49-F238E27FC236}">
                <a16:creationId xmlns:a16="http://schemas.microsoft.com/office/drawing/2014/main" id="{9EA53319-ADA5-AEF0-CA62-92271EECC2FE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auto">
          <a:xfrm>
            <a:off x="6059135" y="4709715"/>
            <a:ext cx="884478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600" noProof="0" dirty="0">
                <a:solidFill>
                  <a:srgbClr val="000000"/>
                </a:solidFill>
                <a:sym typeface="CKNord Book" panose="020B0604020101010102"/>
              </a:rPr>
              <a:t>Investment criteria fulfilled</a:t>
            </a:r>
          </a:p>
        </p:txBody>
      </p:sp>
      <p:sp>
        <p:nvSpPr>
          <p:cNvPr id="68" name="Textplatzhalter 2">
            <a:extLst>
              <a:ext uri="{FF2B5EF4-FFF2-40B4-BE49-F238E27FC236}">
                <a16:creationId xmlns:a16="http://schemas.microsoft.com/office/drawing/2014/main" id="{F0F30A6A-2A0E-AC53-1BCF-274FDB66CC6A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7118546" y="4709715"/>
            <a:ext cx="826153" cy="112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spcCol="0" rtlCol="0" anchor="ctr" anchorCtr="0">
            <a:noAutofit/>
          </a:bodyPr>
          <a:lstStyle>
            <a:lvl1pPr marL="3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1pPr>
            <a:lvl2pPr marL="648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2pPr>
            <a:lvl3pPr marL="936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3pPr>
            <a:lvl4pPr marL="1224000" indent="-324000" eaLnBrk="1" hangingPunct="1">
              <a:buFont typeface="Calibri" panose="020F0502020204030204" pitchFamily="34" charset="0"/>
              <a:buChar char="→"/>
              <a:defRPr sz="2200">
                <a:latin typeface="+mn-lt"/>
                <a:ea typeface="+mn-ea"/>
                <a:cs typeface="+mn-cs"/>
              </a:defRPr>
            </a:lvl4pPr>
            <a:lvl5pPr marL="1584000" indent="-324000" eaLnBrk="1" hangingPunct="1">
              <a:buFont typeface="Calibri" panose="020F0502020204030204" pitchFamily="34" charset="0"/>
              <a:buChar char="→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5780" eaLnBrk="1" hangingPunct="1">
              <a:defRPr>
                <a:latin typeface="+mn-lt"/>
                <a:ea typeface="+mn-ea"/>
                <a:cs typeface="+mn-cs"/>
              </a:defRPr>
            </a:lvl6pPr>
            <a:lvl7pPr marL="1662935" eaLnBrk="1" hangingPunct="1">
              <a:defRPr>
                <a:latin typeface="+mn-lt"/>
                <a:ea typeface="+mn-ea"/>
                <a:cs typeface="+mn-cs"/>
              </a:defRPr>
            </a:lvl7pPr>
            <a:lvl8pPr marL="1940092" eaLnBrk="1" hangingPunct="1">
              <a:defRPr>
                <a:latin typeface="+mn-lt"/>
                <a:ea typeface="+mn-ea"/>
                <a:cs typeface="+mn-cs"/>
              </a:defRPr>
            </a:lvl8pPr>
            <a:lvl9pPr marL="2217247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600" noProof="0" dirty="0">
                <a:solidFill>
                  <a:srgbClr val="000000"/>
                </a:solidFill>
                <a:sym typeface="CKNord Book" panose="020B0604020101010102"/>
              </a:rPr>
              <a:t>Questions to be answered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4E153D9-3895-EC1A-8E93-4C685945DF48}"/>
              </a:ext>
            </a:extLst>
          </p:cNvPr>
          <p:cNvSpPr txBox="1"/>
          <p:nvPr/>
        </p:nvSpPr>
        <p:spPr>
          <a:xfrm>
            <a:off x="7262813" y="3284538"/>
            <a:ext cx="1016000" cy="817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dirty="0">
                <a:sym typeface="Wingdings" panose="05000000000000000000" pitchFamily="2" charset="2"/>
              </a:rPr>
              <a:t>EBITDA</a:t>
            </a:r>
            <a:r>
              <a:rPr lang="en-US" sz="700" noProof="0" dirty="0">
                <a:sym typeface="Wingdings" panose="05000000000000000000" pitchFamily="2" charset="2"/>
              </a:rPr>
              <a:t> (</a:t>
            </a:r>
            <a:r>
              <a:rPr lang="en-US" sz="700" dirty="0">
                <a:sym typeface="Wingdings" panose="05000000000000000000" pitchFamily="2" charset="2"/>
              </a:rPr>
              <a:t>EUR</a:t>
            </a:r>
            <a:r>
              <a:rPr lang="en-US" sz="700" noProof="0" dirty="0">
                <a:sym typeface="Wingdings" panose="05000000000000000000" pitchFamily="2" charset="2"/>
              </a:rPr>
              <a:t> 1m)</a:t>
            </a:r>
          </a:p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EBITDA margin (10%)</a:t>
            </a:r>
          </a:p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Digitization potential</a:t>
            </a:r>
          </a:p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Buy &amp; Build potential</a:t>
            </a:r>
          </a:p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Market fragmentation</a:t>
            </a:r>
          </a:p>
          <a:p>
            <a:pPr marL="171450" indent="-171450">
              <a:buFont typeface="Wingdings" panose="05000000000000000000" pitchFamily="2" charset="2"/>
              <a:buChar char="þ"/>
            </a:pPr>
            <a:endParaRPr lang="en-US" sz="800" noProof="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E5C2B45-6F93-4266-31C9-38E33CE07875}"/>
              </a:ext>
            </a:extLst>
          </p:cNvPr>
          <p:cNvSpPr txBox="1"/>
          <p:nvPr/>
        </p:nvSpPr>
        <p:spPr>
          <a:xfrm>
            <a:off x="8185150" y="3284538"/>
            <a:ext cx="744538" cy="6969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DACH</a:t>
            </a:r>
          </a:p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Majority stake</a:t>
            </a:r>
          </a:p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Asset light</a:t>
            </a:r>
          </a:p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ESG</a:t>
            </a:r>
          </a:p>
          <a:p>
            <a:endParaRPr lang="en-US" sz="800" noProof="0" dirty="0">
              <a:sym typeface="Wingdings" panose="05000000000000000000" pitchFamily="2" charset="2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64EC4AE-115E-59ED-09FE-38D672762A3F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7254875" y="3354388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US" sz="800" noProof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2923AFD3-7198-5D48-B4D3-95A0449F9E79}"/>
              </a:ext>
            </a:extLst>
          </p:cNvPr>
          <p:cNvGrpSpPr>
            <a:grpSpLocks/>
          </p:cNvGrpSpPr>
          <p:nvPr/>
        </p:nvGrpSpPr>
        <p:grpSpPr>
          <a:xfrm>
            <a:off x="8677297" y="697914"/>
            <a:ext cx="268707" cy="242904"/>
            <a:chOff x="8376540" y="743817"/>
            <a:chExt cx="413396" cy="373698"/>
          </a:xfrm>
        </p:grpSpPr>
        <p:sp>
          <p:nvSpPr>
            <p:cNvPr id="89" name="Rechteck 98">
              <a:extLst>
                <a:ext uri="{FF2B5EF4-FFF2-40B4-BE49-F238E27FC236}">
                  <a16:creationId xmlns:a16="http://schemas.microsoft.com/office/drawing/2014/main" id="{08871089-09F8-1A77-1D07-65D3FECB593D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4127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  <p:sp>
          <p:nvSpPr>
            <p:cNvPr id="90" name="Ellipse 99">
              <a:extLst>
                <a:ext uri="{FF2B5EF4-FFF2-40B4-BE49-F238E27FC236}">
                  <a16:creationId xmlns:a16="http://schemas.microsoft.com/office/drawing/2014/main" id="{E1617DA0-2357-52E1-8722-C412B3F79A35}"/>
                </a:ext>
              </a:extLst>
            </p:cNvPr>
            <p:cNvSpPr/>
            <p:nvPr/>
          </p:nvSpPr>
          <p:spPr bwMode="gray">
            <a:xfrm>
              <a:off x="8439238" y="786650"/>
              <a:ext cx="288000" cy="288032"/>
            </a:xfrm>
            <a:prstGeom prst="ellipse">
              <a:avLst/>
            </a:prstGeom>
            <a:solidFill>
              <a:srgbClr val="F4C500"/>
            </a:solidFill>
            <a:ln w="6350">
              <a:noFill/>
            </a:ln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39CC55AA-A363-3057-2B7E-071AEF2ABFE9}"/>
              </a:ext>
            </a:extLst>
          </p:cNvPr>
          <p:cNvGrpSpPr>
            <a:grpSpLocks/>
          </p:cNvGrpSpPr>
          <p:nvPr/>
        </p:nvGrpSpPr>
        <p:grpSpPr>
          <a:xfrm>
            <a:off x="9644647" y="616184"/>
            <a:ext cx="268707" cy="242904"/>
            <a:chOff x="8376540" y="743817"/>
            <a:chExt cx="413396" cy="373698"/>
          </a:xfrm>
        </p:grpSpPr>
        <p:sp>
          <p:nvSpPr>
            <p:cNvPr id="92" name="Rechteck 98">
              <a:extLst>
                <a:ext uri="{FF2B5EF4-FFF2-40B4-BE49-F238E27FC236}">
                  <a16:creationId xmlns:a16="http://schemas.microsoft.com/office/drawing/2014/main" id="{9AC9D405-85BB-4FC2-EF88-76352F2D00F4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4127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  <p:sp>
          <p:nvSpPr>
            <p:cNvPr id="93" name="Ellipse 99">
              <a:extLst>
                <a:ext uri="{FF2B5EF4-FFF2-40B4-BE49-F238E27FC236}">
                  <a16:creationId xmlns:a16="http://schemas.microsoft.com/office/drawing/2014/main" id="{F0008905-2A5B-ECBD-04B6-091CE8D17D3B}"/>
                </a:ext>
              </a:extLst>
            </p:cNvPr>
            <p:cNvSpPr/>
            <p:nvPr/>
          </p:nvSpPr>
          <p:spPr bwMode="gray">
            <a:xfrm>
              <a:off x="8439238" y="786650"/>
              <a:ext cx="288000" cy="288032"/>
            </a:xfrm>
            <a:prstGeom prst="ellipse">
              <a:avLst/>
            </a:prstGeom>
            <a:solidFill>
              <a:srgbClr val="C00000"/>
            </a:solidFill>
            <a:ln w="6350">
              <a:noFill/>
            </a:ln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E99B8D32-0DE6-FFF5-6114-A9B66D471EF1}"/>
              </a:ext>
            </a:extLst>
          </p:cNvPr>
          <p:cNvGrpSpPr>
            <a:grpSpLocks/>
          </p:cNvGrpSpPr>
          <p:nvPr/>
        </p:nvGrpSpPr>
        <p:grpSpPr>
          <a:xfrm>
            <a:off x="10095813" y="1017984"/>
            <a:ext cx="268288" cy="242491"/>
            <a:chOff x="8376540" y="743817"/>
            <a:chExt cx="413396" cy="373698"/>
          </a:xfrm>
        </p:grpSpPr>
        <p:sp>
          <p:nvSpPr>
            <p:cNvPr id="95" name="Rechteck 98">
              <a:extLst>
                <a:ext uri="{FF2B5EF4-FFF2-40B4-BE49-F238E27FC236}">
                  <a16:creationId xmlns:a16="http://schemas.microsoft.com/office/drawing/2014/main" id="{E87EEB08-1D27-A70C-BD52-82A21C7955A4}"/>
                </a:ext>
              </a:extLst>
            </p:cNvPr>
            <p:cNvSpPr/>
            <p:nvPr/>
          </p:nvSpPr>
          <p:spPr>
            <a:xfrm>
              <a:off x="8376540" y="743817"/>
              <a:ext cx="413396" cy="373698"/>
            </a:xfrm>
            <a:prstGeom prst="rect">
              <a:avLst/>
            </a:prstGeom>
            <a:solidFill>
              <a:schemeClr val="bg1"/>
            </a:solidFill>
            <a:ln w="4127">
              <a:solidFill>
                <a:schemeClr val="bg1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  <p:sp>
          <p:nvSpPr>
            <p:cNvPr id="96" name="Ellipse 99">
              <a:extLst>
                <a:ext uri="{FF2B5EF4-FFF2-40B4-BE49-F238E27FC236}">
                  <a16:creationId xmlns:a16="http://schemas.microsoft.com/office/drawing/2014/main" id="{F62127AA-123B-6372-1978-AB67D8B3A208}"/>
                </a:ext>
              </a:extLst>
            </p:cNvPr>
            <p:cNvSpPr/>
            <p:nvPr/>
          </p:nvSpPr>
          <p:spPr bwMode="gray">
            <a:xfrm>
              <a:off x="8449022" y="786650"/>
              <a:ext cx="288000" cy="288032"/>
            </a:xfrm>
            <a:prstGeom prst="ellipse">
              <a:avLst/>
            </a:prstGeom>
            <a:solidFill>
              <a:srgbClr val="00B050"/>
            </a:solidFill>
            <a:ln w="6350">
              <a:noFill/>
            </a:ln>
          </p:spPr>
          <p:txBody>
            <a:bodyPr rot="0" spcFirstLastPara="0" vertOverflow="overflow" horzOverflow="overflow" vert="horz" wrap="square" lIns="59436" tIns="29718" rIns="59436" bIns="2971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</a:pPr>
              <a:endParaRPr lang="en-US" noProof="0" dirty="0">
                <a:latin typeface="+mn-lt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90F55FB-CCF6-55ED-AC16-3661DCC6DBE2}"/>
              </a:ext>
            </a:extLst>
          </p:cNvPr>
          <p:cNvGrpSpPr/>
          <p:nvPr/>
        </p:nvGrpSpPr>
        <p:grpSpPr>
          <a:xfrm>
            <a:off x="324419" y="1353293"/>
            <a:ext cx="1706564" cy="3312341"/>
            <a:chOff x="333375" y="1328436"/>
            <a:chExt cx="1706564" cy="3337173"/>
          </a:xfrm>
        </p:grpSpPr>
        <p:sp>
          <p:nvSpPr>
            <p:cNvPr id="10" name="Rechteck 5">
              <a:extLst>
                <a:ext uri="{FF2B5EF4-FFF2-40B4-BE49-F238E27FC236}">
                  <a16:creationId xmlns:a16="http://schemas.microsoft.com/office/drawing/2014/main" id="{F111E3DD-F525-16DC-ADF0-2F34B98D207A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333375" y="1328436"/>
              <a:ext cx="1706564" cy="333717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>
              <a:outerShdw algn="tl" rotWithShape="0">
                <a:prstClr val="black"/>
              </a:outerShdw>
            </a:effectLst>
          </p:spPr>
          <p:txBody>
  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185738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1pPr>
              <a:lvl2pPr marL="185738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2pPr>
              <a:lvl3pPr marL="538163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3pPr>
              <a:lvl4pPr marL="900113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4pPr>
              <a:lvl5pPr marL="1254125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5pPr>
              <a:lvl6pPr marL="14890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6pPr>
              <a:lvl7pPr marL="19462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7pPr>
              <a:lvl8pPr marL="24034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8pPr>
              <a:lvl9pPr marL="28606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500" b="1" noProof="0" dirty="0">
                <a:solidFill>
                  <a:srgbClr val="27AA50"/>
                </a:solidFill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500" b="1" noProof="0" dirty="0">
                <a:solidFill>
                  <a:srgbClr val="27AA50"/>
                </a:solidFill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500" b="1" noProof="0" dirty="0">
                <a:solidFill>
                  <a:srgbClr val="27AA50"/>
                </a:solidFill>
              </a:endParaRPr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500" b="1" noProof="0" dirty="0">
                <a:solidFill>
                  <a:srgbClr val="27AA50"/>
                </a:solidFill>
                <a:highlight>
                  <a:srgbClr val="FFFF00"/>
                </a:highlight>
              </a:endParaRPr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noProof="0" dirty="0">
                  <a:solidFill>
                    <a:schemeClr val="dk1"/>
                  </a:solidFill>
                </a:rPr>
                <a:t>Founded: </a:t>
              </a:r>
              <a:r>
                <a:rPr lang="en-US" sz="800" noProof="0" dirty="0">
                  <a:solidFill>
                    <a:schemeClr val="dk1"/>
                  </a:solidFill>
                </a:rPr>
                <a:t>2020</a:t>
              </a:r>
              <a:endParaRPr lang="en-US" sz="800" noProof="0" dirty="0"/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noProof="0" dirty="0">
                  <a:solidFill>
                    <a:schemeClr val="dk1"/>
                  </a:solidFill>
                </a:rPr>
                <a:t>Locations:</a:t>
              </a:r>
              <a:r>
                <a:rPr lang="en-US" sz="800" noProof="0" dirty="0">
                  <a:solidFill>
                    <a:schemeClr val="dk1"/>
                  </a:solidFill>
                </a:rPr>
                <a:t> </a:t>
              </a:r>
              <a:r>
                <a:rPr lang="en-US" sz="800" dirty="0"/>
                <a:t>Zurich, Switzerland</a:t>
              </a:r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noProof="0" dirty="0"/>
                <a:t>Website</a:t>
              </a:r>
              <a:r>
                <a:rPr lang="en-US" sz="800" noProof="0" dirty="0">
                  <a:latin typeface="Calibri"/>
                </a:rPr>
                <a:t>: </a:t>
              </a:r>
              <a:r>
                <a:rPr lang="en-US" sz="800" dirty="0"/>
                <a:t>https://welldora.com/</a:t>
              </a:r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noProof="0" dirty="0">
                  <a:solidFill>
                    <a:schemeClr val="dk1"/>
                  </a:solidFill>
                </a:rPr>
                <a:t>Industry: </a:t>
              </a:r>
              <a:r>
                <a:rPr lang="en-US" sz="800" dirty="0"/>
                <a:t>Home &amp; Living</a:t>
              </a:r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noProof="0" dirty="0"/>
                <a:t>Niche</a:t>
              </a:r>
              <a:r>
                <a:rPr lang="en-US" sz="800" noProof="0" dirty="0">
                  <a:solidFill>
                    <a:schemeClr val="dk1"/>
                  </a:solidFill>
                </a:rPr>
                <a:t>: </a:t>
              </a:r>
              <a:r>
                <a:rPr lang="en-US" sz="800" dirty="0"/>
                <a:t>Premium bedding products</a:t>
              </a:r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noProof="0" dirty="0"/>
                <a:t>Revenue (FY24A): </a:t>
              </a:r>
              <a:r>
                <a:rPr lang="en-US" sz="800" noProof="0" dirty="0"/>
                <a:t>EUR 9</a:t>
              </a:r>
              <a:r>
                <a:rPr lang="en-US" sz="800" dirty="0"/>
                <a:t>.0</a:t>
              </a:r>
              <a:r>
                <a:rPr lang="en-US" sz="800" noProof="0" dirty="0"/>
                <a:t>m</a:t>
              </a:r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noProof="0" dirty="0">
                  <a:solidFill>
                    <a:schemeClr val="dk1"/>
                  </a:solidFill>
                </a:rPr>
                <a:t>EBITDA (FY24A): </a:t>
              </a:r>
              <a:r>
                <a:rPr lang="en-US" sz="800" noProof="0" dirty="0">
                  <a:solidFill>
                    <a:schemeClr val="dk1"/>
                  </a:solidFill>
                </a:rPr>
                <a:t>EUR 2.6m</a:t>
              </a:r>
              <a:r>
                <a:rPr lang="en-US" sz="800" noProof="0" dirty="0"/>
                <a:t> (29%)</a:t>
              </a:r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noProof="0" dirty="0"/>
                <a:t>Owners:</a:t>
              </a:r>
              <a:r>
                <a:rPr lang="en-US" sz="800" b="1" dirty="0"/>
                <a:t> </a:t>
              </a:r>
              <a:r>
                <a:rPr lang="en-US" sz="800" dirty="0"/>
                <a:t>Sascha Renner</a:t>
              </a:r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dirty="0"/>
                <a:t>Managers:</a:t>
              </a:r>
              <a:r>
                <a:rPr lang="en-US" sz="800" dirty="0"/>
                <a:t> Owner-led</a:t>
              </a:r>
              <a:endParaRPr lang="en-US" sz="800" noProof="0" dirty="0"/>
            </a:p>
            <a:p>
              <a:pPr marL="0" indent="0">
                <a:lnSpc>
                  <a:spcPct val="90000"/>
                </a:lnSpc>
                <a:spcAft>
                  <a:spcPts val="600"/>
                </a:spcAft>
                <a:buNone/>
              </a:pPr>
              <a:r>
                <a:rPr lang="en-US" sz="800" b="1" noProof="0" dirty="0"/>
                <a:t>No of employees:</a:t>
              </a:r>
              <a:r>
                <a:rPr lang="en-US" sz="800" noProof="0" dirty="0"/>
                <a:t> </a:t>
              </a:r>
              <a:r>
                <a:rPr lang="en-US" sz="800" dirty="0"/>
                <a:t>2.5 FTEs</a:t>
              </a:r>
              <a:br>
                <a:rPr lang="en-US" sz="800" noProof="0" dirty="0"/>
              </a:br>
              <a:br>
                <a:rPr lang="en-US" sz="800" dirty="0"/>
              </a:br>
              <a:r>
                <a:rPr lang="en-US" sz="800" b="1" noProof="0" dirty="0"/>
                <a:t>Source:</a:t>
              </a:r>
              <a:r>
                <a:rPr lang="en-US" sz="800" noProof="0" dirty="0"/>
                <a:t> CIM received on </a:t>
              </a:r>
              <a:r>
                <a:rPr lang="en-US" sz="800" dirty="0"/>
                <a:t>03.</a:t>
              </a:r>
              <a:r>
                <a:rPr lang="en-US" sz="800" noProof="0" dirty="0"/>
                <a:t>12.2025</a:t>
              </a:r>
            </a:p>
          </p:txBody>
        </p:sp>
        <p:cxnSp>
          <p:nvCxnSpPr>
            <p:cNvPr id="12" name="Gerader Verbinder 12">
              <a:extLst>
                <a:ext uri="{FF2B5EF4-FFF2-40B4-BE49-F238E27FC236}">
                  <a16:creationId xmlns:a16="http://schemas.microsoft.com/office/drawing/2014/main" id="{83BFE0A7-A212-4C9A-6516-001D04B8CF6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83382" y="1557338"/>
              <a:ext cx="1606550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17DE13E1-F96E-FBC4-E9DA-D59C4B9F10DC}"/>
                </a:ext>
              </a:extLst>
            </p:cNvPr>
            <p:cNvSpPr txBox="1"/>
            <p:nvPr/>
          </p:nvSpPr>
          <p:spPr>
            <a:xfrm>
              <a:off x="383382" y="1349961"/>
              <a:ext cx="1606550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b="1" noProof="0" dirty="0">
                  <a:solidFill>
                    <a:schemeClr val="tx2"/>
                  </a:solidFill>
                </a:rPr>
                <a:t>Key Facts</a:t>
              </a:r>
            </a:p>
          </p:txBody>
        </p: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0F6F6DD5-08D1-69AF-2CA0-4F7E01712814}"/>
              </a:ext>
            </a:extLst>
          </p:cNvPr>
          <p:cNvSpPr txBox="1"/>
          <p:nvPr/>
        </p:nvSpPr>
        <p:spPr>
          <a:xfrm>
            <a:off x="7260432" y="1356427"/>
            <a:ext cx="1489869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noProof="0" dirty="0">
                <a:solidFill>
                  <a:srgbClr val="223F6A"/>
                </a:solidFill>
              </a:rPr>
              <a:t>Investment</a:t>
            </a:r>
            <a:r>
              <a:rPr lang="en-US" sz="1100" b="1" noProof="0" dirty="0">
                <a:solidFill>
                  <a:srgbClr val="FF0000"/>
                </a:solidFill>
              </a:rPr>
              <a:t> </a:t>
            </a:r>
            <a:r>
              <a:rPr lang="en-US" sz="1100" b="1" noProof="0" dirty="0">
                <a:solidFill>
                  <a:srgbClr val="223F6A"/>
                </a:solidFill>
              </a:rPr>
              <a:t>Rationale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EA60035D-169F-BD01-5B69-60101B6452FD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7254875" y="3471863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US" sz="800" noProof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02E389C2-60EC-2316-1273-DFC10B8780AB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254875" y="3589338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endParaRPr lang="en-US" sz="800" noProof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B182E04C-F920-FC4F-25CB-C57D50B21868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7254875" y="3708400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endParaRPr lang="en-US" sz="800" noProof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0238CCC-116C-A9B1-CF8C-EDABD1DDE604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7254875" y="3821113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endParaRPr lang="en-US" sz="800" noProof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A1436F10-34D0-59E9-642A-25BD29E1729C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8164513" y="3354388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 dirty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E949D2A0-B7DA-E75E-322A-05466628BD3E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8164513" y="3471863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 dirty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8E17C6FD-07E6-FD9F-2110-13CF8904ACB7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8164513" y="3589338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  <a:endParaRPr lang="en-US" sz="800" noProof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2F0474ED-0778-3E45-BA32-FA0485E85908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8164513" y="3708400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endParaRPr lang="en-US" sz="800" noProof="0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cxnSp>
        <p:nvCxnSpPr>
          <p:cNvPr id="136" name="Gerader Verbinder 17">
            <a:extLst>
              <a:ext uri="{FF2B5EF4-FFF2-40B4-BE49-F238E27FC236}">
                <a16:creationId xmlns:a16="http://schemas.microsoft.com/office/drawing/2014/main" id="{D3013C79-7CBF-27F8-FA38-366BE184F395}"/>
              </a:ext>
            </a:extLst>
          </p:cNvPr>
          <p:cNvCxnSpPr>
            <a:cxnSpLocks/>
          </p:cNvCxnSpPr>
          <p:nvPr/>
        </p:nvCxnSpPr>
        <p:spPr bwMode="auto">
          <a:xfrm>
            <a:off x="7251303" y="3265777"/>
            <a:ext cx="149225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69758909-7478-CBBB-DADE-55862CF2B547}"/>
              </a:ext>
            </a:extLst>
          </p:cNvPr>
          <p:cNvSpPr txBox="1"/>
          <p:nvPr/>
        </p:nvSpPr>
        <p:spPr>
          <a:xfrm>
            <a:off x="7260432" y="3065548"/>
            <a:ext cx="1489869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noProof="0" dirty="0">
                <a:solidFill>
                  <a:srgbClr val="223F6A"/>
                </a:solidFill>
              </a:rPr>
              <a:t>Investment Criteria</a:t>
            </a:r>
          </a:p>
        </p:txBody>
      </p:sp>
      <p:sp>
        <p:nvSpPr>
          <p:cNvPr id="138" name="Rechteck 5">
            <a:extLst>
              <a:ext uri="{FF2B5EF4-FFF2-40B4-BE49-F238E27FC236}">
                <a16:creationId xmlns:a16="http://schemas.microsoft.com/office/drawing/2014/main" id="{5BB71CF7-7650-F3E4-49B8-F562688AEB0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2190361" y="1339850"/>
            <a:ext cx="2346736" cy="166961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108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800" i="1" noProof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800" i="1" noProof="0" dirty="0"/>
          </a:p>
          <a:p>
            <a:pPr marL="88900" indent="-84138" algn="just"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Operates a portfolio of 14 parent products and 157 variants in the premium bedding segment, primarily distributed via Amazon in the DACH region</a:t>
            </a:r>
          </a:p>
          <a:p>
            <a:pPr marL="88900" indent="-84138" algn="just"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Sources production from Chinese manufacturers with lead times of 35-50 days and maintains fulfillment through FBA and external warehouses in Germany</a:t>
            </a:r>
          </a:p>
          <a:p>
            <a:pPr marL="88900" indent="-84138" algn="just"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High EBITDA margin of c. 29%, supported by a lean remote operating structure and 3PL logistics</a:t>
            </a:r>
          </a:p>
        </p:txBody>
      </p:sp>
      <p:cxnSp>
        <p:nvCxnSpPr>
          <p:cNvPr id="139" name="Gerader Verbinder 12">
            <a:extLst>
              <a:ext uri="{FF2B5EF4-FFF2-40B4-BE49-F238E27FC236}">
                <a16:creationId xmlns:a16="http://schemas.microsoft.com/office/drawing/2014/main" id="{D608E8FF-73F4-BFB6-A072-70FACBE3569A}"/>
              </a:ext>
            </a:extLst>
          </p:cNvPr>
          <p:cNvCxnSpPr>
            <a:cxnSpLocks/>
          </p:cNvCxnSpPr>
          <p:nvPr/>
        </p:nvCxnSpPr>
        <p:spPr bwMode="auto">
          <a:xfrm>
            <a:off x="2241699" y="1584531"/>
            <a:ext cx="2209205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F31239F6-7122-8938-2F39-02F349D4F079}"/>
              </a:ext>
            </a:extLst>
          </p:cNvPr>
          <p:cNvSpPr txBox="1"/>
          <p:nvPr/>
        </p:nvSpPr>
        <p:spPr>
          <a:xfrm>
            <a:off x="2241698" y="1377154"/>
            <a:ext cx="220920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noProof="0" dirty="0">
                <a:solidFill>
                  <a:schemeClr val="tx2"/>
                </a:solidFill>
              </a:rPr>
              <a:t>Description</a:t>
            </a:r>
            <a:endParaRPr lang="en-US" sz="800" b="1" noProof="0" dirty="0">
              <a:solidFill>
                <a:schemeClr val="tx2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50AAFF5-AF40-FF9B-6516-4711CE37334B}"/>
              </a:ext>
            </a:extLst>
          </p:cNvPr>
          <p:cNvGrpSpPr/>
          <p:nvPr/>
        </p:nvGrpSpPr>
        <p:grpSpPr>
          <a:xfrm>
            <a:off x="4702404" y="1339849"/>
            <a:ext cx="2346736" cy="1673225"/>
            <a:chOff x="4736690" y="1307456"/>
            <a:chExt cx="2346736" cy="1610896"/>
          </a:xfrm>
        </p:grpSpPr>
        <p:sp>
          <p:nvSpPr>
            <p:cNvPr id="15" name="Rechteck 5">
              <a:extLst>
                <a:ext uri="{FF2B5EF4-FFF2-40B4-BE49-F238E27FC236}">
                  <a16:creationId xmlns:a16="http://schemas.microsoft.com/office/drawing/2014/main" id="{08F602E6-555C-764C-5F7E-CA0E3FB3AC44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4736690" y="1307456"/>
              <a:ext cx="2346736" cy="161089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  <a:effectLst>
              <a:outerShdw algn="tl" rotWithShape="0">
                <a:prstClr val="black"/>
              </a:outerShdw>
            </a:effectLst>
          </p:spPr>
          <p:txBody>
            <a:bodyPr rot="0" spcFirstLastPara="0" vertOverflow="overflow" horzOverflow="overflow" vert="horz" wrap="square" lIns="36000" tIns="36000" rIns="1080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185738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1pPr>
              <a:lvl2pPr marL="185738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2pPr>
              <a:lvl3pPr marL="538163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3pPr>
              <a:lvl4pPr marL="900113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4pPr>
              <a:lvl5pPr marL="1254125" indent="-180975" algn="l" rtl="0" eaLnBrk="1" fontAlgn="base" hangingPunct="1">
                <a:buClr>
                  <a:schemeClr val="tx1"/>
                </a:buClr>
                <a:buFont typeface="Calibri" panose="020F0502020204030204" pitchFamily="34" charset="0"/>
                <a:buChar char="–"/>
              </a:lvl5pPr>
              <a:lvl6pPr marL="14890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6pPr>
              <a:lvl7pPr marL="19462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7pPr>
              <a:lvl8pPr marL="24034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8pPr>
              <a:lvl9pPr marL="2860675" indent="-176213" algn="l" rtl="0" eaLnBrk="1" fontAlgn="base" hangingPunct="1">
                <a:buClr>
                  <a:schemeClr val="tx1"/>
                </a:buClr>
                <a:buFont typeface="Verdana" pitchFamily="34" charset="0"/>
                <a:buChar char="-"/>
              </a:lvl9pPr>
            </a:lstStyle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800" i="1" noProof="0" dirty="0"/>
            </a:p>
            <a:p>
              <a:pPr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800" i="1" noProof="0" dirty="0"/>
            </a:p>
            <a:p>
              <a:pPr marL="88900" indent="-84138" algn="just">
                <a:spcAft>
                  <a:spcPts val="6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</a:pPr>
              <a:r>
                <a:rPr lang="en-US" sz="800" dirty="0"/>
                <a:t>The company offers a focused portfolio of premium bedding products across 14 parent categories, including duvets, pillows, allergen covers, silk items, and mattress toppers</a:t>
              </a:r>
            </a:p>
            <a:p>
              <a:pPr marL="88900" indent="-84138" algn="just">
                <a:spcAft>
                  <a:spcPts val="6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</a:pPr>
              <a:r>
                <a:rPr lang="en-US" sz="800" noProof="0" dirty="0"/>
                <a:t>Revenue Split by Product:</a:t>
              </a:r>
            </a:p>
          </p:txBody>
        </p:sp>
        <p:cxnSp>
          <p:nvCxnSpPr>
            <p:cNvPr id="16" name="Gerader Verbinder 12">
              <a:extLst>
                <a:ext uri="{FF2B5EF4-FFF2-40B4-BE49-F238E27FC236}">
                  <a16:creationId xmlns:a16="http://schemas.microsoft.com/office/drawing/2014/main" id="{5360A02B-F1AD-9E9F-CD92-92EDB801467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88028" y="1552137"/>
              <a:ext cx="2209205" cy="0"/>
            </a:xfrm>
            <a:prstGeom prst="line">
              <a:avLst/>
            </a:prstGeom>
            <a:solidFill>
              <a:schemeClr val="accent1"/>
            </a:solidFill>
            <a:ln w="25400" cap="flat" cmpd="sng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223B066-2ABE-08F7-D584-FA4DEA8A49FD}"/>
                </a:ext>
              </a:extLst>
            </p:cNvPr>
            <p:cNvSpPr txBox="1"/>
            <p:nvPr/>
          </p:nvSpPr>
          <p:spPr>
            <a:xfrm>
              <a:off x="4788027" y="1344760"/>
              <a:ext cx="2209205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b="1" noProof="0" dirty="0">
                  <a:solidFill>
                    <a:schemeClr val="tx2"/>
                  </a:solidFill>
                </a:rPr>
                <a:t>Product &amp; Service Portfolio</a:t>
              </a:r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68544B9B-DE71-C568-B89A-09F2B95BDBD0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7265988" y="2849563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 dirty="0">
                <a:solidFill>
                  <a:schemeClr val="tx1"/>
                </a:solidFill>
                <a:sym typeface="Wingdings" panose="05000000000000000000" pitchFamily="2" charset="2"/>
              </a:rPr>
              <a:t>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222D64D-C14C-640D-A714-7F36430F4992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8164513" y="2844800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D62038-C3E8-7774-58E7-0262A821E42F}"/>
              </a:ext>
            </a:extLst>
          </p:cNvPr>
          <p:cNvSpPr txBox="1"/>
          <p:nvPr/>
        </p:nvSpPr>
        <p:spPr>
          <a:xfrm>
            <a:off x="7262813" y="2790379"/>
            <a:ext cx="857097" cy="320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Portfolio CVII</a:t>
            </a:r>
          </a:p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Vertical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04B107C-E8C5-FD53-34FE-1D3E58B86046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7265988" y="2967038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61694C7-795A-9312-BA53-CE4C1772372C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8164513" y="2962275"/>
            <a:ext cx="74613" cy="7461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800" noProof="0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7ED3C24-687C-9273-8C80-399170383014}"/>
              </a:ext>
            </a:extLst>
          </p:cNvPr>
          <p:cNvSpPr txBox="1"/>
          <p:nvPr/>
        </p:nvSpPr>
        <p:spPr>
          <a:xfrm>
            <a:off x="8190823" y="2790379"/>
            <a:ext cx="620828" cy="320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Add-On</a:t>
            </a:r>
          </a:p>
          <a:p>
            <a:pPr>
              <a:spcAft>
                <a:spcPts val="100"/>
              </a:spcAft>
            </a:pPr>
            <a:r>
              <a:rPr lang="en-US" sz="700" noProof="0" dirty="0">
                <a:sym typeface="Wingdings" panose="05000000000000000000" pitchFamily="2" charset="2"/>
              </a:rPr>
              <a:t>Horizontal</a:t>
            </a:r>
          </a:p>
        </p:txBody>
      </p:sp>
      <p:sp>
        <p:nvSpPr>
          <p:cNvPr id="7" name="Rechteck 5">
            <a:extLst>
              <a:ext uri="{FF2B5EF4-FFF2-40B4-BE49-F238E27FC236}">
                <a16:creationId xmlns:a16="http://schemas.microsoft.com/office/drawing/2014/main" id="{305A4026-DB93-C61D-2139-51E7E2C2E39B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4740561" y="3287908"/>
            <a:ext cx="383253" cy="148019"/>
          </a:xfrm>
          <a:prstGeom prst="rect">
            <a:avLst/>
          </a:prstGeom>
          <a:noFill/>
          <a:ln w="6350">
            <a:noFill/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 marL="0" indent="4763">
              <a:lnSpc>
                <a:spcPct val="100000"/>
              </a:lnSpc>
              <a:buNone/>
            </a:pPr>
            <a:r>
              <a:rPr lang="en-US" sz="600" i="1" noProof="0" dirty="0"/>
              <a:t>in EURm</a:t>
            </a:r>
            <a:endParaRPr lang="en-US" sz="800" i="1" noProof="0" dirty="0"/>
          </a:p>
        </p:txBody>
      </p:sp>
      <p:graphicFrame>
        <p:nvGraphicFramePr>
          <p:cNvPr id="1037" name="Chart 1036">
            <a:extLst>
              <a:ext uri="{FF2B5EF4-FFF2-40B4-BE49-F238E27FC236}">
                <a16:creationId xmlns:a16="http://schemas.microsoft.com/office/drawing/2014/main" id="{98F6FB38-70A5-C80B-0319-5B088CF0DFD5}"/>
              </a:ext>
            </a:extLst>
          </p:cNvPr>
          <p:cNvGraphicFramePr/>
          <p:nvPr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3264142829"/>
              </p:ext>
            </p:extLst>
          </p:nvPr>
        </p:nvGraphicFramePr>
        <p:xfrm>
          <a:off x="4903788" y="3714750"/>
          <a:ext cx="2122487" cy="5445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0"/>
          </a:graphicData>
        </a:graphic>
      </p:graphicFrame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2D8A7E70-62C1-CBBA-BD22-0D99937871B0}"/>
              </a:ext>
            </a:extLst>
          </p:cNvPr>
          <p:cNvCxnSpPr>
            <a:cxnSpLocks/>
          </p:cNvCxnSpPr>
          <p:nvPr>
            <p:custDataLst>
              <p:tags r:id="rId28"/>
            </p:custDataLst>
          </p:nvPr>
        </p:nvCxnSpPr>
        <p:spPr bwMode="auto">
          <a:xfrm flipV="1">
            <a:off x="5111750" y="3538539"/>
            <a:ext cx="782638" cy="20161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4" name="Straight Connector 1063">
            <a:extLst>
              <a:ext uri="{FF2B5EF4-FFF2-40B4-BE49-F238E27FC236}">
                <a16:creationId xmlns:a16="http://schemas.microsoft.com/office/drawing/2014/main" id="{EF6E942B-C2D1-97DE-454F-5D4FB9A27C14}"/>
              </a:ext>
            </a:extLst>
          </p:cNvPr>
          <p:cNvCxnSpPr>
            <a:cxnSpLocks/>
          </p:cNvCxnSpPr>
          <p:nvPr>
            <p:custDataLst>
              <p:tags r:id="rId29"/>
            </p:custDataLst>
          </p:nvPr>
        </p:nvCxnSpPr>
        <p:spPr bwMode="auto">
          <a:xfrm flipV="1">
            <a:off x="5894388" y="3394076"/>
            <a:ext cx="782638" cy="14446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7" name="Rectangle 196">
            <a:extLst>
              <a:ext uri="{FF2B5EF4-FFF2-40B4-BE49-F238E27FC236}">
                <a16:creationId xmlns:a16="http://schemas.microsoft.com/office/drawing/2014/main" id="{80D768F6-80E9-4103-032A-4C9E6BEF91D6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5053013" y="4117975"/>
            <a:ext cx="117475" cy="82550"/>
          </a:xfrm>
          <a:prstGeom prst="rect">
            <a:avLst/>
          </a:prstGeom>
          <a:solidFill>
            <a:schemeClr val="tx2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CDAB8F20-B409-4142-A90B-61395C569A32}" type="datetime'''1.''''''''''''''3'''''''''''''''''''''''''''''''''''''">
              <a:rPr lang="en-US" altLang="en-US" sz="600" smtClean="0">
                <a:solidFill>
                  <a:schemeClr val="bg1"/>
                </a:solidFill>
              </a:rPr>
              <a:pPr/>
              <a:t>1.3</a:t>
            </a:fld>
            <a:endParaRPr lang="en-US" sz="600" noProof="0" dirty="0">
              <a:solidFill>
                <a:schemeClr val="bg1"/>
              </a:solidFill>
            </a:endParaRPr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F2EFF95-1B08-CF6C-D13E-A856D8602C8B}"/>
              </a:ext>
            </a:extLst>
          </p:cNvPr>
          <p:cNvSpPr/>
          <p:nvPr>
            <p:custDataLst>
              <p:tags r:id="rId31"/>
            </p:custDataLst>
          </p:nvPr>
        </p:nvSpPr>
        <p:spPr bwMode="gray">
          <a:xfrm>
            <a:off x="5194300" y="4132263"/>
            <a:ext cx="117475" cy="8255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C8DA675D-17D0-41A0-AEF1-D4CF4A963451}" type="datetime'''''0''''''''''''''''''''''''.''2'''''''''''''''''''''''''''''">
              <a:rPr lang="en-US" altLang="en-US" sz="600" smtClean="0">
                <a:solidFill>
                  <a:schemeClr val="tx1"/>
                </a:solidFill>
                <a:effectLst/>
              </a:rPr>
              <a:pPr/>
              <a:t>0.2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5C2BF388-8486-4F23-081F-E5348C25C876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5076825" y="3860800"/>
            <a:ext cx="209550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7EF7ED6B-F907-4F99-ADE6-E4832BCA56F2}" type="datetime'''''''''''''''''''''''''''''''1''''''9''''.''0''''%'''''''''">
              <a:rPr lang="en-US" altLang="en-US" sz="600" smtClean="0">
                <a:solidFill>
                  <a:schemeClr val="tx1"/>
                </a:solidFill>
              </a:rPr>
              <a:pPr/>
              <a:t>19.0%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757E82E1-3F05-0AFA-F3DE-1EB07CDE360E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5114925" y="4240213"/>
            <a:ext cx="134938" cy="92075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81A965E2-5001-4B23-BEEB-23E2A0B32E80}" type="datetime'''''''''''''''''''''''''''''''''2''''3''''''''''A'''">
              <a:rPr lang="en-US" altLang="en-US" sz="600" b="1" smtClean="0">
                <a:solidFill>
                  <a:schemeClr val="tx1"/>
                </a:solidFill>
              </a:rPr>
              <a:pPr/>
              <a:t>23A</a:t>
            </a:fld>
            <a:endParaRPr lang="en-US" sz="600" b="1" noProof="0" dirty="0">
              <a:solidFill>
                <a:schemeClr val="tx1"/>
              </a:solidFill>
            </a:endParaRPr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8D8434AD-5517-6236-5AD4-E2A10713862C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5445125" y="4067175"/>
            <a:ext cx="117475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99FF11D-E36A-494E-89FD-3ACFB2E68A9D}" type="datetime'''''''''''''''''''''''''''''''5''''.''''''''''''''''''3'">
              <a:rPr lang="en-US" altLang="en-US" sz="600" smtClean="0">
                <a:solidFill>
                  <a:schemeClr val="bg1"/>
                </a:solidFill>
              </a:rPr>
              <a:pPr/>
              <a:t>5.3</a:t>
            </a:fld>
            <a:endParaRPr lang="en-US" sz="600" noProof="0" dirty="0">
              <a:solidFill>
                <a:schemeClr val="bg1"/>
              </a:solidFill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255E56A-A789-98EF-EE09-A06851E4E301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5584825" y="4116388"/>
            <a:ext cx="117475" cy="8255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B66EC93-7047-4E2E-AF89-A4BE2646C6B8}" type="datetime'1''''''''''''''''''''''''''''''.5'''''''''">
              <a:rPr lang="en-US" altLang="en-US" sz="600" smtClean="0">
                <a:solidFill>
                  <a:schemeClr val="tx1"/>
                </a:solidFill>
                <a:effectLst/>
              </a:rPr>
              <a:pPr/>
              <a:t>1.5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6539C4C7-187A-5D2B-BDA9-F9DF49BF7241}"/>
              </a:ext>
            </a:extLst>
          </p:cNvPr>
          <p:cNvSpPr/>
          <p:nvPr>
            <p:custDataLst>
              <p:tags r:id="rId36"/>
            </p:custDataLst>
          </p:nvPr>
        </p:nvSpPr>
        <p:spPr bwMode="gray">
          <a:xfrm>
            <a:off x="5468938" y="3806825"/>
            <a:ext cx="209550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0422D26-A57C-4C51-9165-B5C619CF6BBE}" type="datetime'''''''''''''27''''''''''''.''''''''''''''''''7''''''''%'''''''">
              <a:rPr lang="en-US" altLang="en-US" sz="600" smtClean="0">
                <a:solidFill>
                  <a:schemeClr val="tx1"/>
                </a:solidFill>
              </a:rPr>
              <a:pPr/>
              <a:t>27.7%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FE9F60AB-4710-73B2-A2E4-9C7B2224C6DD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5507038" y="4240213"/>
            <a:ext cx="134938" cy="92075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B7214FB-3E8A-4399-9B23-428185624CB6}" type="datetime'2''''''''''''''''''4''''''''''''''''''''''''''''A'''''">
              <a:rPr lang="en-US" altLang="en-US" sz="600" b="1" smtClean="0">
                <a:solidFill>
                  <a:schemeClr val="tx1"/>
                </a:solidFill>
              </a:rPr>
              <a:pPr/>
              <a:t>24A</a:t>
            </a:fld>
            <a:endParaRPr lang="en-US" sz="600" b="1" noProof="0" dirty="0">
              <a:solidFill>
                <a:schemeClr val="tx1"/>
              </a:solidFill>
            </a:endParaRPr>
          </a:p>
        </p:txBody>
      </p:sp>
      <p:sp>
        <p:nvSpPr>
          <p:cNvPr id="232" name="Rectangle 1051">
            <a:extLst>
              <a:ext uri="{FF2B5EF4-FFF2-40B4-BE49-F238E27FC236}">
                <a16:creationId xmlns:a16="http://schemas.microsoft.com/office/drawing/2014/main" id="{90C79383-4EA2-FD17-8A83-0ACE70657E86}"/>
              </a:ext>
            </a:extLst>
          </p:cNvPr>
          <p:cNvSpPr/>
          <p:nvPr>
            <p:custDataLst>
              <p:tags r:id="rId38"/>
            </p:custDataLst>
          </p:nvPr>
        </p:nvSpPr>
        <p:spPr bwMode="gray">
          <a:xfrm>
            <a:off x="5835650" y="4017963"/>
            <a:ext cx="117475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07125FC-E357-477A-BE16-6E9AC20E3965}" type="datetime'''''''''''''''''''''9''''''''''''.0'''''''''''''''''''''''''">
              <a:rPr lang="en-US" altLang="en-US" sz="600" smtClean="0">
                <a:solidFill>
                  <a:schemeClr val="bg1"/>
                </a:solidFill>
              </a:rPr>
              <a:pPr/>
              <a:t>9.0</a:t>
            </a:fld>
            <a:endParaRPr lang="en-US" sz="600" noProof="0" dirty="0">
              <a:solidFill>
                <a:schemeClr val="bg1"/>
              </a:solidFill>
            </a:endParaRPr>
          </a:p>
        </p:txBody>
      </p:sp>
      <p:sp>
        <p:nvSpPr>
          <p:cNvPr id="220" name="Rectangle 86">
            <a:extLst>
              <a:ext uri="{FF2B5EF4-FFF2-40B4-BE49-F238E27FC236}">
                <a16:creationId xmlns:a16="http://schemas.microsoft.com/office/drawing/2014/main" id="{01FB0DA1-B9A3-034B-7A93-C47F8D78562C}"/>
              </a:ext>
            </a:extLst>
          </p:cNvPr>
          <p:cNvSpPr/>
          <p:nvPr>
            <p:custDataLst>
              <p:tags r:id="rId39"/>
            </p:custDataLst>
          </p:nvPr>
        </p:nvSpPr>
        <p:spPr bwMode="gray">
          <a:xfrm>
            <a:off x="5976938" y="4100513"/>
            <a:ext cx="117475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BB2813FD-A687-402F-8F2B-F3293A4EFC7F}" type="datetime'''''''''''''2''''''''''''''''''''''.6'''''''">
              <a:rPr lang="en-US" altLang="en-US" sz="600" smtClean="0">
                <a:solidFill>
                  <a:schemeClr val="tx1"/>
                </a:solidFill>
              </a:rPr>
              <a:pPr/>
              <a:t>2.6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236" name="Rectangle 1052">
            <a:extLst>
              <a:ext uri="{FF2B5EF4-FFF2-40B4-BE49-F238E27FC236}">
                <a16:creationId xmlns:a16="http://schemas.microsoft.com/office/drawing/2014/main" id="{83301449-B19E-A3FC-14A7-8B756705273F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5859463" y="3797300"/>
            <a:ext cx="209550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29F3023C-4558-410E-AD91-568D2AAC482B}" type="datetime'''''''''''2''9''''''.''2''''''''''''''''''''''''''''''''''%'">
              <a:rPr lang="en-US" altLang="en-US" sz="600" smtClean="0">
                <a:solidFill>
                  <a:schemeClr val="tx1"/>
                </a:solidFill>
              </a:rPr>
              <a:pPr/>
              <a:t>29.2%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214" name="Rectangle 141">
            <a:extLst>
              <a:ext uri="{FF2B5EF4-FFF2-40B4-BE49-F238E27FC236}">
                <a16:creationId xmlns:a16="http://schemas.microsoft.com/office/drawing/2014/main" id="{3C02A381-553A-D50D-AD86-151E515770D4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5899150" y="4240213"/>
            <a:ext cx="130175" cy="92075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12B665B-3F10-46BD-BE6B-305BB87AC03E}" type="datetime'''''''''''''''''''''''''''''25''''P'''''''''''''''''''''''''">
              <a:rPr lang="en-US" altLang="en-US" sz="600" b="1" smtClean="0">
                <a:solidFill>
                  <a:schemeClr val="tx1"/>
                </a:solidFill>
              </a:rPr>
              <a:pPr/>
              <a:t>25P</a:t>
            </a:fld>
            <a:endParaRPr lang="en-US" sz="600" b="1" noProof="0" dirty="0">
              <a:solidFill>
                <a:schemeClr val="tx1"/>
              </a:solidFill>
            </a:endParaRPr>
          </a:p>
        </p:txBody>
      </p:sp>
      <p:sp>
        <p:nvSpPr>
          <p:cNvPr id="1027" name="Rectangle 1051">
            <a:extLst>
              <a:ext uri="{FF2B5EF4-FFF2-40B4-BE49-F238E27FC236}">
                <a16:creationId xmlns:a16="http://schemas.microsoft.com/office/drawing/2014/main" id="{C54C325B-79F6-F98C-ACDB-5E3A1DED43B5}"/>
              </a:ext>
            </a:extLst>
          </p:cNvPr>
          <p:cNvSpPr/>
          <p:nvPr>
            <p:custDataLst>
              <p:tags r:id="rId42"/>
            </p:custDataLst>
          </p:nvPr>
        </p:nvSpPr>
        <p:spPr bwMode="gray">
          <a:xfrm>
            <a:off x="6208713" y="3983038"/>
            <a:ext cx="155575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556F46F-C467-406B-AC88-512F29EDAD69}" type="datetime'''''''''''''''''''''1''''''1.''''''''7'''''''''''''''''''''''">
              <a:rPr lang="en-US" altLang="en-US" sz="600" smtClean="0">
                <a:solidFill>
                  <a:schemeClr val="bg1"/>
                </a:solidFill>
              </a:rPr>
              <a:pPr/>
              <a:t>11.7</a:t>
            </a:fld>
            <a:endParaRPr lang="en-US" sz="600" noProof="0" dirty="0">
              <a:solidFill>
                <a:schemeClr val="bg1"/>
              </a:solidFill>
            </a:endParaRPr>
          </a:p>
        </p:txBody>
      </p:sp>
      <p:sp>
        <p:nvSpPr>
          <p:cNvPr id="1043" name="Rectangle 86">
            <a:extLst>
              <a:ext uri="{FF2B5EF4-FFF2-40B4-BE49-F238E27FC236}">
                <a16:creationId xmlns:a16="http://schemas.microsoft.com/office/drawing/2014/main" id="{CEC78618-1899-F13C-782B-451A83BC1559}"/>
              </a:ext>
            </a:extLst>
          </p:cNvPr>
          <p:cNvSpPr/>
          <p:nvPr>
            <p:custDataLst>
              <p:tags r:id="rId43"/>
            </p:custDataLst>
          </p:nvPr>
        </p:nvSpPr>
        <p:spPr bwMode="gray">
          <a:xfrm>
            <a:off x="6367463" y="4089400"/>
            <a:ext cx="117475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26E4D438-33EF-44DA-AB97-AFA4233D2AE9}" type="datetime'''''''''''''''''3''''''''''''''''''''.''''''''''5'''''''">
              <a:rPr lang="en-US" altLang="en-US" sz="600" smtClean="0">
                <a:solidFill>
                  <a:schemeClr val="tx1"/>
                </a:solidFill>
              </a:rPr>
              <a:pPr/>
              <a:t>3.5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1055" name="Rectangle 1052">
            <a:extLst>
              <a:ext uri="{FF2B5EF4-FFF2-40B4-BE49-F238E27FC236}">
                <a16:creationId xmlns:a16="http://schemas.microsoft.com/office/drawing/2014/main" id="{80EA342F-49F2-1F58-5939-0F9B8A6943F2}"/>
              </a:ext>
            </a:extLst>
          </p:cNvPr>
          <p:cNvSpPr/>
          <p:nvPr>
            <p:custDataLst>
              <p:tags r:id="rId44"/>
            </p:custDataLst>
          </p:nvPr>
        </p:nvSpPr>
        <p:spPr bwMode="gray">
          <a:xfrm>
            <a:off x="6251575" y="3789363"/>
            <a:ext cx="209550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BECA729C-A25D-4C70-9C89-AF841A48D4E4}" type="datetime'''''3''''''''''0''''''''''''.''''''''''''''3''''''''''%'''''">
              <a:rPr lang="en-US" altLang="en-US" sz="600" smtClean="0">
                <a:solidFill>
                  <a:schemeClr val="tx1"/>
                </a:solidFill>
              </a:rPr>
              <a:pPr/>
              <a:t>30.3%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157" name="Rectangle 141">
            <a:extLst>
              <a:ext uri="{FF2B5EF4-FFF2-40B4-BE49-F238E27FC236}">
                <a16:creationId xmlns:a16="http://schemas.microsoft.com/office/drawing/2014/main" id="{2BE3BCFB-F916-D228-63E5-E99F018F0839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6291263" y="4240213"/>
            <a:ext cx="130175" cy="92075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871DB624-9562-4DE7-8A2E-E1198DC6F99C}" type="datetime'''''''''''''''2''''''''''6''''P'''''''''">
              <a:rPr lang="en-US" altLang="en-US" sz="600" b="1" smtClean="0">
                <a:solidFill>
                  <a:schemeClr val="tx1"/>
                </a:solidFill>
              </a:rPr>
              <a:pPr/>
              <a:t>26P</a:t>
            </a:fld>
            <a:endParaRPr lang="en-US" sz="600" b="1" noProof="0" dirty="0">
              <a:solidFill>
                <a:schemeClr val="tx1"/>
              </a:solidFill>
            </a:endParaRPr>
          </a:p>
        </p:txBody>
      </p:sp>
      <p:sp>
        <p:nvSpPr>
          <p:cNvPr id="1031" name="Rectangle 1051">
            <a:extLst>
              <a:ext uri="{FF2B5EF4-FFF2-40B4-BE49-F238E27FC236}">
                <a16:creationId xmlns:a16="http://schemas.microsoft.com/office/drawing/2014/main" id="{F40CCF85-57DE-E2A8-223D-5070EDE31157}"/>
              </a:ext>
            </a:extLst>
          </p:cNvPr>
          <p:cNvSpPr/>
          <p:nvPr>
            <p:custDataLst>
              <p:tags r:id="rId46"/>
            </p:custDataLst>
          </p:nvPr>
        </p:nvSpPr>
        <p:spPr bwMode="gray">
          <a:xfrm>
            <a:off x="6599238" y="3944938"/>
            <a:ext cx="155575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B88EAEE-D795-4C00-99EA-C55899E886D0}" type="datetime'''''''''''''''''''''1''''''''''''''''''''4.''''''''6'">
              <a:rPr lang="en-US" altLang="en-US" sz="600" smtClean="0">
                <a:solidFill>
                  <a:schemeClr val="bg1"/>
                </a:solidFill>
              </a:rPr>
              <a:pPr/>
              <a:t>14.6</a:t>
            </a:fld>
            <a:endParaRPr lang="en-US" sz="600" noProof="0" dirty="0">
              <a:solidFill>
                <a:schemeClr val="bg1"/>
              </a:solidFill>
            </a:endParaRPr>
          </a:p>
        </p:txBody>
      </p:sp>
      <p:sp>
        <p:nvSpPr>
          <p:cNvPr id="1046" name="Rectangle 86">
            <a:extLst>
              <a:ext uri="{FF2B5EF4-FFF2-40B4-BE49-F238E27FC236}">
                <a16:creationId xmlns:a16="http://schemas.microsoft.com/office/drawing/2014/main" id="{16B46411-0DA3-5E31-9A7D-64E6BCA889F6}"/>
              </a:ext>
            </a:extLst>
          </p:cNvPr>
          <p:cNvSpPr/>
          <p:nvPr>
            <p:custDataLst>
              <p:tags r:id="rId47"/>
            </p:custDataLst>
          </p:nvPr>
        </p:nvSpPr>
        <p:spPr bwMode="gray">
          <a:xfrm>
            <a:off x="6759575" y="4078288"/>
            <a:ext cx="117475" cy="82550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2E9A624-7FBD-4A04-8AE4-0112FB39CBA8}" type="datetime'''''''''''''''''''''''''''''''''''''''''''4''.''''''''''''4'">
              <a:rPr lang="en-US" altLang="en-US" sz="600" smtClean="0">
                <a:solidFill>
                  <a:schemeClr val="tx1"/>
                </a:solidFill>
              </a:rPr>
              <a:pPr/>
              <a:t>4.4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 useBgFill="1">
        <p:nvSpPr>
          <p:cNvPr id="1056" name="Rectangle 1052">
            <a:extLst>
              <a:ext uri="{FF2B5EF4-FFF2-40B4-BE49-F238E27FC236}">
                <a16:creationId xmlns:a16="http://schemas.microsoft.com/office/drawing/2014/main" id="{D10FF993-FEAA-65E1-7799-E0B14DCFE8B3}"/>
              </a:ext>
            </a:extLst>
          </p:cNvPr>
          <p:cNvSpPr/>
          <p:nvPr>
            <p:custDataLst>
              <p:tags r:id="rId48"/>
            </p:custDataLst>
          </p:nvPr>
        </p:nvSpPr>
        <p:spPr bwMode="gray">
          <a:xfrm>
            <a:off x="6642100" y="3789363"/>
            <a:ext cx="209550" cy="82550"/>
          </a:xfrm>
          <a:prstGeom prst="rect">
            <a:avLst/>
          </a:prstGeom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E044B81-91BA-4709-A3C7-1F6E190FDB88}" type="datetime'3''''''''''''''''''''0''.''''''''''''''''''''''''3''%'''">
              <a:rPr lang="en-US" altLang="en-US" sz="600" smtClean="0">
                <a:solidFill>
                  <a:schemeClr val="tx1"/>
                </a:solidFill>
                <a:effectLst/>
              </a:rPr>
              <a:pPr/>
              <a:t>30.3%</a:t>
            </a:fld>
            <a:endParaRPr lang="en-US" sz="600" noProof="0" dirty="0">
              <a:solidFill>
                <a:schemeClr val="tx1"/>
              </a:solidFill>
            </a:endParaRPr>
          </a:p>
        </p:txBody>
      </p:sp>
      <p:sp>
        <p:nvSpPr>
          <p:cNvPr id="161" name="Rectangle 141">
            <a:extLst>
              <a:ext uri="{FF2B5EF4-FFF2-40B4-BE49-F238E27FC236}">
                <a16:creationId xmlns:a16="http://schemas.microsoft.com/office/drawing/2014/main" id="{FF5AB783-0E96-541F-BF3A-9B3FE30485AB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6681788" y="4240213"/>
            <a:ext cx="130175" cy="92075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127AA4E0-81D3-4965-A9C7-7DC5AC41AB54}" type="datetime'''''''2''''7''''P'">
              <a:rPr lang="en-US" altLang="en-US" sz="600" b="1" smtClean="0">
                <a:solidFill>
                  <a:schemeClr val="tx1"/>
                </a:solidFill>
              </a:rPr>
              <a:pPr/>
              <a:t>27P</a:t>
            </a:fld>
            <a:endParaRPr lang="en-US" sz="600" b="1" noProof="0" dirty="0">
              <a:solidFill>
                <a:schemeClr val="tx1"/>
              </a:solidFill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67EBDC3C-6638-9C49-75A0-0D422E9BD8F5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5313363" y="3573463"/>
            <a:ext cx="377825" cy="131763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BFC2DE5F-F21D-43E9-9973-902603CE7F85}" type="datetime'''''''''''+''''''''''''''1''''6''''''''''3.''''''''3''%'''">
              <a:rPr lang="en-US" altLang="en-US" sz="600" b="1" smtClean="0">
                <a:solidFill>
                  <a:schemeClr val="tx1"/>
                </a:solidFill>
                <a:effectLst/>
              </a:rPr>
              <a:pPr/>
              <a:t>+163.3%</a:t>
            </a:fld>
            <a:endParaRPr lang="en-US" sz="600" b="1" dirty="0">
              <a:solidFill>
                <a:schemeClr val="tx1"/>
              </a:solidFill>
            </a:endParaRPr>
          </a:p>
        </p:txBody>
      </p:sp>
      <p:sp>
        <p:nvSpPr>
          <p:cNvPr id="1062" name="Oval 1061">
            <a:extLst>
              <a:ext uri="{FF2B5EF4-FFF2-40B4-BE49-F238E27FC236}">
                <a16:creationId xmlns:a16="http://schemas.microsoft.com/office/drawing/2014/main" id="{8C2930E6-11E0-77EB-A7BC-398E66ADAFCA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6122988" y="3400425"/>
            <a:ext cx="323850" cy="131763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20D19679-D054-47B2-9719-4DEEA5521553}" type="datetime'''''''+''''''2''''''''''''''''''7''''.2''''''''''''%'''">
              <a:rPr lang="en-US" altLang="en-US" sz="600" b="1" smtClean="0">
                <a:solidFill>
                  <a:schemeClr val="tx1"/>
                </a:solidFill>
                <a:effectLst/>
              </a:rPr>
              <a:pPr/>
              <a:t>+27.2%</a:t>
            </a:fld>
            <a:endParaRPr lang="en-US" sz="600" b="1" dirty="0">
              <a:solidFill>
                <a:schemeClr val="tx1"/>
              </a:solidFill>
            </a:endParaRPr>
          </a:p>
        </p:txBody>
      </p:sp>
      <p:cxnSp>
        <p:nvCxnSpPr>
          <p:cNvPr id="20" name="Gerader Verbinder 12">
            <a:extLst>
              <a:ext uri="{FF2B5EF4-FFF2-40B4-BE49-F238E27FC236}">
                <a16:creationId xmlns:a16="http://schemas.microsoft.com/office/drawing/2014/main" id="{1046D077-C1A5-4B21-0220-A86CAEE39F5C}"/>
              </a:ext>
            </a:extLst>
          </p:cNvPr>
          <p:cNvCxnSpPr>
            <a:cxnSpLocks/>
          </p:cNvCxnSpPr>
          <p:nvPr/>
        </p:nvCxnSpPr>
        <p:spPr bwMode="auto">
          <a:xfrm>
            <a:off x="2241699" y="3302769"/>
            <a:ext cx="2209205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10B19D0-133D-07E9-DC98-F7C5D992F636}"/>
              </a:ext>
            </a:extLst>
          </p:cNvPr>
          <p:cNvSpPr txBox="1"/>
          <p:nvPr/>
        </p:nvSpPr>
        <p:spPr>
          <a:xfrm>
            <a:off x="2241698" y="3095392"/>
            <a:ext cx="220920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100" b="1" noProof="0" dirty="0">
                <a:solidFill>
                  <a:schemeClr val="tx2"/>
                </a:solidFill>
              </a:rPr>
              <a:t>Customer Structure &amp; Competition</a:t>
            </a:r>
          </a:p>
        </p:txBody>
      </p:sp>
      <p:sp>
        <p:nvSpPr>
          <p:cNvPr id="19" name="Rechteck 5">
            <a:extLst>
              <a:ext uri="{FF2B5EF4-FFF2-40B4-BE49-F238E27FC236}">
                <a16:creationId xmlns:a16="http://schemas.microsoft.com/office/drawing/2014/main" id="{266B839B-F9E2-E28C-4C4D-B698EF2F695C}"/>
              </a:ext>
            </a:extLst>
          </p:cNvPr>
          <p:cNvSpPr/>
          <p:nvPr>
            <p:custDataLst>
              <p:tags r:id="rId52"/>
            </p:custDataLst>
          </p:nvPr>
        </p:nvSpPr>
        <p:spPr>
          <a:xfrm>
            <a:off x="2190361" y="3058088"/>
            <a:ext cx="2346736" cy="1591817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  <a:effectLst>
            <a:outerShdw algn="tl" rotWithShape="0">
              <a:prstClr val="black"/>
            </a:outerShdw>
          </a:effectLst>
        </p:spPr>
        <p:txBody>
          <a:bodyPr rot="0" spcFirstLastPara="0" vertOverflow="overflow" horzOverflow="overflow" vert="horz" wrap="square" lIns="36000" tIns="36000" rIns="108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1pPr>
            <a:lvl2pPr marL="185738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2pPr>
            <a:lvl3pPr marL="53816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3pPr>
            <a:lvl4pPr marL="900113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4pPr>
            <a:lvl5pPr marL="1254125" indent="-180975" algn="l" rtl="0" eaLnBrk="1" fontAlgn="base" hangingPunct="1">
              <a:buClr>
                <a:schemeClr val="tx1"/>
              </a:buClr>
              <a:buFont typeface="Calibri" panose="020F0502020204030204" pitchFamily="34" charset="0"/>
              <a:buChar char="–"/>
            </a:lvl5pPr>
            <a:lvl6pPr marL="14890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6pPr>
            <a:lvl7pPr marL="19462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7pPr>
            <a:lvl8pPr marL="24034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8pPr>
            <a:lvl9pPr marL="2860675" indent="-176213" algn="l" rtl="0" eaLnBrk="1" fontAlgn="base" hangingPunct="1">
              <a:buClr>
                <a:schemeClr val="tx1"/>
              </a:buClr>
              <a:buFont typeface="Verdana" pitchFamily="34" charset="0"/>
              <a:buChar char="-"/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900" i="1" noProof="0" dirty="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900" i="1" noProof="0" dirty="0"/>
          </a:p>
          <a:p>
            <a:pPr marL="4762" indent="0" algn="just" fontAlgn="base">
              <a:spcAft>
                <a:spcPts val="600"/>
              </a:spcAft>
              <a:buClr>
                <a:schemeClr val="tx2"/>
              </a:buClr>
              <a:buNone/>
            </a:pPr>
            <a:endParaRPr lang="en-US" sz="800" noProof="0" dirty="0"/>
          </a:p>
          <a:p>
            <a:pPr marL="88900" indent="-84138" algn="just" fontAlgn="base"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Char char="§"/>
            </a:pPr>
            <a:endParaRPr lang="en-US" sz="800" noProof="0" dirty="0"/>
          </a:p>
        </p:txBody>
      </p:sp>
      <p:sp>
        <p:nvSpPr>
          <p:cNvPr id="98" name="AutoShape 12" descr="MAD Handels GmbH">
            <a:extLst>
              <a:ext uri="{FF2B5EF4-FFF2-40B4-BE49-F238E27FC236}">
                <a16:creationId xmlns:a16="http://schemas.microsoft.com/office/drawing/2014/main" id="{6C3E14BE-D085-4AA8-8989-298A706F46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noProof="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F58C01D-F91B-6590-BAF1-8289434CC87C}"/>
              </a:ext>
            </a:extLst>
          </p:cNvPr>
          <p:cNvSpPr txBox="1"/>
          <p:nvPr/>
        </p:nvSpPr>
        <p:spPr>
          <a:xfrm>
            <a:off x="2210998" y="3315885"/>
            <a:ext cx="2346736" cy="707886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85725" indent="-85725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The company serves a primarily Amazon-based DACH customer base within a fragmented bedding market characterized by a mix of low-, mid-, and premium-priced competitors</a:t>
            </a:r>
          </a:p>
          <a:p>
            <a:pPr marL="85725" indent="-85725"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sz="800" dirty="0"/>
              <a:t>Revenue Split by Sales Channel:</a:t>
            </a:r>
          </a:p>
        </p:txBody>
      </p:sp>
      <p:graphicFrame>
        <p:nvGraphicFramePr>
          <p:cNvPr id="144" name="Chart 143">
            <a:extLst>
              <a:ext uri="{FF2B5EF4-FFF2-40B4-BE49-F238E27FC236}">
                <a16:creationId xmlns:a16="http://schemas.microsoft.com/office/drawing/2014/main" id="{6B964BFA-CB5C-0253-5358-142D5B90E00A}"/>
              </a:ext>
            </a:extLst>
          </p:cNvPr>
          <p:cNvGraphicFramePr/>
          <p:nvPr>
            <p:custDataLst>
              <p:tags r:id="rId53"/>
            </p:custDataLst>
            <p:extLst>
              <p:ext uri="{D42A27DB-BD31-4B8C-83A1-F6EECF244321}">
                <p14:modId xmlns:p14="http://schemas.microsoft.com/office/powerpoint/2010/main" val="4269202108"/>
              </p:ext>
            </p:extLst>
          </p:nvPr>
        </p:nvGraphicFramePr>
        <p:xfrm>
          <a:off x="4502150" y="2106613"/>
          <a:ext cx="1554163" cy="111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1"/>
          </a:graphicData>
        </a:graphic>
      </p:graphicFrame>
      <p:graphicFrame>
        <p:nvGraphicFramePr>
          <p:cNvPr id="56" name="Chart 55">
            <a:extLst>
              <a:ext uri="{FF2B5EF4-FFF2-40B4-BE49-F238E27FC236}">
                <a16:creationId xmlns:a16="http://schemas.microsoft.com/office/drawing/2014/main" id="{9F712373-9FA1-EA9D-928F-25ECA6EF5BC7}"/>
              </a:ext>
            </a:extLst>
          </p:cNvPr>
          <p:cNvGraphicFramePr/>
          <p:nvPr>
            <p:custDataLst>
              <p:tags r:id="rId54"/>
            </p:custDataLst>
            <p:extLst>
              <p:ext uri="{D42A27DB-BD31-4B8C-83A1-F6EECF244321}">
                <p14:modId xmlns:p14="http://schemas.microsoft.com/office/powerpoint/2010/main" val="1316268189"/>
              </p:ext>
            </p:extLst>
          </p:nvPr>
        </p:nvGraphicFramePr>
        <p:xfrm>
          <a:off x="2519363" y="3754438"/>
          <a:ext cx="1554162" cy="1095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2"/>
          </a:graphicData>
        </a:graphic>
      </p:graphicFrame>
      <p:sp>
        <p:nvSpPr>
          <p:cNvPr id="34" name="Rectangle 33">
            <a:extLst>
              <a:ext uri="{FF2B5EF4-FFF2-40B4-BE49-F238E27FC236}">
                <a16:creationId xmlns:a16="http://schemas.microsoft.com/office/drawing/2014/main" id="{D4721120-F674-F9E7-376A-F3AB98501077}"/>
              </a:ext>
            </a:extLst>
          </p:cNvPr>
          <p:cNvSpPr/>
          <p:nvPr>
            <p:custDataLst>
              <p:tags r:id="rId55"/>
            </p:custDataLst>
          </p:nvPr>
        </p:nvSpPr>
        <p:spPr bwMode="gray">
          <a:xfrm>
            <a:off x="3198813" y="4006850"/>
            <a:ext cx="114300" cy="8255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1113" tIns="0" rIns="11113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701B0EC3-C00E-4B4B-9BFC-A6EF0EE007F4}" type="datetime'''''''''''''''''''''''''5''''''''''''''''''''''''''%'">
              <a:rPr lang="en-US" altLang="en-US" sz="600" smtClean="0">
                <a:solidFill>
                  <a:schemeClr val="tx1"/>
                </a:solidFill>
                <a:effectLst/>
              </a:rPr>
              <a:pPr/>
              <a:t>5%</a:t>
            </a:fld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FB45FD-BB15-966A-8ACC-83F3F38AD4C6}"/>
              </a:ext>
            </a:extLst>
          </p:cNvPr>
          <p:cNvSpPr/>
          <p:nvPr/>
        </p:nvSpPr>
        <p:spPr>
          <a:xfrm>
            <a:off x="4240055" y="4729519"/>
            <a:ext cx="108000" cy="72001"/>
          </a:xfrm>
          <a:prstGeom prst="rect">
            <a:avLst/>
          </a:prstGeom>
          <a:solidFill>
            <a:srgbClr val="223F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35" name="Rechteck 134">
            <a:extLst>
              <a:ext uri="{FF2B5EF4-FFF2-40B4-BE49-F238E27FC236}">
                <a16:creationId xmlns:a16="http://schemas.microsoft.com/office/drawing/2014/main" id="{BD4F0A61-BBF6-A96E-BA40-12B6B130F9DC}"/>
              </a:ext>
            </a:extLst>
          </p:cNvPr>
          <p:cNvSpPr/>
          <p:nvPr>
            <p:custDataLst>
              <p:tags r:id="rId56"/>
            </p:custDataLst>
          </p:nvPr>
        </p:nvSpPr>
        <p:spPr bwMode="auto">
          <a:xfrm>
            <a:off x="2379663" y="4197350"/>
            <a:ext cx="107950" cy="8096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41" name="Rechteck 140">
            <a:extLst>
              <a:ext uri="{FF2B5EF4-FFF2-40B4-BE49-F238E27FC236}">
                <a16:creationId xmlns:a16="http://schemas.microsoft.com/office/drawing/2014/main" id="{488B0266-99F0-EDEB-2D0A-C72F915F3F34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>
            <a:off x="2379663" y="4340225"/>
            <a:ext cx="107950" cy="8096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15" name="Rechteck 114">
            <a:extLst>
              <a:ext uri="{FF2B5EF4-FFF2-40B4-BE49-F238E27FC236}">
                <a16:creationId xmlns:a16="http://schemas.microsoft.com/office/drawing/2014/main" id="{14D395B3-4D37-6C07-59CD-41309612FA03}"/>
              </a:ext>
            </a:extLst>
          </p:cNvPr>
          <p:cNvSpPr/>
          <p:nvPr>
            <p:custDataLst>
              <p:tags r:id="rId58"/>
            </p:custDataLst>
          </p:nvPr>
        </p:nvSpPr>
        <p:spPr bwMode="auto">
          <a:xfrm>
            <a:off x="2538413" y="4194175"/>
            <a:ext cx="250825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1CE310EE-DADC-4E16-B159-0CC4DB244EDC}" type="datetime'''''A''''''''''''''''ma''''''''z''''o''''n'''''''">
              <a:rPr lang="en-US" altLang="en-US" sz="600" smtClean="0">
                <a:solidFill>
                  <a:schemeClr val="tx1"/>
                </a:solidFill>
              </a:rPr>
              <a:pPr/>
              <a:t>Amazon</a:t>
            </a:fld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117" name="Rechteck 116">
            <a:extLst>
              <a:ext uri="{FF2B5EF4-FFF2-40B4-BE49-F238E27FC236}">
                <a16:creationId xmlns:a16="http://schemas.microsoft.com/office/drawing/2014/main" id="{0A97C87D-9FC7-3F1D-CC2F-1276D3F3D6D0}"/>
              </a:ext>
            </a:extLst>
          </p:cNvPr>
          <p:cNvSpPr/>
          <p:nvPr>
            <p:custDataLst>
              <p:tags r:id="rId59"/>
            </p:custDataLst>
          </p:nvPr>
        </p:nvSpPr>
        <p:spPr bwMode="auto">
          <a:xfrm>
            <a:off x="2538413" y="4337050"/>
            <a:ext cx="180975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D2331613-FFAD-40FD-BEA9-0451CAAFD147}" type="datetime'''''''O''th''''''''''''''''e''''''''''''''''''''r'''''''''''">
              <a:rPr lang="en-US" altLang="en-US" sz="600" smtClean="0">
                <a:solidFill>
                  <a:schemeClr val="tx1"/>
                </a:solidFill>
              </a:rPr>
              <a:pPr/>
              <a:t>Other</a:t>
            </a:fld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188" name="Rechteck 187">
            <a:extLst>
              <a:ext uri="{FF2B5EF4-FFF2-40B4-BE49-F238E27FC236}">
                <a16:creationId xmlns:a16="http://schemas.microsoft.com/office/drawing/2014/main" id="{9D91253F-05E4-1530-45AC-920E28820761}"/>
              </a:ext>
            </a:extLst>
          </p:cNvPr>
          <p:cNvSpPr/>
          <p:nvPr>
            <p:custDataLst>
              <p:tags r:id="rId60"/>
            </p:custDataLst>
          </p:nvPr>
        </p:nvSpPr>
        <p:spPr bwMode="auto">
          <a:xfrm>
            <a:off x="5857875" y="2578100"/>
            <a:ext cx="107950" cy="8096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91" name="Rechteck 190">
            <a:extLst>
              <a:ext uri="{FF2B5EF4-FFF2-40B4-BE49-F238E27FC236}">
                <a16:creationId xmlns:a16="http://schemas.microsoft.com/office/drawing/2014/main" id="{D20367E5-69EA-0D9F-A225-E60A7E78AA1A}"/>
              </a:ext>
            </a:extLst>
          </p:cNvPr>
          <p:cNvSpPr/>
          <p:nvPr>
            <p:custDataLst>
              <p:tags r:id="rId61"/>
            </p:custDataLst>
          </p:nvPr>
        </p:nvSpPr>
        <p:spPr bwMode="auto">
          <a:xfrm>
            <a:off x="5857875" y="2720975"/>
            <a:ext cx="107950" cy="8096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5BF5BF9-6417-CAF2-3AC7-F75CF68E8BBA}"/>
              </a:ext>
            </a:extLst>
          </p:cNvPr>
          <p:cNvSpPr/>
          <p:nvPr>
            <p:custDataLst>
              <p:tags r:id="rId62"/>
            </p:custDataLst>
          </p:nvPr>
        </p:nvSpPr>
        <p:spPr bwMode="auto">
          <a:xfrm>
            <a:off x="5857875" y="2863850"/>
            <a:ext cx="107950" cy="80963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BEF2188C-1481-CA2A-3BDA-7BDE5021624B}"/>
              </a:ext>
            </a:extLst>
          </p:cNvPr>
          <p:cNvSpPr/>
          <p:nvPr>
            <p:custDataLst>
              <p:tags r:id="rId63"/>
            </p:custDataLst>
          </p:nvPr>
        </p:nvSpPr>
        <p:spPr bwMode="auto">
          <a:xfrm>
            <a:off x="6194425" y="2578100"/>
            <a:ext cx="107950" cy="80963"/>
          </a:xfrm>
          <a:prstGeom prst="rect">
            <a:avLst/>
          </a:prstGeom>
          <a:solidFill>
            <a:srgbClr val="C3CFE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FEA09F4E-A859-D59B-899C-2250A6E98F31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>
            <a:off x="6194425" y="2720975"/>
            <a:ext cx="107950" cy="80963"/>
          </a:xfrm>
          <a:prstGeom prst="rect">
            <a:avLst/>
          </a:prstGeom>
          <a:solidFill>
            <a:srgbClr val="80808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EFA2F22A-8546-2FD3-1635-372CF9AC5FD3}"/>
              </a:ext>
            </a:extLst>
          </p:cNvPr>
          <p:cNvSpPr/>
          <p:nvPr>
            <p:custDataLst>
              <p:tags r:id="rId65"/>
            </p:custDataLst>
          </p:nvPr>
        </p:nvSpPr>
        <p:spPr bwMode="auto">
          <a:xfrm>
            <a:off x="6194425" y="2863850"/>
            <a:ext cx="107950" cy="80963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82" name="Rechteck 181">
            <a:extLst>
              <a:ext uri="{FF2B5EF4-FFF2-40B4-BE49-F238E27FC236}">
                <a16:creationId xmlns:a16="http://schemas.microsoft.com/office/drawing/2014/main" id="{D38538D7-3F82-4091-ABFB-6B9E624DAE4C}"/>
              </a:ext>
            </a:extLst>
          </p:cNvPr>
          <p:cNvSpPr/>
          <p:nvPr>
            <p:custDataLst>
              <p:tags r:id="rId66"/>
            </p:custDataLst>
          </p:nvPr>
        </p:nvSpPr>
        <p:spPr bwMode="auto">
          <a:xfrm>
            <a:off x="6016625" y="2574925"/>
            <a:ext cx="76200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001803B2-FB4D-4457-8FE9-AA86DEF6058D}" type="datetime'''''#''1'''''''''''''''''''''''''''''">
              <a:rPr lang="en-US" altLang="en-US" sz="600" smtClean="0">
                <a:solidFill>
                  <a:schemeClr val="tx1"/>
                </a:solidFill>
              </a:rPr>
              <a:pPr/>
              <a:t>#1</a:t>
            </a:fld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185" name="Rechteck 184">
            <a:extLst>
              <a:ext uri="{FF2B5EF4-FFF2-40B4-BE49-F238E27FC236}">
                <a16:creationId xmlns:a16="http://schemas.microsoft.com/office/drawing/2014/main" id="{4D7D01E0-0FEF-8603-0B27-52625A1FE01D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6016625" y="2717800"/>
            <a:ext cx="76200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53D8929E-A52F-4A8E-AD45-9CCC0D59136F}" type="datetime'#''''''''''''''2'''''''''''''''''">
              <a:rPr lang="en-US" altLang="en-US" sz="600" smtClean="0">
                <a:solidFill>
                  <a:schemeClr val="tx1"/>
                </a:solidFill>
              </a:rPr>
              <a:pPr/>
              <a:t>#2</a:t>
            </a:fld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97" name="Rechteck 184">
            <a:extLst>
              <a:ext uri="{FF2B5EF4-FFF2-40B4-BE49-F238E27FC236}">
                <a16:creationId xmlns:a16="http://schemas.microsoft.com/office/drawing/2014/main" id="{F56D7B7A-84FF-D96C-C353-AEA33FD46FC6}"/>
              </a:ext>
            </a:extLst>
          </p:cNvPr>
          <p:cNvSpPr/>
          <p:nvPr>
            <p:custDataLst>
              <p:tags r:id="rId68"/>
            </p:custDataLst>
          </p:nvPr>
        </p:nvSpPr>
        <p:spPr bwMode="auto">
          <a:xfrm>
            <a:off x="6016625" y="2860675"/>
            <a:ext cx="76200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65172AF5-4E56-4EFE-B1BB-85A5F49F38D9}" type="datetime'''''''''''''#''''''''''''''''''''''''''''3'''''''''''''''">
              <a:rPr lang="en-US" altLang="en-US" sz="600" smtClean="0">
                <a:solidFill>
                  <a:schemeClr val="tx1"/>
                </a:solidFill>
              </a:rPr>
              <a:pPr/>
              <a:t>#3</a:t>
            </a:fld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104" name="Rechteck 184">
            <a:extLst>
              <a:ext uri="{FF2B5EF4-FFF2-40B4-BE49-F238E27FC236}">
                <a16:creationId xmlns:a16="http://schemas.microsoft.com/office/drawing/2014/main" id="{F018E12C-D31C-D555-FAD8-B14778E49586}"/>
              </a:ext>
            </a:extLst>
          </p:cNvPr>
          <p:cNvSpPr/>
          <p:nvPr>
            <p:custDataLst>
              <p:tags r:id="rId69"/>
            </p:custDataLst>
          </p:nvPr>
        </p:nvSpPr>
        <p:spPr bwMode="auto">
          <a:xfrm>
            <a:off x="6353175" y="2574925"/>
            <a:ext cx="76200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4FAFAC2D-C586-4C7A-97DC-33C38AE7F152}" type="datetime'''''''''#''''''''''''''''''''''''''''''''''4'''''''''''">
              <a:rPr lang="en-US" altLang="en-US" sz="600" smtClean="0">
                <a:solidFill>
                  <a:schemeClr val="tx1"/>
                </a:solidFill>
              </a:rPr>
              <a:pPr/>
              <a:t>#4</a:t>
            </a:fld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111" name="Rechteck 184">
            <a:extLst>
              <a:ext uri="{FF2B5EF4-FFF2-40B4-BE49-F238E27FC236}">
                <a16:creationId xmlns:a16="http://schemas.microsoft.com/office/drawing/2014/main" id="{7E4F2863-C999-1C6F-1393-9D765C7CF33A}"/>
              </a:ext>
            </a:extLst>
          </p:cNvPr>
          <p:cNvSpPr/>
          <p:nvPr>
            <p:custDataLst>
              <p:tags r:id="rId70"/>
            </p:custDataLst>
          </p:nvPr>
        </p:nvSpPr>
        <p:spPr bwMode="auto">
          <a:xfrm>
            <a:off x="6353175" y="2717800"/>
            <a:ext cx="76200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4C976398-9809-4768-9D49-304726EFA276}" type="datetime'''''''''''''''''''''''''#5'''''''''''''''''''''">
              <a:rPr lang="en-US" altLang="en-US" sz="600" smtClean="0">
                <a:solidFill>
                  <a:schemeClr val="tx1"/>
                </a:solidFill>
              </a:rPr>
              <a:pPr/>
              <a:t>#5</a:t>
            </a:fld>
            <a:endParaRPr lang="en-US" sz="600" dirty="0">
              <a:solidFill>
                <a:schemeClr val="tx1"/>
              </a:solidFill>
            </a:endParaRPr>
          </a:p>
        </p:txBody>
      </p:sp>
      <p:sp>
        <p:nvSpPr>
          <p:cNvPr id="118" name="Rechteck 184">
            <a:extLst>
              <a:ext uri="{FF2B5EF4-FFF2-40B4-BE49-F238E27FC236}">
                <a16:creationId xmlns:a16="http://schemas.microsoft.com/office/drawing/2014/main" id="{434EA436-8CCA-827D-BBF7-45CDB8CDB42D}"/>
              </a:ext>
            </a:extLst>
          </p:cNvPr>
          <p:cNvSpPr/>
          <p:nvPr>
            <p:custDataLst>
              <p:tags r:id="rId71"/>
            </p:custDataLst>
          </p:nvPr>
        </p:nvSpPr>
        <p:spPr bwMode="auto">
          <a:xfrm>
            <a:off x="6353175" y="2860675"/>
            <a:ext cx="180975" cy="9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C98C1419-27AB-48E3-BF39-36214CAC0050}" type="datetime'''O''''''t''''''''''''''''''''''''''h''e''''''''r'">
              <a:rPr lang="en-US" altLang="en-US" sz="600" smtClean="0">
                <a:solidFill>
                  <a:schemeClr val="tx1"/>
                </a:solidFill>
              </a:rPr>
              <a:pPr/>
              <a:t>Other</a:t>
            </a:fld>
            <a:endParaRPr lang="en-US" sz="600" dirty="0">
              <a:solidFill>
                <a:schemeClr val="tx1"/>
              </a:solidFill>
            </a:endParaRPr>
          </a:p>
        </p:txBody>
      </p:sp>
      <p:graphicFrame>
        <p:nvGraphicFramePr>
          <p:cNvPr id="1091" name="Table 1093">
            <a:extLst>
              <a:ext uri="{FF2B5EF4-FFF2-40B4-BE49-F238E27FC236}">
                <a16:creationId xmlns:a16="http://schemas.microsoft.com/office/drawing/2014/main" id="{53DC8492-3DDA-E655-8067-A8840BAD2B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680151"/>
              </p:ext>
            </p:extLst>
          </p:nvPr>
        </p:nvGraphicFramePr>
        <p:xfrm>
          <a:off x="4741875" y="4339908"/>
          <a:ext cx="2201736" cy="274320"/>
        </p:xfrm>
        <a:graphic>
          <a:graphicData uri="http://schemas.openxmlformats.org/drawingml/2006/table">
            <a:tbl>
              <a:tblPr bandRow="1">
                <a:tableStyleId>{2D5ABB26-0587-4C30-8999-92F81FD0307C}</a:tableStyleId>
              </a:tblPr>
              <a:tblGrid>
                <a:gridCol w="309551">
                  <a:extLst>
                    <a:ext uri="{9D8B030D-6E8A-4147-A177-3AD203B41FA5}">
                      <a16:colId xmlns:a16="http://schemas.microsoft.com/office/drawing/2014/main" val="1835665587"/>
                    </a:ext>
                  </a:extLst>
                </a:gridCol>
                <a:gridCol w="378437">
                  <a:extLst>
                    <a:ext uri="{9D8B030D-6E8A-4147-A177-3AD203B41FA5}">
                      <a16:colId xmlns:a16="http://schemas.microsoft.com/office/drawing/2014/main" val="592246799"/>
                    </a:ext>
                  </a:extLst>
                </a:gridCol>
                <a:gridCol w="378437">
                  <a:extLst>
                    <a:ext uri="{9D8B030D-6E8A-4147-A177-3AD203B41FA5}">
                      <a16:colId xmlns:a16="http://schemas.microsoft.com/office/drawing/2014/main" val="3135723960"/>
                    </a:ext>
                  </a:extLst>
                </a:gridCol>
                <a:gridCol w="378437">
                  <a:extLst>
                    <a:ext uri="{9D8B030D-6E8A-4147-A177-3AD203B41FA5}">
                      <a16:colId xmlns:a16="http://schemas.microsoft.com/office/drawing/2014/main" val="862604737"/>
                    </a:ext>
                  </a:extLst>
                </a:gridCol>
                <a:gridCol w="378437">
                  <a:extLst>
                    <a:ext uri="{9D8B030D-6E8A-4147-A177-3AD203B41FA5}">
                      <a16:colId xmlns:a16="http://schemas.microsoft.com/office/drawing/2014/main" val="2418978667"/>
                    </a:ext>
                  </a:extLst>
                </a:gridCol>
                <a:gridCol w="378437">
                  <a:extLst>
                    <a:ext uri="{9D8B030D-6E8A-4147-A177-3AD203B41FA5}">
                      <a16:colId xmlns:a16="http://schemas.microsoft.com/office/drawing/2014/main" val="496069448"/>
                    </a:ext>
                  </a:extLst>
                </a:gridCol>
              </a:tblGrid>
              <a:tr h="73110">
                <a:tc>
                  <a:txBody>
                    <a:bodyPr/>
                    <a:lstStyle/>
                    <a:p>
                      <a:pPr rtl="0"/>
                      <a:r>
                        <a:rPr lang="en-US" sz="600" b="1" noProof="0" dirty="0"/>
                        <a:t>D&amp;A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844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844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n/a</a:t>
                      </a:r>
                      <a:endParaRPr kumimoji="0" 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844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n/a</a:t>
                      </a:r>
                      <a:endParaRPr kumimoji="0" 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844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n/a</a:t>
                      </a:r>
                      <a:endParaRPr kumimoji="0" 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844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053178480"/>
                  </a:ext>
                </a:extLst>
              </a:tr>
              <a:tr h="55631">
                <a:tc>
                  <a:txBody>
                    <a:bodyPr/>
                    <a:lstStyle/>
                    <a:p>
                      <a:pPr rtl="0"/>
                      <a:r>
                        <a:rPr lang="en-US" sz="600" b="1" noProof="0" dirty="0"/>
                        <a:t>Capex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600" noProof="0" dirty="0"/>
                        <a:t>n/a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600" noProof="0" dirty="0"/>
                        <a:t>n/a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844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844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844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n/a</a:t>
                      </a:r>
                      <a:endParaRPr kumimoji="0" 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3054620"/>
                  </a:ext>
                </a:extLst>
              </a:tr>
              <a:tr h="55631">
                <a:tc>
                  <a:txBody>
                    <a:bodyPr/>
                    <a:lstStyle/>
                    <a:p>
                      <a:pPr rtl="0"/>
                      <a:r>
                        <a:rPr lang="en-US" sz="600" b="1" noProof="0" dirty="0"/>
                        <a:t>FCF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600" noProof="0" dirty="0"/>
                        <a:t>n/a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600" noProof="0" dirty="0"/>
                        <a:t>n/a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844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844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defTabSz="84404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23229327"/>
                  </a:ext>
                </a:extLst>
              </a:tr>
            </a:tbl>
          </a:graphicData>
        </a:graphic>
      </p:graphicFrame>
      <p:pic>
        <p:nvPicPr>
          <p:cNvPr id="1038" name="Picture 2" descr="Komfort Bettdecke Winter mit Daunen &amp; Federn | Welldora® Offizieller Shop">
            <a:extLst>
              <a:ext uri="{FF2B5EF4-FFF2-40B4-BE49-F238E27FC236}">
                <a16:creationId xmlns:a16="http://schemas.microsoft.com/office/drawing/2014/main" id="{FE85BF2B-3FB7-F2BB-31C8-FB9595992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0411" y="151903"/>
            <a:ext cx="917936" cy="361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78551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28224&quot;&gt;&lt;version val=&quot;35746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′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’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bNumberIsYear val=&quot;0&quot;/&gt;&lt;m_strFormatTime&gt;%1 %y&lt;/m_strFormatTime&gt;&lt;m_yearfmt&gt;&lt;begin val=&quot;4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3&quot;&gt;&lt;elem m_fUsage=&quot;4.42632236762709130318E+00&quot;&gt;&lt;m_msothmcolidx val=&quot;0&quot;/&gt;&lt;m_rgb r=&quot;00&quot; g=&quot;B0&quot; b=&quot;50&quot;/&gt;&lt;/elem&gt;&lt;elem m_fUsage=&quot;1.97559000000000017927E+00&quot;&gt;&lt;m_msothmcolidx val=&quot;0&quot;/&gt;&lt;m_rgb r=&quot;70&quot; g=&quot;30&quot; b=&quot;A0&quot;/&gt;&lt;/elem&gt;&lt;elem m_fUsage=&quot;1.43046721000000021107E+00&quot;&gt;&lt;m_msothmcolidx val=&quot;0&quot;/&gt;&lt;m_rgb r=&quot;44&quot; g=&quot;62&quot; b=&quot;EE&quot;/&gt;&lt;/elem&gt;&lt;elem m_fUsage=&quot;6.62489036190000102344E-01&quot;&gt;&lt;m_msothmcolidx val=&quot;0&quot;/&gt;&lt;m_rgb r=&quot;F5&quot; g=&quot;62&quot; b=&quot;1B&quot;/&gt;&lt;/elem&gt;&lt;elem m_fUsage=&quot;6.19961075529443239596E-01&quot;&gt;&lt;m_msothmcolidx val=&quot;0&quot;/&gt;&lt;m_rgb r=&quot;BC&quot; g=&quot;CC&quot; b=&quot;EA&quot;/&gt;&lt;/elem&gt;&lt;elem m_fUsage=&quot;4.04609927057423490737E-01&quot;&gt;&lt;m_msothmcolidx val=&quot;0&quot;/&gt;&lt;m_rgb r=&quot;B9&quot; g=&quot;DF&quot; b=&quot;EE&quot;/&gt;&lt;/elem&gt;&lt;elem m_fUsage=&quot;1.96652532797959883615E-01&quot;&gt;&lt;m_msothmcolidx val=&quot;0&quot;/&gt;&lt;m_rgb r=&quot;25&quot; g=&quot;3F&quot; b=&quot;6A&quot;/&gt;&lt;/elem&gt;&lt;elem m_fUsage=&quot;8.53165342345673649582E-02&quot;&gt;&lt;m_msothmcolidx val=&quot;0&quot;/&gt;&lt;m_rgb r=&quot;C4&quot; g=&quot;DB&quot; b=&quot;F0&quot;/&gt;&lt;/elem&gt;&lt;elem m_fUsage=&quot;7.64128216143330762922E-02&quot;&gt;&lt;m_msothmcolidx val=&quot;0&quot;/&gt;&lt;m_rgb r=&quot;DC&quot; g=&quot;EE&quot; b=&quot;F5&quot;/&gt;&lt;/elem&gt;&lt;elem m_fUsage=&quot;4.07828594289022239305E-02&quot;&gt;&lt;m_msothmcolidx val=&quot;0&quot;/&gt;&lt;m_rgb r=&quot;41&quot; g=&quot;41&quot; b=&quot;41&quot;/&gt;&lt;/elem&gt;&lt;elem m_fUsage=&quot;1.19725151825620327456E-02&quot;&gt;&lt;m_msothmcolidx val=&quot;0&quot;/&gt;&lt;m_rgb r=&quot;F4&quot; g=&quot;F3&quot; b=&quot;E8&quot;/&gt;&lt;/elem&gt;&lt;elem m_fUsage=&quot;9.69773729787524671475E-03&quot;&gt;&lt;m_msothmcolidx val=&quot;0&quot;/&gt;&lt;m_rgb r=&quot;EF&quot; g=&quot;ED&quot; b=&quot;DA&quot;/&gt;&lt;/elem&gt;&lt;elem m_fUsage=&quot;8.72796356808772273717E-03&quot;&gt;&lt;m_msothmcolidx val=&quot;0&quot;/&gt;&lt;m_rgb r=&quot;D1&quot; g=&quot;EA&quot; b=&quot;F3&quot;/&gt;&lt;/elem&gt;&lt;elem m_fUsage=&quot;7.85516721127895063692E-03&quot;&gt;&lt;m_msothmcolidx val=&quot;0&quot;/&gt;&lt;m_rgb r=&quot;E8&quot; g=&quot;E4&quot; b=&quot;CA&quot;/&gt;&lt;/elem&gt;&lt;elem m_fUsage=&quot;7.61880991227818771261E-03&quot;&gt;&lt;m_msothmcolidx val=&quot;0&quot;/&gt;&lt;m_rgb r=&quot;59&quot; g=&quot;59&quot; b=&quot;59&quot;/&gt;&lt;/elem&gt;&lt;elem m_fUsage=&quot;4.17455791792929655631E-03&quot;&gt;&lt;m_msothmcolidx val=&quot;0&quot;/&gt;&lt;m_rgb r=&quot;D8&quot; g=&quot;E7&quot; b=&quot;F5&quot;/&gt;&lt;/elem&gt;&lt;elem m_fUsage=&quot;3.41431956983742363604E-03&quot;&gt;&lt;m_msothmcolidx val=&quot;0&quot;/&gt;&lt;m_rgb r=&quot;50&quot; g=&quot;25&quot; b=&quot;FA&quot;/&gt;&lt;/elem&gt;&lt;elem m_fUsage=&quot;3.38139191352273020194E-03&quot;&gt;&lt;m_msothmcolidx val=&quot;0&quot;/&gt;&lt;m_rgb r=&quot;AC&quot; g=&quot;F4&quot; b=&quot;FB&quot;/&gt;&lt;/elem&gt;&lt;elem m_fUsage=&quot;3.04325272217045731185E-03&quot;&gt;&lt;m_msothmcolidx val=&quot;0&quot;/&gt;&lt;m_rgb r=&quot;EB&quot; g=&quot;F3&quot; b=&quot;FA&quot;/&gt;&lt;/elem&gt;&lt;elem m_fUsage=&quot;2.73892744995341171077E-03&quot;&gt;&lt;m_msothmcolidx val=&quot;0&quot;/&gt;&lt;m_rgb r=&quot;AC&quot; g=&quot;A8&quot; b=&quot;A8&quot;/&gt;&lt;/elem&gt;&lt;elem m_fUsage=&quot;2.21853123446226355511E-03&quot;&gt;&lt;m_msothmcolidx val=&quot;0&quot;/&gt;&lt;m_rgb r=&quot;69&quot; g=&quot;88&quot; b=&quot;B6&quot;/&gt;&lt;/elem&gt;&lt;elem m_fUsage=&quot;1.99667811101603706950E-03&quot;&gt;&lt;m_msothmcolidx val=&quot;0&quot;/&gt;&lt;m_rgb r=&quot;17&quot; g=&quot;2C&quot; b=&quot;4A&quot;/&gt;&lt;/elem&gt;&lt;elem m_fUsage=&quot;1.45557834293069112905E-03&quot;&gt;&lt;m_msothmcolidx val=&quot;0&quot;/&gt;&lt;m_rgb r=&quot;FE&quot; g=&quot;CC&quot; b=&quot;56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CtmSplye2SuxMuDfYmp1V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LxiC2IVkAtZ8QlM4YgRjo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6dqyzt8PV1OTFEAyd96MJ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CfYZVPZIhLEAKF0UJY49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LxiC2IVkAtZ8QlM4YgRj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LxiC2IVkAtZ8QlM4YgRjo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iLxiC2IVkAtZ8QlM4YgRjo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LCfYZVPZIhLEAKF0UJY49M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8iqIt.s06IFMLhWH80U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tOpSTIlryNDByL_8Bq8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LW0f4oS_DCnq5_cSAFyn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Q_0oEwPb0EokOAkChUe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FNHU48rbDFVFmM_JOlOr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ZMmU0dXCc9tAlOVXc2J.A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d47r0LWBkAFJBz6lO3WA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36t1SzyjoX7TE2S8miw8w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z.BvbScEPwb2rU5YcZPA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Fd4xd9.vGGAGp6G2tqH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tOssZzNebELPtdQAwue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qQdUL04SgP6Hc7jioz7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UxSLXd.DAoobkkg5qfDA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.0tqALeW_5URFBEpqscY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STj__q7wIqKu6AXbuEy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8pdGKDlhVzZHYA6Es5q2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0_oB2Crt8tiF4Ww8sOfe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JCk6r_HFLbJR8b1bwtqJ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c08Vk.Tm3ASrJd2RR09Q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E3RYGa_qQQ.PHWQCvotQ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.CDdPhDzjS877qH92R7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0J..9qSvbpObtsaTn8s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mhZnFOI9Zv7_kzRW8JPG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RAPM4FzMlDEWObbADeTw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H_QUKqBdVD38hQFcmtC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B3AgOg5Ww724eIsTv1xw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74J21ucXyRayCNz2q2W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f4d_EX6FA17rf3jp.IY9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AGg8D9I6ZfNctcNHigkU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9WG4L9NgnwYdpy7UKxyvQ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UI6U7YBo_0sZq9_plDI_A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0kr0RXdkYv1_BZcnDdrMw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aABVhjwG36ue8s.K2Ch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zReB3LnCj0fHrIljYH7I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1o7Brc_AF6FbvWtYc8.g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1hvGMvN6Tz9x5bdg.bYaw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vAzoLO3bwO96KEXVRgu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TYTXFsOKDL35Su_1MhSZA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NkXpB3axNgUdrGigsEJzA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4h2AYC80YLuzS9hlnCq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.QXDoFabQUVrXbG29AyaQ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r3b0rSnTDYOAZjcExl4qA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XL5br76xSd.BmF3Nmxcf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RXewkn.dd9PxBNOnPMjLQ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eZboc9YgE9_3pfC49bvY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W4xoe7v.a7PycB6G4xcV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VEf.od0xo2ldBsAN1ek0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lGt0hqOOqqN5FGI4AuZtg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ObSmP_9xL_89dM_pvL1VA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nMW.n__tG6v5EryB..gX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ER2yR0LprtPeGwG81XGSw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VT2_mjv8XERGci9GTdD4w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TLCLKYUOMWcWGxtR7rhKQ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C7FyVWrvW2ZVOHZySlnaQ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un11KHALL56g1JD34Xy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BsBci2Q7TR.7jHF2alJcQ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v_Bs1dg1tHqllOwSa.A3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6hKNFChf6zYPP2EA7Jm7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ZKjLZ6dnUJO4ch0y3_0Q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2nqOljrawTfOP9_SUMGnA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porvf0LFhLoXnBPUTK.BQ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Pt0Nv.CXNFgJAlyErzRRQ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ZgYKhLZrCGLg9PqKOcqcQ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0RvcqrWSDHz8vzVbRp1n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s70UqnnU3emEKvAaUJBNw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gWjbFysJBjhkYXwIutQ9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BULLETV2" val="empowerBulletV2"/>
</p:tagLst>
</file>

<file path=ppt/theme/theme1.xml><?xml version="1.0" encoding="utf-8"?>
<a:theme xmlns:a="http://schemas.openxmlformats.org/drawingml/2006/main" name="2_Master Constellation wide">
  <a:themeElements>
    <a:clrScheme name="CONSTELLATION">
      <a:dk1>
        <a:srgbClr val="000000"/>
      </a:dk1>
      <a:lt1>
        <a:srgbClr val="FFFFFF"/>
      </a:lt1>
      <a:dk2>
        <a:srgbClr val="223F6A"/>
      </a:dk2>
      <a:lt2>
        <a:srgbClr val="8FAADC"/>
      </a:lt2>
      <a:accent1>
        <a:srgbClr val="9DC3E6"/>
      </a:accent1>
      <a:accent2>
        <a:srgbClr val="AAAAAA"/>
      </a:accent2>
      <a:accent3>
        <a:srgbClr val="D0CECE"/>
      </a:accent3>
      <a:accent4>
        <a:srgbClr val="DFDFDF"/>
      </a:accent4>
      <a:accent5>
        <a:srgbClr val="B81908"/>
      </a:accent5>
      <a:accent6>
        <a:srgbClr val="00B050"/>
      </a:accent6>
      <a:hlink>
        <a:srgbClr val="0000FF"/>
      </a:hlink>
      <a:folHlink>
        <a:srgbClr val="0070C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00"/>
        </a:solidFill>
        <a:ln>
          <a:noFill/>
        </a:ln>
      </a:spPr>
      <a:bodyPr rtlCol="0" anchor="ctr"/>
      <a:lstStyle>
        <a:defPPr algn="ctr">
          <a:defRPr sz="9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2_Master Constellation wid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Master Constellation wid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Master Constellation wid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cabe56c-7e26-4c02-8d85-b4fad8b06d2c">
      <Terms xmlns="http://schemas.microsoft.com/office/infopath/2007/PartnerControls"/>
    </lcf76f155ced4ddcb4097134ff3c332f>
    <TaxCatchAll xmlns="2a11dabe-1bed-4248-9727-f03e5cc57e9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44BB5FEBE7854D8D3E08ADDB8D8F5C" ma:contentTypeVersion="2424" ma:contentTypeDescription="Create a new document." ma:contentTypeScope="" ma:versionID="236d0c89c8b60c28872562f4ca736cc1">
  <xsd:schema xmlns:xsd="http://www.w3.org/2001/XMLSchema" xmlns:xs="http://www.w3.org/2001/XMLSchema" xmlns:p="http://schemas.microsoft.com/office/2006/metadata/properties" xmlns:ns2="2a11dabe-1bed-4248-9727-f03e5cc57e90" xmlns:ns3="4cabe56c-7e26-4c02-8d85-b4fad8b06d2c" targetNamespace="http://schemas.microsoft.com/office/2006/metadata/properties" ma:root="true" ma:fieldsID="037a120f32d96f430347f8ad48088456" ns2:_="" ns3:_="">
    <xsd:import namespace="2a11dabe-1bed-4248-9727-f03e5cc57e90"/>
    <xsd:import namespace="4cabe56c-7e26-4c02-8d85-b4fad8b06d2c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2:SharedWithUsers" minOccurs="0"/>
                <xsd:element ref="ns2:SharedWithDetails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11dabe-1bed-4248-9727-f03e5cc57e9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957c9b77-ac52-44fc-befc-e36bf3f09653}" ma:internalName="TaxCatchAll" ma:showField="CatchAllData" ma:web="2a11dabe-1bed-4248-9727-f03e5cc57e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abe56c-7e26-4c02-8d85-b4fad8b06d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6ca949ac-152e-4478-8bdc-791c22970b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CA7C6-6EF8-493D-B2CC-2C62053374D6}">
  <ds:schemaRefs>
    <ds:schemaRef ds:uri="http://schemas.microsoft.com/office/infopath/2007/PartnerControls"/>
    <ds:schemaRef ds:uri="http://purl.org/dc/elements/1.1/"/>
    <ds:schemaRef ds:uri="http://www.w3.org/XML/1998/namespace"/>
    <ds:schemaRef ds:uri="2a11dabe-1bed-4248-9727-f03e5cc57e90"/>
    <ds:schemaRef ds:uri="http://purl.org/dc/terms/"/>
    <ds:schemaRef ds:uri="http://schemas.microsoft.com/office/2006/documentManagement/types"/>
    <ds:schemaRef ds:uri="4cabe56c-7e26-4c02-8d85-b4fad8b06d2c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78B4DE6-1ED9-45F8-8918-5533B15D70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11dabe-1bed-4248-9727-f03e5cc57e90"/>
    <ds:schemaRef ds:uri="4cabe56c-7e26-4c02-8d85-b4fad8b06d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3040A15-7557-4FD4-987E-E85778EF1C4C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12B47698-2234-4648-BDC5-807819D7319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432</Words>
  <Application>Microsoft Office PowerPoint</Application>
  <PresentationFormat>On-screen Show (16:9)</PresentationFormat>
  <Paragraphs>142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ＭＳ Ｐゴシック</vt:lpstr>
      <vt:lpstr>Apercu</vt:lpstr>
      <vt:lpstr>Arial</vt:lpstr>
      <vt:lpstr>Calibri</vt:lpstr>
      <vt:lpstr>CKNord Book</vt:lpstr>
      <vt:lpstr>Symbol</vt:lpstr>
      <vt:lpstr>Times New Roman</vt:lpstr>
      <vt:lpstr>Wingdings</vt:lpstr>
      <vt:lpstr>2_Master Constellation wide</vt:lpstr>
      <vt:lpstr>think-cell Slide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Susskind</dc:creator>
  <cp:lastModifiedBy>Sandro Meyer</cp:lastModifiedBy>
  <cp:revision>1347</cp:revision>
  <cp:lastPrinted>2025-11-24T13:37:24Z</cp:lastPrinted>
  <dcterms:created xsi:type="dcterms:W3CDTF">2017-10-02T06:30:19Z</dcterms:created>
  <dcterms:modified xsi:type="dcterms:W3CDTF">2025-12-08T00:24:46Z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0x0101002B4163104AD42E45AF657F262F2691C4</vt:lpwstr>
  </property>
  <property fmtid="{D5CDD505-2E9C-101B-9397-08002B2CF9AE}" pid="3" name="MediaServiceImageTags">
    <vt:lpwstr/>
  </property>
</Properties>
</file>