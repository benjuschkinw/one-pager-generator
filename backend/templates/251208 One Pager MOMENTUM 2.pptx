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7"/>
  </p:notesMasterIdLst>
  <p:handoutMasterIdLst>
    <p:handoutMasterId r:id="rId8"/>
  </p:handoutMasterIdLst>
  <p:sldIdLst>
    <p:sldId id="2147377611" r:id="rId6"/>
  </p:sldIdLst>
  <p:sldSz cx="9144000" cy="5143500" type="screen16x9"/>
  <p:notesSz cx="6797675" cy="99282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1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8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6A"/>
    <a:srgbClr val="3D3D3D"/>
    <a:srgbClr val="00B050"/>
    <a:srgbClr val="F4C500"/>
    <a:srgbClr val="107A1A"/>
    <a:srgbClr val="9DC3E6"/>
    <a:srgbClr val="8FAADC"/>
    <a:srgbClr val="D0CECE"/>
    <a:srgbClr val="BFBF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8" autoAdjust="0"/>
    <p:restoredTop sz="95487" autoAdjust="0"/>
  </p:normalViewPr>
  <p:slideViewPr>
    <p:cSldViewPr snapToGrid="0">
      <p:cViewPr varScale="1">
        <p:scale>
          <a:sx n="98" d="100"/>
          <a:sy n="98" d="100"/>
        </p:scale>
        <p:origin x="508" y="60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38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8498467824310519"/>
          <c:y val="0.20428571428571429"/>
          <c:w val="0.42288049029622066"/>
          <c:h val="0.59142857142857141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2F6-4BAE-92A1-F04BC564385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F6-4BAE-92A1-F04BC564385F}"/>
              </c:ext>
            </c:extLst>
          </c:dPt>
          <c:dPt>
            <c:idx val="2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2F6-4BAE-92A1-F04BC564385F}"/>
              </c:ext>
            </c:extLst>
          </c:dPt>
          <c:dPt>
            <c:idx val="3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2F6-4BAE-92A1-F04BC564385F}"/>
              </c:ext>
            </c:extLst>
          </c:dPt>
          <c:dPt>
            <c:idx val="4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A2F6-4BAE-92A1-F04BC564385F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2F6-4BAE-92A1-F04BC564385F}"/>
              </c:ext>
            </c:extLst>
          </c:dPt>
          <c:dPt>
            <c:idx val="6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A2F6-4BAE-92A1-F04BC564385F}"/>
              </c:ext>
            </c:extLst>
          </c:dPt>
          <c:dLbls>
            <c:dLbl>
              <c:idx val="0"/>
              <c:layout>
                <c:manualLayout>
                  <c:x val="-3.0643513789581204E-3"/>
                  <c:y val="-4.2857142857142859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2F6-4BAE-92A1-F04BC564385F}"/>
                </c:ext>
              </c:extLst>
            </c:dLbl>
            <c:dLbl>
              <c:idx val="1"/>
              <c:layout>
                <c:manualLayout>
                  <c:x val="4.0858018386108275E-3"/>
                  <c:y val="-5.7142857142857143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2F6-4BAE-92A1-F04BC564385F}"/>
                </c:ext>
              </c:extLst>
            </c:dLbl>
            <c:dLbl>
              <c:idx val="3"/>
              <c:layout>
                <c:manualLayout>
                  <c:x val="3.0643513789581204E-3"/>
                  <c:y val="1.428571428571428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2F6-4BAE-92A1-F04BC56438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Sheet1!$A$1:$A$7</c:f>
              <c:numCache>
                <c:formatCode>General</c:formatCode>
                <c:ptCount val="7"/>
                <c:pt idx="0">
                  <c:v>60</c:v>
                </c:pt>
                <c:pt idx="1">
                  <c:v>16</c:v>
                </c:pt>
                <c:pt idx="2">
                  <c:v>3</c:v>
                </c:pt>
                <c:pt idx="3">
                  <c:v>14.000000000000002</c:v>
                </c:pt>
                <c:pt idx="4">
                  <c:v>4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2F6-4BAE-92A1-F04BC5643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33545310015898E-2"/>
          <c:y val="0.14092140921409213"/>
          <c:w val="0.91732909379968208"/>
          <c:h val="0.718157181571815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Sheet1!$A$1:$G$1</c:f>
              <c:numCache>
                <c:formatCode>General</c:formatCode>
                <c:ptCount val="7"/>
                <c:pt idx="0">
                  <c:v>14927</c:v>
                </c:pt>
                <c:pt idx="1">
                  <c:v>16656</c:v>
                </c:pt>
                <c:pt idx="2">
                  <c:v>17665</c:v>
                </c:pt>
                <c:pt idx="3">
                  <c:v>19677</c:v>
                </c:pt>
                <c:pt idx="4">
                  <c:v>20336</c:v>
                </c:pt>
                <c:pt idx="5">
                  <c:v>21092</c:v>
                </c:pt>
                <c:pt idx="6">
                  <c:v>21869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99-4473-A519-B6E9B276821B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Sheet1!$A$2:$G$2</c:f>
              <c:numCache>
                <c:formatCode>General</c:formatCode>
                <c:ptCount val="7"/>
                <c:pt idx="0">
                  <c:v>549</c:v>
                </c:pt>
                <c:pt idx="1">
                  <c:v>5465</c:v>
                </c:pt>
                <c:pt idx="2">
                  <c:v>6380</c:v>
                </c:pt>
                <c:pt idx="3">
                  <c:v>7344</c:v>
                </c:pt>
                <c:pt idx="4">
                  <c:v>8011</c:v>
                </c:pt>
                <c:pt idx="5">
                  <c:v>8507</c:v>
                </c:pt>
                <c:pt idx="6">
                  <c:v>8975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99-4473-A519-B6E9B2768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38424784"/>
        <c:axId val="1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val>
            <c:numRef>
              <c:f>Sheet1!$A$3:$G$3</c:f>
              <c:numCache>
                <c:formatCode>General</c:formatCode>
                <c:ptCount val="7"/>
                <c:pt idx="0">
                  <c:v>3.6778991089971194</c:v>
                </c:pt>
                <c:pt idx="1">
                  <c:v>32.810999039385209</c:v>
                </c:pt>
                <c:pt idx="2">
                  <c:v>36.116614774978771</c:v>
                </c:pt>
                <c:pt idx="3">
                  <c:v>37.322762616252476</c:v>
                </c:pt>
                <c:pt idx="4">
                  <c:v>39.393194335169156</c:v>
                </c:pt>
                <c:pt idx="5">
                  <c:v>40.332827612364881</c:v>
                </c:pt>
                <c:pt idx="6">
                  <c:v>41.039828067126983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999-4473-A519-B6E9B2768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9384247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186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938424784"/>
        <c:crosses val="min"/>
        <c:crossBetween val="between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41.039828067126983"/>
          <c:min val="-1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1"/>
            <a:ext cx="2918909" cy="539503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254" y="1"/>
            <a:ext cx="2918909" cy="539503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10216076"/>
            <a:ext cx="2918909" cy="539501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254" y="10216076"/>
            <a:ext cx="2918909" cy="539501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385" cy="539647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94" y="0"/>
            <a:ext cx="2918385" cy="539647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1344613"/>
            <a:ext cx="6450013" cy="3629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75" y="5176120"/>
            <a:ext cx="5387787" cy="4235009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0215933"/>
            <a:ext cx="2918385" cy="539646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94" y="10215933"/>
            <a:ext cx="2918385" cy="539646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7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oleObject" Target="../embeddings/oleObject1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622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r>
              <a:rPr lang="en-US"/>
              <a:t>edit Master</a:t>
            </a:r>
            <a:endParaRPr lang="en-US" dirty="0"/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1680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3740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US" dirty="0"/>
              <a:t>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39021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455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1828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4247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93075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0909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185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1158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734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370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484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144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5946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860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9211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549515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E282406B-3247-588A-F7F9-6EF2CEADB845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84" Type="http://schemas.openxmlformats.org/officeDocument/2006/relationships/tags" Target="../tags/tag127.xml"/><Relationship Id="rId89" Type="http://schemas.openxmlformats.org/officeDocument/2006/relationships/oleObject" Target="../embeddings/oleObject18.bin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74" Type="http://schemas.openxmlformats.org/officeDocument/2006/relationships/tags" Target="../tags/tag117.xml"/><Relationship Id="rId79" Type="http://schemas.openxmlformats.org/officeDocument/2006/relationships/tags" Target="../tags/tag122.xml"/><Relationship Id="rId5" Type="http://schemas.openxmlformats.org/officeDocument/2006/relationships/tags" Target="../tags/tag48.xml"/><Relationship Id="rId90" Type="http://schemas.openxmlformats.org/officeDocument/2006/relationships/hyperlink" Target="https://www.huesges-gruppe.de/" TargetMode="External"/><Relationship Id="rId95" Type="http://schemas.openxmlformats.org/officeDocument/2006/relationships/image" Target="../media/image5.png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80" Type="http://schemas.openxmlformats.org/officeDocument/2006/relationships/tags" Target="../tags/tag123.xml"/><Relationship Id="rId85" Type="http://schemas.openxmlformats.org/officeDocument/2006/relationships/tags" Target="../tags/tag128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tags" Target="../tags/tag118.xml"/><Relationship Id="rId83" Type="http://schemas.openxmlformats.org/officeDocument/2006/relationships/tags" Target="../tags/tag126.xml"/><Relationship Id="rId88" Type="http://schemas.openxmlformats.org/officeDocument/2006/relationships/notesSlide" Target="../notesSlides/notesSlide1.xml"/><Relationship Id="rId91" Type="http://schemas.openxmlformats.org/officeDocument/2006/relationships/chart" Target="../charts/chart1.xml"/><Relationship Id="rId96" Type="http://schemas.openxmlformats.org/officeDocument/2006/relationships/image" Target="../media/image6.jpe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tags" Target="../tags/tag121.xml"/><Relationship Id="rId81" Type="http://schemas.openxmlformats.org/officeDocument/2006/relationships/tags" Target="../tags/tag124.xml"/><Relationship Id="rId86" Type="http://schemas.openxmlformats.org/officeDocument/2006/relationships/tags" Target="../tags/tag129.xml"/><Relationship Id="rId94" Type="http://schemas.openxmlformats.org/officeDocument/2006/relationships/image" Target="../media/image4.png"/><Relationship Id="rId99" Type="http://schemas.openxmlformats.org/officeDocument/2006/relationships/image" Target="../media/image9.png"/><Relationship Id="rId101" Type="http://schemas.openxmlformats.org/officeDocument/2006/relationships/image" Target="../media/image10.jpe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tags" Target="../tags/tag119.xml"/><Relationship Id="rId97" Type="http://schemas.openxmlformats.org/officeDocument/2006/relationships/image" Target="../media/image7.png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92" Type="http://schemas.openxmlformats.org/officeDocument/2006/relationships/image" Target="../media/image2.png"/><Relationship Id="rId2" Type="http://schemas.openxmlformats.org/officeDocument/2006/relationships/tags" Target="../tags/tag45.xml"/><Relationship Id="rId29" Type="http://schemas.openxmlformats.org/officeDocument/2006/relationships/tags" Target="../tags/tag72.xml"/><Relationship Id="rId24" Type="http://schemas.openxmlformats.org/officeDocument/2006/relationships/tags" Target="../tags/tag67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66" Type="http://schemas.openxmlformats.org/officeDocument/2006/relationships/tags" Target="../tags/tag109.xml"/><Relationship Id="rId87" Type="http://schemas.openxmlformats.org/officeDocument/2006/relationships/slideLayout" Target="../slideLayouts/slideLayout4.xml"/><Relationship Id="rId61" Type="http://schemas.openxmlformats.org/officeDocument/2006/relationships/tags" Target="../tags/tag104.xml"/><Relationship Id="rId82" Type="http://schemas.openxmlformats.org/officeDocument/2006/relationships/tags" Target="../tags/tag125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56" Type="http://schemas.openxmlformats.org/officeDocument/2006/relationships/tags" Target="../tags/tag99.xml"/><Relationship Id="rId77" Type="http://schemas.openxmlformats.org/officeDocument/2006/relationships/tags" Target="../tags/tag120.xml"/><Relationship Id="rId100" Type="http://schemas.openxmlformats.org/officeDocument/2006/relationships/chart" Target="../charts/chart2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93" Type="http://schemas.openxmlformats.org/officeDocument/2006/relationships/image" Target="../media/image3.png"/><Relationship Id="rId98" Type="http://schemas.openxmlformats.org/officeDocument/2006/relationships/image" Target="../media/image8.png"/><Relationship Id="rId3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think-cell data - do not delete" hidden="1">
            <a:extLst>
              <a:ext uri="{FF2B5EF4-FFF2-40B4-BE49-F238E27FC236}">
                <a16:creationId xmlns:a16="http://schemas.microsoft.com/office/drawing/2014/main" id="{21A1F4EF-68E9-E4D5-A12D-F49D0E0A6A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612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9" imgW="404" imgH="405" progId="TCLayout.ActiveDocument.1">
                  <p:embed/>
                </p:oleObj>
              </mc:Choice>
              <mc:Fallback>
                <p:oleObj name="think-cell Slide" r:id="rId89" imgW="404" imgH="405" progId="TCLayout.ActiveDocument.1">
                  <p:embed/>
                  <p:pic>
                    <p:nvPicPr>
                      <p:cNvPr id="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1F4EF-68E9-E4D5-A12D-F49D0E0A6A8F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40CE990D-E56D-7B22-B157-160F71927C29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5033963" y="4071938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22199-AEA4-69B0-6151-C3DD926F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US" noProof="0" dirty="0"/>
              <a:t>CONSTELLATION CAPITAL AG</a:t>
            </a:r>
            <a:endParaRPr lang="en-US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1E200-9C38-8A97-82C4-AD300F0A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449A3-901D-C9E9-959C-21ED72AC8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US" noProof="0" smtClean="0"/>
              <a:pPr>
                <a:defRPr/>
              </a:pPr>
              <a:t>1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E01ED-B42B-B08C-030D-CE61E6EE04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</p:spPr>
        <p:txBody>
          <a:bodyPr/>
          <a:lstStyle/>
          <a:p>
            <a:r>
              <a:rPr lang="en-US" noProof="0" dirty="0"/>
              <a:t>One Pager </a:t>
            </a:r>
            <a:r>
              <a:rPr lang="en-US" b="1" i="0" noProof="0" dirty="0">
                <a:solidFill>
                  <a:srgbClr val="10162F"/>
                </a:solidFill>
                <a:effectLst/>
                <a:latin typeface="Apercu"/>
              </a:rPr>
              <a:t>| Project MOMENTUM 2</a:t>
            </a:r>
            <a:r>
              <a:rPr lang="en-US" b="1" dirty="0">
                <a:solidFill>
                  <a:srgbClr val="10162F"/>
                </a:solidFill>
                <a:latin typeface="Apercu"/>
              </a:rPr>
              <a:t> </a:t>
            </a:r>
            <a:r>
              <a:rPr lang="en-US" b="1" i="0" noProof="0" dirty="0">
                <a:solidFill>
                  <a:srgbClr val="10162F"/>
                </a:solidFill>
                <a:effectLst/>
                <a:latin typeface="Apercu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23162C-DC35-4B5C-173B-8CEE563AD2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dirty="0"/>
              <a:t>Provider of vehicle appraisal, inspection &amp; damage assessment services</a:t>
            </a:r>
            <a:endParaRPr lang="en-US" noProof="0" dirty="0"/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84471072-E9EE-B4CC-E347-E6BD7C683BC2}"/>
              </a:ext>
            </a:extLst>
          </p:cNvPr>
          <p:cNvSpPr/>
          <p:nvPr/>
        </p:nvSpPr>
        <p:spPr>
          <a:xfrm>
            <a:off x="7189750" y="1339850"/>
            <a:ext cx="1624051" cy="25765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</a:endParaRPr>
          </a:p>
          <a:p>
            <a:pPr marL="72000" indent="-72000"/>
            <a:endParaRPr lang="en-US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600"/>
              </a:spcAft>
              <a:buClr>
                <a:srgbClr val="00B050"/>
              </a:buClr>
              <a:buFont typeface="Calibri" panose="020F0502020204030204" pitchFamily="34" charset="0"/>
              <a:buChar char="+"/>
              <a:defRPr/>
            </a:pPr>
            <a:r>
              <a:rPr lang="en-US" sz="800" dirty="0"/>
              <a:t>Asset-light operational model</a:t>
            </a:r>
          </a:p>
          <a:p>
            <a:pPr marL="88900" indent="-88900">
              <a:spcAft>
                <a:spcPts val="600"/>
              </a:spcAft>
              <a:buClr>
                <a:srgbClr val="00B050"/>
              </a:buClr>
              <a:buFont typeface="Calibri" panose="020F0502020204030204" pitchFamily="34" charset="0"/>
              <a:buChar char="+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Stable, recurring service demand</a:t>
            </a:r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noProof="0" dirty="0">
                <a:solidFill>
                  <a:srgbClr val="000000"/>
                </a:solidFill>
              </a:rPr>
              <a:t>Significant management adjustments to EBITDA</a:t>
            </a:r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dirty="0"/>
              <a:t>Lean and founder-centric leadership structure not designed for a platform</a:t>
            </a:r>
            <a:endParaRPr lang="en-US" sz="800" noProof="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656E7BFC-419B-9663-BAD5-449D161369E4}"/>
              </a:ext>
            </a:extLst>
          </p:cNvPr>
          <p:cNvCxnSpPr>
            <a:cxnSpLocks/>
          </p:cNvCxnSpPr>
          <p:nvPr/>
        </p:nvCxnSpPr>
        <p:spPr bwMode="auto">
          <a:xfrm>
            <a:off x="7251303" y="15573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1">
            <a:extLst>
              <a:ext uri="{FF2B5EF4-FFF2-40B4-BE49-F238E27FC236}">
                <a16:creationId xmlns:a16="http://schemas.microsoft.com/office/drawing/2014/main" id="{13B3ED2A-5A53-08A3-9661-2957E030E6E5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US" sz="1200" b="1" noProof="0" dirty="0">
                <a:solidFill>
                  <a:schemeClr val="accent1"/>
                </a:solidFill>
              </a:rPr>
              <a:t>Investment-Thesis: </a:t>
            </a:r>
            <a:r>
              <a:rPr lang="en-GB" sz="1200" b="1" dirty="0"/>
              <a:t>Opportunity to acquire 100% of the s</a:t>
            </a:r>
            <a:r>
              <a:rPr lang="en-US" sz="1200" b="1" dirty="0">
                <a:solidFill>
                  <a:schemeClr val="dk1"/>
                </a:solidFill>
              </a:rPr>
              <a:t>hares in an integrated provider of vehicle appraisal and inspection services</a:t>
            </a:r>
            <a:endParaRPr lang="en-US" sz="1200" b="1" noProof="0" dirty="0"/>
          </a:p>
        </p:txBody>
      </p:sp>
      <p:sp>
        <p:nvSpPr>
          <p:cNvPr id="22" name="Textfeld 15">
            <a:extLst>
              <a:ext uri="{FF2B5EF4-FFF2-40B4-BE49-F238E27FC236}">
                <a16:creationId xmlns:a16="http://schemas.microsoft.com/office/drawing/2014/main" id="{3803EA97-3642-D56C-01C3-D0BBA63D64BC}"/>
              </a:ext>
            </a:extLst>
          </p:cNvPr>
          <p:cNvSpPr txBox="1"/>
          <p:nvPr/>
        </p:nvSpPr>
        <p:spPr>
          <a:xfrm>
            <a:off x="7196138" y="4089546"/>
            <a:ext cx="1617663" cy="57943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sz="1100" noProof="0" dirty="0">
                <a:solidFill>
                  <a:srgbClr val="223F6A"/>
                </a:solidFill>
              </a:rPr>
              <a:t>Status:</a:t>
            </a:r>
          </a:p>
          <a:p>
            <a:r>
              <a:rPr lang="en-US" sz="800" b="0" noProof="0" dirty="0">
                <a:solidFill>
                  <a:schemeClr val="tx1"/>
                </a:solidFill>
              </a:rPr>
              <a:t>Internal discussion –  08.12.25</a:t>
            </a:r>
          </a:p>
          <a:p>
            <a:r>
              <a:rPr lang="en-US" sz="800" b="0" dirty="0">
                <a:solidFill>
                  <a:schemeClr val="tx1"/>
                </a:solidFill>
              </a:rPr>
              <a:t>Expression of Interest – 16.01.26</a:t>
            </a:r>
          </a:p>
          <a:p>
            <a:r>
              <a:rPr lang="en-US" sz="800" b="0" dirty="0">
                <a:solidFill>
                  <a:schemeClr val="tx1"/>
                </a:solidFill>
              </a:rPr>
              <a:t>NBO – 30.01.26</a:t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37A76318-5856-C496-3B4C-DDA43E4AA880}"/>
              </a:ext>
            </a:extLst>
          </p:cNvPr>
          <p:cNvSpPr/>
          <p:nvPr/>
        </p:nvSpPr>
        <p:spPr>
          <a:xfrm flipV="1">
            <a:off x="7205663" y="3962400"/>
            <a:ext cx="1608138" cy="96207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noProof="0" dirty="0">
              <a:latin typeface="+mn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73785-C1FD-8D28-58AE-1010ECC16D8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744347" y="472848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92734A-72D5-0A8A-BB52-A94A228305E7}"/>
              </a:ext>
            </a:extLst>
          </p:cNvPr>
          <p:cNvGrpSpPr/>
          <p:nvPr/>
        </p:nvGrpSpPr>
        <p:grpSpPr>
          <a:xfrm>
            <a:off x="5178458" y="473908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876B385-F5CC-0E08-9C86-E0868242FCF1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0BE74355-E7AD-F37A-6EED-A146E172EE9C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C537F91A-EBB3-4F23-F3B8-38CD0D8C483C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374353" y="4703370"/>
            <a:ext cx="3619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6C1758D-4EF9-4D1E-9703-ABD13EAFE920}" type="datetime'''''''Rev''''''''''''''''''''''''''e''n''''''''''u''e''''''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Revenue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CD4E7819-7F20-F54B-3079-26E12F68906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878645" y="470845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C8935A7B-3AB9-DF00-8C32-B40601D7418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400533" y="470337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568DCE-BA44-1F2B-4186-212A9FD19387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03DC9434-0AD8-A9D5-8FF5-E6CC5B4C9251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02C20125-D7E2-D2CC-535E-869639B0BA49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AD188CA-21A4-7C18-F0FC-CB30387BBBFC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B1321563-C3B6-9ABD-1223-948F33BF928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2A8A43C-119F-F0DC-BB75-1AE4694C83F4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6CD35BF-9950-1463-7D5E-73D49449925E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B39F5B2D-3E94-276D-E9BA-823EB2A77C75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A1EC22D5-61DC-4F4B-8E3C-9773DC8B7B2E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F130D185-505D-8DA9-E435-609B4D0F0E7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9EA53319-ADA5-AEF0-CA62-92271EECC2F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F0F30A6A-2A0E-AC53-1BCF-274FDB66CC6A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E153D9-3895-EC1A-8E93-4C685945DF48}"/>
              </a:ext>
            </a:extLst>
          </p:cNvPr>
          <p:cNvSpPr txBox="1"/>
          <p:nvPr/>
        </p:nvSpPr>
        <p:spPr>
          <a:xfrm>
            <a:off x="7262813" y="3284538"/>
            <a:ext cx="1016000" cy="81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dirty="0">
                <a:sym typeface="Wingdings" panose="05000000000000000000" pitchFamily="2" charset="2"/>
              </a:rPr>
              <a:t>EBITDA</a:t>
            </a:r>
            <a:r>
              <a:rPr lang="en-US" sz="700" noProof="0" dirty="0">
                <a:sym typeface="Wingdings" panose="05000000000000000000" pitchFamily="2" charset="2"/>
              </a:rPr>
              <a:t> (</a:t>
            </a:r>
            <a:r>
              <a:rPr lang="en-US" sz="700" dirty="0">
                <a:sym typeface="Wingdings" panose="05000000000000000000" pitchFamily="2" charset="2"/>
              </a:rPr>
              <a:t>EUR</a:t>
            </a:r>
            <a:r>
              <a:rPr lang="en-US" sz="700" noProof="0" dirty="0">
                <a:sym typeface="Wingdings" panose="05000000000000000000" pitchFamily="2" charset="2"/>
              </a:rPr>
              <a:t> 1m)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EBITDA margin (10%)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Digitization potential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Buy &amp; Build potential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Market fragmentation</a:t>
            </a:r>
          </a:p>
          <a:p>
            <a:pPr marL="171450" indent="-171450">
              <a:buFont typeface="Wingdings" panose="05000000000000000000" pitchFamily="2" charset="2"/>
              <a:buChar char="þ"/>
            </a:pPr>
            <a:endParaRPr lang="en-US" sz="800" noProof="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5C2B45-6F93-4266-31C9-38E33CE07875}"/>
              </a:ext>
            </a:extLst>
          </p:cNvPr>
          <p:cNvSpPr txBox="1"/>
          <p:nvPr/>
        </p:nvSpPr>
        <p:spPr>
          <a:xfrm>
            <a:off x="8185150" y="3284538"/>
            <a:ext cx="744538" cy="6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DACH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Majority stake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Asset light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ESG</a:t>
            </a:r>
          </a:p>
          <a:p>
            <a:endParaRPr lang="en-US" sz="800" noProof="0" dirty="0">
              <a:sym typeface="Wingdings" panose="05000000000000000000" pitchFamily="2" charset="2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64EC4AE-115E-59ED-09FE-38D672762A3F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7256463" y="33543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923AFD3-7198-5D48-B4D3-95A0449F9E79}"/>
              </a:ext>
            </a:extLst>
          </p:cNvPr>
          <p:cNvGrpSpPr>
            <a:grpSpLocks/>
          </p:cNvGrpSpPr>
          <p:nvPr/>
        </p:nvGrpSpPr>
        <p:grpSpPr>
          <a:xfrm>
            <a:off x="8677297" y="697914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08871089-09F8-1A77-1D07-65D3FECB593D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1617DA0-2357-52E1-8722-C412B3F79A35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9CC55AA-A363-3057-2B7E-071AEF2ABFE9}"/>
              </a:ext>
            </a:extLst>
          </p:cNvPr>
          <p:cNvGrpSpPr>
            <a:grpSpLocks/>
          </p:cNvGrpSpPr>
          <p:nvPr/>
        </p:nvGrpSpPr>
        <p:grpSpPr>
          <a:xfrm>
            <a:off x="9644647" y="616184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9AC9D405-85BB-4FC2-EF88-76352F2D00F4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F0008905-2A5B-ECBD-04B6-091CE8D17D3B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9B8D32-0DE6-FFF5-6114-A9B66D471EF1}"/>
              </a:ext>
            </a:extLst>
          </p:cNvPr>
          <p:cNvGrpSpPr>
            <a:grpSpLocks/>
          </p:cNvGrpSpPr>
          <p:nvPr/>
        </p:nvGrpSpPr>
        <p:grpSpPr>
          <a:xfrm>
            <a:off x="10095813" y="1017984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E87EEB08-1D27-A70C-BD52-82A21C7955A4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F62127AA-123B-6372-1978-AB67D8B3A208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rgbClr val="00B05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0F55FB-CCF6-55ED-AC16-3661DCC6DBE2}"/>
              </a:ext>
            </a:extLst>
          </p:cNvPr>
          <p:cNvGrpSpPr/>
          <p:nvPr/>
        </p:nvGrpSpPr>
        <p:grpSpPr>
          <a:xfrm>
            <a:off x="324419" y="1353293"/>
            <a:ext cx="1706564" cy="3312341"/>
            <a:chOff x="333375" y="1328436"/>
            <a:chExt cx="1706564" cy="3337173"/>
          </a:xfrm>
        </p:grpSpPr>
        <p:sp>
          <p:nvSpPr>
            <p:cNvPr id="10" name="Rechteck 5">
              <a:extLst>
                <a:ext uri="{FF2B5EF4-FFF2-40B4-BE49-F238E27FC236}">
                  <a16:creationId xmlns:a16="http://schemas.microsoft.com/office/drawing/2014/main" id="{F111E3DD-F525-16DC-ADF0-2F34B98D207A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333375" y="1328436"/>
              <a:ext cx="1706564" cy="33371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  <a:highlight>
                  <a:srgbClr val="FFFF00"/>
                </a:highlight>
              </a:endParaRP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Founded: </a:t>
              </a:r>
              <a:r>
                <a:rPr lang="en-US" sz="800" dirty="0">
                  <a:solidFill>
                    <a:schemeClr val="dk1"/>
                  </a:solidFill>
                </a:rPr>
                <a:t>1957</a:t>
              </a:r>
              <a:endParaRPr lang="en-US" sz="800" noProof="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Locations:</a:t>
              </a:r>
              <a:r>
                <a:rPr lang="en-US" sz="800" noProof="0" dirty="0">
                  <a:solidFill>
                    <a:schemeClr val="dk1"/>
                  </a:solidFill>
                </a:rPr>
                <a:t> </a:t>
              </a:r>
              <a:r>
                <a:rPr lang="en-US" sz="800" dirty="0"/>
                <a:t>Germany (Willich &amp; Neuss), Croatia, Turkey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Website</a:t>
              </a:r>
              <a:r>
                <a:rPr lang="en-US" sz="800" noProof="0" dirty="0">
                  <a:latin typeface="Calibri"/>
                </a:rPr>
                <a:t>: </a:t>
              </a:r>
              <a:r>
                <a:rPr lang="en-US" sz="800" dirty="0">
                  <a:hlinkClick r:id="rId90"/>
                </a:rPr>
                <a:t>https://www.huesges-gruppe.de/</a:t>
              </a:r>
              <a:endParaRPr lang="en-US" sz="80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Industry: </a:t>
              </a:r>
              <a:r>
                <a:rPr lang="en-US" sz="800" dirty="0"/>
                <a:t>Vehicle appraisal, inspection, and claims management services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Niche</a:t>
              </a:r>
              <a:r>
                <a:rPr lang="en-US" sz="800" noProof="0" dirty="0">
                  <a:solidFill>
                    <a:schemeClr val="dk1"/>
                  </a:solidFill>
                </a:rPr>
                <a:t>: </a:t>
              </a:r>
              <a:r>
                <a:rPr lang="en-US" sz="800" dirty="0"/>
                <a:t>Tech-enabled automotive assessment services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Revenue (FY24A): </a:t>
              </a:r>
              <a:r>
                <a:rPr lang="en-US" sz="800" noProof="0" dirty="0"/>
                <a:t>EUR </a:t>
              </a:r>
              <a:r>
                <a:rPr lang="en-US" sz="800" dirty="0"/>
                <a:t>18.0</a:t>
              </a:r>
              <a:r>
                <a:rPr lang="en-US" sz="800" noProof="0" dirty="0"/>
                <a:t>m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EBITDA (FY24A): </a:t>
              </a:r>
              <a:r>
                <a:rPr lang="en-US" sz="800" noProof="0" dirty="0">
                  <a:solidFill>
                    <a:schemeClr val="dk1"/>
                  </a:solidFill>
                </a:rPr>
                <a:t>EUR </a:t>
              </a:r>
              <a:r>
                <a:rPr lang="en-US" sz="800" dirty="0">
                  <a:solidFill>
                    <a:schemeClr val="dk1"/>
                  </a:solidFill>
                </a:rPr>
                <a:t>7.0</a:t>
              </a:r>
              <a:r>
                <a:rPr lang="en-US" sz="800" noProof="0" dirty="0">
                  <a:solidFill>
                    <a:schemeClr val="dk1"/>
                  </a:solidFill>
                </a:rPr>
                <a:t>m</a:t>
              </a:r>
              <a:r>
                <a:rPr lang="en-US" sz="800" noProof="0" dirty="0"/>
                <a:t> (39%)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Owners:</a:t>
              </a:r>
              <a:r>
                <a:rPr lang="en-US" sz="800" b="1" dirty="0"/>
                <a:t> </a:t>
              </a:r>
              <a:r>
                <a:rPr lang="en-US" sz="800" dirty="0"/>
                <a:t>Arndt </a:t>
              </a:r>
              <a:r>
                <a:rPr lang="en-US" sz="800" dirty="0" err="1"/>
                <a:t>Hüsges</a:t>
              </a:r>
              <a:r>
                <a:rPr lang="en-US" sz="800" dirty="0"/>
                <a:t> (70%) &amp; Bernd </a:t>
              </a:r>
              <a:r>
                <a:rPr lang="en-US" sz="800" dirty="0" err="1"/>
                <a:t>Hüsges</a:t>
              </a:r>
              <a:r>
                <a:rPr lang="en-US" sz="800" dirty="0"/>
                <a:t> (30%)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dirty="0"/>
                <a:t>Managers:</a:t>
              </a:r>
              <a:r>
                <a:rPr lang="en-US" sz="800" dirty="0"/>
                <a:t> Arndt </a:t>
              </a:r>
              <a:r>
                <a:rPr lang="en-US" sz="800" dirty="0" err="1"/>
                <a:t>Hüsges</a:t>
              </a:r>
              <a:r>
                <a:rPr lang="en-US" sz="800" dirty="0"/>
                <a:t> (CEO)</a:t>
              </a:r>
              <a:endParaRPr lang="en-US" sz="800" noProof="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No of employees:</a:t>
              </a:r>
              <a:r>
                <a:rPr lang="en-US" sz="800" noProof="0" dirty="0"/>
                <a:t> 150 HC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Source:</a:t>
              </a:r>
              <a:r>
                <a:rPr lang="en-US" sz="800" noProof="0" dirty="0"/>
                <a:t> CIM received on </a:t>
              </a:r>
              <a:r>
                <a:rPr lang="en-US" sz="800" dirty="0"/>
                <a:t>02.</a:t>
              </a:r>
              <a:r>
                <a:rPr lang="en-US" sz="800" noProof="0" dirty="0"/>
                <a:t>12.2025</a:t>
              </a:r>
            </a:p>
          </p:txBody>
        </p:sp>
        <p:cxnSp>
          <p:nvCxnSpPr>
            <p:cNvPr id="12" name="Gerader Verbinder 12">
              <a:extLst>
                <a:ext uri="{FF2B5EF4-FFF2-40B4-BE49-F238E27FC236}">
                  <a16:creationId xmlns:a16="http://schemas.microsoft.com/office/drawing/2014/main" id="{83BFE0A7-A212-4C9A-6516-001D04B8CF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3382" y="1557338"/>
              <a:ext cx="160655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7DE13E1-F96E-FBC4-E9DA-D59C4B9F10DC}"/>
                </a:ext>
              </a:extLst>
            </p:cNvPr>
            <p:cNvSpPr txBox="1"/>
            <p:nvPr/>
          </p:nvSpPr>
          <p:spPr>
            <a:xfrm>
              <a:off x="383382" y="1349961"/>
              <a:ext cx="1606550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Key Facts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0F6F6DD5-08D1-69AF-2CA0-4F7E01712814}"/>
              </a:ext>
            </a:extLst>
          </p:cNvPr>
          <p:cNvSpPr txBox="1"/>
          <p:nvPr/>
        </p:nvSpPr>
        <p:spPr>
          <a:xfrm>
            <a:off x="7260432" y="1356427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rgbClr val="223F6A"/>
                </a:solidFill>
              </a:rPr>
              <a:t>Investment</a:t>
            </a:r>
            <a:r>
              <a:rPr lang="en-US" sz="1100" b="1" noProof="0" dirty="0">
                <a:solidFill>
                  <a:srgbClr val="FF0000"/>
                </a:solidFill>
              </a:rPr>
              <a:t> </a:t>
            </a:r>
            <a:r>
              <a:rPr lang="en-US" sz="1100" b="1" noProof="0" dirty="0">
                <a:solidFill>
                  <a:srgbClr val="223F6A"/>
                </a:solidFill>
              </a:rPr>
              <a:t>Rationale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A60035D-169F-BD01-5B69-60101B6452F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256463" y="34718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2E389C2-60EC-2316-1273-DFC10B8780AB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256463" y="35893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182E04C-F920-FC4F-25CB-C57D50B2186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256463" y="37084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0238CCC-116C-A9B1-CF8C-EDABD1DDE604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256463" y="38211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1436F10-34D0-59E9-642A-25BD29E1729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164513" y="33543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949D2A0-B7DA-E75E-322A-05466628BD3E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164513" y="34718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E17C6FD-07E6-FD9F-2110-13CF8904ACB7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164513" y="35893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F0474ED-0778-3E45-BA32-FA0485E85908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164513" y="37084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36" name="Gerader Verbinder 17">
            <a:extLst>
              <a:ext uri="{FF2B5EF4-FFF2-40B4-BE49-F238E27FC236}">
                <a16:creationId xmlns:a16="http://schemas.microsoft.com/office/drawing/2014/main" id="{D3013C79-7CBF-27F8-FA38-366BE184F395}"/>
              </a:ext>
            </a:extLst>
          </p:cNvPr>
          <p:cNvCxnSpPr>
            <a:cxnSpLocks/>
          </p:cNvCxnSpPr>
          <p:nvPr/>
        </p:nvCxnSpPr>
        <p:spPr bwMode="auto">
          <a:xfrm>
            <a:off x="7251303" y="3265777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69758909-7478-CBBB-DADE-55862CF2B547}"/>
              </a:ext>
            </a:extLst>
          </p:cNvPr>
          <p:cNvSpPr txBox="1"/>
          <p:nvPr/>
        </p:nvSpPr>
        <p:spPr>
          <a:xfrm>
            <a:off x="7260432" y="3065548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rgbClr val="223F6A"/>
                </a:solidFill>
              </a:rPr>
              <a:t>Investment Criteria</a:t>
            </a:r>
          </a:p>
        </p:txBody>
      </p:sp>
      <p:sp>
        <p:nvSpPr>
          <p:cNvPr id="138" name="Rechteck 5">
            <a:extLst>
              <a:ext uri="{FF2B5EF4-FFF2-40B4-BE49-F238E27FC236}">
                <a16:creationId xmlns:a16="http://schemas.microsoft.com/office/drawing/2014/main" id="{5BB71CF7-7650-F3E4-49B8-F562688AEB0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190361" y="1339850"/>
            <a:ext cx="2346736" cy="16696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i="1" noProof="0" dirty="0"/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provides vehicle appraisal, inspection, and claims-related services through a combination of physical assessments, digital workflows, and AI-supported scanning technology</a:t>
            </a:r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The company comprises the </a:t>
            </a:r>
            <a:r>
              <a:rPr lang="en-US" sz="800" dirty="0" err="1"/>
              <a:t>Hüsges</a:t>
            </a:r>
            <a:r>
              <a:rPr lang="en-US" sz="800" dirty="0"/>
              <a:t> Group and </a:t>
            </a:r>
            <a:r>
              <a:rPr lang="en-US" sz="800" dirty="0" err="1"/>
              <a:t>Instavalo</a:t>
            </a:r>
            <a:r>
              <a:rPr lang="en-US" sz="800" dirty="0"/>
              <a:t>, covering traditional appraisal activities as well as automated, scanner-based vehicle evaluations</a:t>
            </a:r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Operations span Germany, Croatia, and Turkey with a workforce of roughly 150 employees</a:t>
            </a:r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D608E8FF-73F4-BFB6-A072-70FACBE3569A}"/>
              </a:ext>
            </a:extLst>
          </p:cNvPr>
          <p:cNvCxnSpPr>
            <a:cxnSpLocks/>
          </p:cNvCxnSpPr>
          <p:nvPr/>
        </p:nvCxnSpPr>
        <p:spPr bwMode="auto">
          <a:xfrm>
            <a:off x="2241699" y="15845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F31239F6-7122-8938-2F39-02F349D4F079}"/>
              </a:ext>
            </a:extLst>
          </p:cNvPr>
          <p:cNvSpPr txBox="1"/>
          <p:nvPr/>
        </p:nvSpPr>
        <p:spPr>
          <a:xfrm>
            <a:off x="2241698" y="1377154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chemeClr val="tx2"/>
                </a:solidFill>
              </a:rPr>
              <a:t>Description</a:t>
            </a:r>
            <a:endParaRPr lang="en-US" sz="800" b="1" noProof="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0AAFF5-AF40-FF9B-6516-4711CE37334B}"/>
              </a:ext>
            </a:extLst>
          </p:cNvPr>
          <p:cNvGrpSpPr/>
          <p:nvPr/>
        </p:nvGrpSpPr>
        <p:grpSpPr>
          <a:xfrm>
            <a:off x="4702404" y="1339849"/>
            <a:ext cx="2346736" cy="1673225"/>
            <a:chOff x="4736690" y="1307456"/>
            <a:chExt cx="2346736" cy="1610896"/>
          </a:xfrm>
        </p:grpSpPr>
        <p:sp>
          <p:nvSpPr>
            <p:cNvPr id="15" name="Rechteck 5">
              <a:extLst>
                <a:ext uri="{FF2B5EF4-FFF2-40B4-BE49-F238E27FC236}">
                  <a16:creationId xmlns:a16="http://schemas.microsoft.com/office/drawing/2014/main" id="{08F602E6-555C-764C-5F7E-CA0E3FB3AC44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4736690" y="1307456"/>
              <a:ext cx="2346736" cy="16108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 marL="88900" indent="-84138" algn="just">
                <a:spcAft>
                  <a:spcPts val="3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US" sz="800" dirty="0"/>
                <a:t>The company offers a broad range of vehicle appraisal, inspection, and claims-related services,</a:t>
              </a:r>
            </a:p>
            <a:p>
              <a:pPr marL="88900" indent="-84138" algn="just">
                <a:spcAft>
                  <a:spcPts val="3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US" sz="800" noProof="0" dirty="0"/>
                <a:t>Revenue Split by Service:</a:t>
              </a:r>
            </a:p>
          </p:txBody>
        </p:sp>
        <p:cxnSp>
          <p:nvCxnSpPr>
            <p:cNvPr id="16" name="Gerader Verbinder 12">
              <a:extLst>
                <a:ext uri="{FF2B5EF4-FFF2-40B4-BE49-F238E27FC236}">
                  <a16:creationId xmlns:a16="http://schemas.microsoft.com/office/drawing/2014/main" id="{5360A02B-F1AD-9E9F-CD92-92EDB80146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88028" y="1552137"/>
              <a:ext cx="22092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23B066-2ABE-08F7-D584-FA4DEA8A49FD}"/>
                </a:ext>
              </a:extLst>
            </p:cNvPr>
            <p:cNvSpPr txBox="1"/>
            <p:nvPr/>
          </p:nvSpPr>
          <p:spPr>
            <a:xfrm>
              <a:off x="4788027" y="1344760"/>
              <a:ext cx="220920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Product &amp; Service Portfolio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8544B9B-DE71-C568-B89A-09F2B95BDBD0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7269163" y="28495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22D64D-C14C-640D-A714-7F36430F4992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164513" y="28448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D62038-C3E8-7774-58E7-0262A821E42F}"/>
              </a:ext>
            </a:extLst>
          </p:cNvPr>
          <p:cNvSpPr txBox="1"/>
          <p:nvPr/>
        </p:nvSpPr>
        <p:spPr>
          <a:xfrm>
            <a:off x="7262813" y="2790379"/>
            <a:ext cx="857097" cy="32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Portfolio CVII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Vertical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4B107C-E8C5-FD53-34FE-1D3E58B86046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7269163" y="29670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1694C7-795A-9312-BA53-CE4C1772372C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164513" y="296227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ED3C24-687C-9273-8C80-399170383014}"/>
              </a:ext>
            </a:extLst>
          </p:cNvPr>
          <p:cNvSpPr txBox="1"/>
          <p:nvPr/>
        </p:nvSpPr>
        <p:spPr>
          <a:xfrm>
            <a:off x="8190823" y="2790379"/>
            <a:ext cx="620828" cy="32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Add-On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Horizontal</a:t>
            </a:r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1046D077-C1A5-4B21-0220-A86CAEE39F5C}"/>
              </a:ext>
            </a:extLst>
          </p:cNvPr>
          <p:cNvCxnSpPr>
            <a:cxnSpLocks/>
          </p:cNvCxnSpPr>
          <p:nvPr/>
        </p:nvCxnSpPr>
        <p:spPr bwMode="auto">
          <a:xfrm>
            <a:off x="2241699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0B19D0-133D-07E9-DC98-F7C5D992F636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chemeClr val="tx2"/>
                </a:solidFill>
              </a:rPr>
              <a:t>Customer Structure &amp; Competition</a:t>
            </a:r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266B839B-F9E2-E28C-4C4D-B698EF2F695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190361" y="3058088"/>
            <a:ext cx="2346736" cy="159181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i="1" noProof="0" dirty="0"/>
          </a:p>
          <a:p>
            <a:pPr marL="4762" indent="0" algn="just" fontAlgn="base">
              <a:spcAft>
                <a:spcPts val="600"/>
              </a:spcAft>
              <a:buClr>
                <a:schemeClr val="tx2"/>
              </a:buClr>
              <a:buNone/>
            </a:pPr>
            <a:endParaRPr lang="en-US" sz="800" noProof="0" dirty="0"/>
          </a:p>
          <a:p>
            <a:pPr marL="88900" indent="-84138" algn="just" fontAlgn="base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</p:txBody>
      </p:sp>
      <p:sp>
        <p:nvSpPr>
          <p:cNvPr id="98" name="AutoShape 12" descr="MAD Handels GmbH">
            <a:extLst>
              <a:ext uri="{FF2B5EF4-FFF2-40B4-BE49-F238E27FC236}">
                <a16:creationId xmlns:a16="http://schemas.microsoft.com/office/drawing/2014/main" id="{6C3E14BE-D085-4AA8-8989-298A706F46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F58C01D-F91B-6590-BAF1-8289434CC87C}"/>
              </a:ext>
            </a:extLst>
          </p:cNvPr>
          <p:cNvSpPr txBox="1"/>
          <p:nvPr/>
        </p:nvSpPr>
        <p:spPr>
          <a:xfrm>
            <a:off x="2210998" y="3315885"/>
            <a:ext cx="2346736" cy="746358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5725" indent="-85725"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Serves institutional clients across the insurance, leasing, fleet, and automotive sectors and operates within a fragmented appraisal market characterized by numerous small providers</a:t>
            </a:r>
          </a:p>
          <a:p>
            <a:pPr marL="85725" indent="-85725"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Selected Customers:</a:t>
            </a:r>
          </a:p>
        </p:txBody>
      </p:sp>
      <p:graphicFrame>
        <p:nvGraphicFramePr>
          <p:cNvPr id="204" name="Chart 203">
            <a:extLst>
              <a:ext uri="{FF2B5EF4-FFF2-40B4-BE49-F238E27FC236}">
                <a16:creationId xmlns:a16="http://schemas.microsoft.com/office/drawing/2014/main" id="{8BA6150D-BAD3-8C0D-6C80-1ED3A3DD21D6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553588539"/>
              </p:ext>
            </p:extLst>
          </p:nvPr>
        </p:nvGraphicFramePr>
        <p:xfrm>
          <a:off x="4437063" y="1960563"/>
          <a:ext cx="1554162" cy="111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1"/>
          </a:graphicData>
        </a:graphic>
      </p:graphicFrame>
      <p:sp>
        <p:nvSpPr>
          <p:cNvPr id="1075" name="Rectangle 1074">
            <a:extLst>
              <a:ext uri="{FF2B5EF4-FFF2-40B4-BE49-F238E27FC236}">
                <a16:creationId xmlns:a16="http://schemas.microsoft.com/office/drawing/2014/main" id="{B327C441-F11C-04C3-749E-57456630DB6F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4892675" y="2433638"/>
            <a:ext cx="114300" cy="8255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B15BC48-BEE2-49A5-AB87-5DDB639C8BAD}" type="datetime'''''''''''''''''''''''''''''''3''''''''''''''''''%'''''''''''">
              <a:rPr lang="en-US" altLang="en-US" sz="6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3%</a:t>
            </a:fld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9136E14-2D9C-C296-97B1-9803F4CE8BC0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070475" y="2227263"/>
            <a:ext cx="114300" cy="8255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A512192-789A-4070-86B4-58934423658D}" type="datetime'''''4''''''''''%'">
              <a:rPr lang="en-US" altLang="en-US" sz="600" smtClean="0">
                <a:solidFill>
                  <a:schemeClr val="bg1"/>
                </a:solidFill>
                <a:effectLst/>
              </a:rPr>
              <a:pPr/>
              <a:t>4%</a:t>
            </a:fld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BC99456-37A3-0511-AAB6-43CE58CE649F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5126038" y="2309813"/>
            <a:ext cx="114300" cy="825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5DA14EE-64EC-499C-9D85-333D10012ABD}" type="datetime'''''''''''''''''1''''''''%'">
              <a:rPr lang="en-US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1%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C2181E8-FAA6-F4CD-3260-000C6BE61C6E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5146675" y="2392363"/>
            <a:ext cx="114300" cy="82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70E5175-5D23-418C-A55B-35541FC02FD8}" type="datetime'''''''''''''''''''''''''''''''''''''''''''''2''''''%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2%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FB45FD-BB15-966A-8ACC-83F3F38AD4C6}"/>
              </a:ext>
            </a:extLst>
          </p:cNvPr>
          <p:cNvSpPr/>
          <p:nvPr/>
        </p:nvSpPr>
        <p:spPr>
          <a:xfrm>
            <a:off x="4240055" y="4729519"/>
            <a:ext cx="108000" cy="72001"/>
          </a:xfrm>
          <a:prstGeom prst="rect">
            <a:avLst/>
          </a:prstGeom>
          <a:solidFill>
            <a:srgbClr val="223F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88" name="Rechteck 187">
            <a:extLst>
              <a:ext uri="{FF2B5EF4-FFF2-40B4-BE49-F238E27FC236}">
                <a16:creationId xmlns:a16="http://schemas.microsoft.com/office/drawing/2014/main" id="{9D91253F-05E4-1530-45AC-920E28820761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664200" y="2057400"/>
            <a:ext cx="107950" cy="809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D20367E5-69EA-0D9F-A225-E60A7E78AA1A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5664200" y="2200275"/>
            <a:ext cx="107950" cy="8096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5BF5BF9-6417-CAF2-3AC7-F75CF68E8BBA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664200" y="2343150"/>
            <a:ext cx="107950" cy="80963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EF2188C-1481-CA2A-3BDA-7BDE5021624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664200" y="2486025"/>
            <a:ext cx="107950" cy="80963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EA09F4E-A859-D59B-899C-2250A6E98F31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5664200" y="2628900"/>
            <a:ext cx="107950" cy="80963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FA2F22A-8546-2FD3-1635-372CF9AC5FD3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5664200" y="2771775"/>
            <a:ext cx="107950" cy="8096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36566D6-7339-A8DA-67BD-15910AAF6CF7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5664200" y="2914650"/>
            <a:ext cx="107950" cy="809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82" name="Rechteck 181">
            <a:extLst>
              <a:ext uri="{FF2B5EF4-FFF2-40B4-BE49-F238E27FC236}">
                <a16:creationId xmlns:a16="http://schemas.microsoft.com/office/drawing/2014/main" id="{D38538D7-3F82-4091-ABFB-6B9E624DAE4C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5822950" y="2054225"/>
            <a:ext cx="57467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ABD4D51B-F391-41B3-9DEE-736459261465}" type="datetime'''Li''a''bi''''''l''i''t''''''''y App''r''''''aisa''ls'''''''">
              <a:rPr lang="en-US" altLang="en-US" sz="600" smtClean="0">
                <a:solidFill>
                  <a:schemeClr val="tx1"/>
                </a:solidFill>
              </a:rPr>
              <a:pPr/>
              <a:t>Liability Appraisals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85" name="Rechteck 184">
            <a:extLst>
              <a:ext uri="{FF2B5EF4-FFF2-40B4-BE49-F238E27FC236}">
                <a16:creationId xmlns:a16="http://schemas.microsoft.com/office/drawing/2014/main" id="{4D7D01E0-0FEF-8603-0B27-52625A1FE01D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5822950" y="2197100"/>
            <a:ext cx="113982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63538DD-4EED-4AE8-AE89-F982FE31DA73}" type="datetime'C''om''pr''e''''he''nsiv''e'''' ''Insu''r''''ance Appraisals'">
              <a:rPr lang="en-US" altLang="en-US" sz="600" smtClean="0">
                <a:solidFill>
                  <a:schemeClr val="tx1"/>
                </a:solidFill>
              </a:rPr>
              <a:pPr/>
              <a:t>Comprehensive Insurance Appraisals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97" name="Rechteck 184">
            <a:extLst>
              <a:ext uri="{FF2B5EF4-FFF2-40B4-BE49-F238E27FC236}">
                <a16:creationId xmlns:a16="http://schemas.microsoft.com/office/drawing/2014/main" id="{F56D7B7A-84FF-D96C-C353-AEA33FD46FC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5822950" y="2339975"/>
            <a:ext cx="963613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C1309B2-2A69-4A11-84EF-E84DEDB11FA0}" type="datetime'''''A''ccident'''' P''''''''reven''t''''''ion'' I''nspection'">
              <a:rPr lang="en-US" altLang="en-US" sz="600" smtClean="0">
                <a:solidFill>
                  <a:schemeClr val="tx1"/>
                </a:solidFill>
              </a:rPr>
              <a:pPr/>
              <a:t>Accident Prevention Inspection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04" name="Rechteck 184">
            <a:extLst>
              <a:ext uri="{FF2B5EF4-FFF2-40B4-BE49-F238E27FC236}">
                <a16:creationId xmlns:a16="http://schemas.microsoft.com/office/drawing/2014/main" id="{F018E12C-D31C-D555-FAD8-B14778E49586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5822950" y="2482850"/>
            <a:ext cx="87630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3379FF6-6A48-43C0-8BDB-A31B68F99A0F}" type="datetime'D''imi''n''ish''ed'''''''' V''alu''''e'' ''''''Apprais''al''s'">
              <a:rPr lang="en-US" altLang="en-US" sz="600" smtClean="0">
                <a:solidFill>
                  <a:schemeClr val="tx1"/>
                </a:solidFill>
              </a:rPr>
              <a:pPr/>
              <a:t>Diminished Value Appraisals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1" name="Rechteck 184">
            <a:extLst>
              <a:ext uri="{FF2B5EF4-FFF2-40B4-BE49-F238E27FC236}">
                <a16:creationId xmlns:a16="http://schemas.microsoft.com/office/drawing/2014/main" id="{7E4F2863-C999-1C6F-1393-9D765C7CF33A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5822950" y="2625725"/>
            <a:ext cx="576263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B4CEBB5-817B-4C3C-8D6F-8E38DB66DD1A}" type="datetime'H''ü''s''g''es ''''''''''On''e'' ''''''(''S''a''''aS'''''')'">
              <a:rPr lang="en-US" altLang="en-US" sz="600" smtClean="0">
                <a:solidFill>
                  <a:schemeClr val="tx1"/>
                </a:solidFill>
              </a:rPr>
              <a:pPr/>
              <a:t>Hüsges One (SaaS)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8" name="Rechteck 184">
            <a:extLst>
              <a:ext uri="{FF2B5EF4-FFF2-40B4-BE49-F238E27FC236}">
                <a16:creationId xmlns:a16="http://schemas.microsoft.com/office/drawing/2014/main" id="{434EA436-8CCA-827D-BBF7-45CDB8CDB42D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5822950" y="2768600"/>
            <a:ext cx="95567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1E01B75-479D-4D78-919A-E4398317B8DB}" type="datetime'Rev''i''''ew of Supp''o''rti''n''g Evid''e''''n''''c''e'''''''">
              <a:rPr lang="en-US" altLang="en-US" sz="600" smtClean="0">
                <a:solidFill>
                  <a:schemeClr val="tx1"/>
                </a:solidFill>
              </a:rPr>
              <a:pPr/>
              <a:t>Review of Supporting Evidence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00" name="Rechteck 184">
            <a:extLst>
              <a:ext uri="{FF2B5EF4-FFF2-40B4-BE49-F238E27FC236}">
                <a16:creationId xmlns:a16="http://schemas.microsoft.com/office/drawing/2014/main" id="{7D487DB1-6040-8C05-CF2B-CBC690A2B999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5822950" y="2911475"/>
            <a:ext cx="61277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75D79621-AC69-445C-A151-A577D312276C}" type="datetime'''''''''''''A''''I'''' Scan''n''''er'' Busine''''''s''''''''s'">
              <a:rPr lang="en-US" altLang="en-US" sz="600" smtClean="0">
                <a:solidFill>
                  <a:schemeClr val="tx1"/>
                </a:solidFill>
              </a:rPr>
              <a:pPr/>
              <a:t>AI Scanner Business</a:t>
            </a:fld>
            <a:endParaRPr lang="en-US" sz="600" dirty="0">
              <a:solidFill>
                <a:schemeClr val="tx1"/>
              </a:solidFill>
            </a:endParaRPr>
          </a:p>
        </p:txBody>
      </p: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3CA6DAC2-A445-4A66-8941-C73CB7E11DC6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326747" y="4119349"/>
            <a:ext cx="484188" cy="139914"/>
          </a:xfrm>
          <a:prstGeom prst="rect">
            <a:avLst/>
          </a:prstGeom>
        </p:spPr>
      </p:pic>
      <p:pic>
        <p:nvPicPr>
          <p:cNvPr id="1042" name="Picture 1041">
            <a:extLst>
              <a:ext uri="{FF2B5EF4-FFF2-40B4-BE49-F238E27FC236}">
                <a16:creationId xmlns:a16="http://schemas.microsoft.com/office/drawing/2014/main" id="{18E450A6-8D81-F1E8-DE14-B227192AEC1B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898272" y="4074310"/>
            <a:ext cx="499640" cy="123738"/>
          </a:xfrm>
          <a:prstGeom prst="rect">
            <a:avLst/>
          </a:prstGeom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C3584DC6-A20B-9AA8-7366-D46292232985}"/>
              </a:ext>
            </a:extLst>
          </p:cNvPr>
          <p:cNvPicPr>
            <a:picLocks noChangeAspect="1"/>
          </p:cNvPicPr>
          <p:nvPr/>
        </p:nvPicPr>
        <p:blipFill>
          <a:blip r:embed="rId9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9965" y="4097329"/>
            <a:ext cx="639761" cy="123094"/>
          </a:xfrm>
          <a:prstGeom prst="rect">
            <a:avLst/>
          </a:prstGeom>
        </p:spPr>
      </p:pic>
      <p:pic>
        <p:nvPicPr>
          <p:cNvPr id="1047" name="Picture 10">
            <a:extLst>
              <a:ext uri="{FF2B5EF4-FFF2-40B4-BE49-F238E27FC236}">
                <a16:creationId xmlns:a16="http://schemas.microsoft.com/office/drawing/2014/main" id="{00FA07DB-A672-387C-FB89-7860FC960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361" y="4190156"/>
            <a:ext cx="914400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12" descr="EUROGARANT AutoService AG">
            <a:extLst>
              <a:ext uri="{FF2B5EF4-FFF2-40B4-BE49-F238E27FC236}">
                <a16:creationId xmlns:a16="http://schemas.microsoft.com/office/drawing/2014/main" id="{B25DEEC3-75EF-1A81-4A16-D31CF3028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967" y="4291977"/>
            <a:ext cx="650437" cy="13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14" descr="Fleet Management Blog | FIE">
            <a:extLst>
              <a:ext uri="{FF2B5EF4-FFF2-40B4-BE49-F238E27FC236}">
                <a16:creationId xmlns:a16="http://schemas.microsoft.com/office/drawing/2014/main" id="{9B8E0B0F-4792-6485-2F19-AA5814DA3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704" y="4265379"/>
            <a:ext cx="671145" cy="22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16">
            <a:extLst>
              <a:ext uri="{FF2B5EF4-FFF2-40B4-BE49-F238E27FC236}">
                <a16:creationId xmlns:a16="http://schemas.microsoft.com/office/drawing/2014/main" id="{3EFA598A-75E3-CC13-D5F9-56D3A56F3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977" y="4480340"/>
            <a:ext cx="472612" cy="14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3D8DD3A2-B849-4E46-C6D8-33ABEAB6F950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3345963" y="4508498"/>
            <a:ext cx="436195" cy="117142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DB52DC76-51F6-E8BF-B23D-CEAE26157F66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6216650" y="4071938"/>
            <a:ext cx="1555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2481AC6-C2C6-4DEE-A2F5-2DA9AC49DE8F}" type="datetime'''79''''''''’''''5''''''''4''''''5''.''''''''0'''">
              <a:rPr lang="en-US" sz="600" noProof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79’545.0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740EF67-F9EF-3E0D-4FDB-927132B412B6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5033963" y="4071938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600" noProof="0" dirty="0">
              <a:solidFill>
                <a:schemeClr val="tx1"/>
              </a:solidFill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88EE5C3-8D3B-29DE-1B97-43413A55E23A}"/>
              </a:ext>
            </a:extLst>
          </p:cNvPr>
          <p:cNvGrpSpPr/>
          <p:nvPr>
            <p:custDataLst>
              <p:tags r:id="rId46"/>
            </p:custDataLst>
          </p:nvPr>
        </p:nvGrpSpPr>
        <p:grpSpPr>
          <a:xfrm>
            <a:off x="4702404" y="3058088"/>
            <a:ext cx="2346736" cy="1594570"/>
            <a:chOff x="4740658" y="3064743"/>
            <a:chExt cx="2346736" cy="1594570"/>
          </a:xfrm>
        </p:grpSpPr>
        <p:sp>
          <p:nvSpPr>
            <p:cNvPr id="208" name="Rechteck 5">
              <a:extLst>
                <a:ext uri="{FF2B5EF4-FFF2-40B4-BE49-F238E27FC236}">
                  <a16:creationId xmlns:a16="http://schemas.microsoft.com/office/drawing/2014/main" id="{73C31BA3-562E-020D-E79A-2DD745E8428E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4740658" y="3064743"/>
              <a:ext cx="2346736" cy="15945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endParaRPr lang="en-US" sz="800" i="1" noProof="0" dirty="0"/>
            </a:p>
            <a:p>
              <a:pPr marL="4763" indent="0">
                <a:buClr>
                  <a:schemeClr val="tx2"/>
                </a:buClr>
                <a:buNone/>
              </a:pPr>
              <a:endParaRPr lang="en-US" sz="900" noProof="0" dirty="0"/>
            </a:p>
          </p:txBody>
        </p:sp>
        <p:cxnSp>
          <p:nvCxnSpPr>
            <p:cNvPr id="209" name="Gerader Verbinder 12">
              <a:extLst>
                <a:ext uri="{FF2B5EF4-FFF2-40B4-BE49-F238E27FC236}">
                  <a16:creationId xmlns:a16="http://schemas.microsoft.com/office/drawing/2014/main" id="{1EDECFF2-889B-5093-E10C-AACFB4F8BCD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91996" y="3309424"/>
              <a:ext cx="22092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2449D44-CAE2-BFD6-EA71-0702A72E5A23}"/>
                </a:ext>
              </a:extLst>
            </p:cNvPr>
            <p:cNvSpPr txBox="1"/>
            <p:nvPr/>
          </p:nvSpPr>
          <p:spPr>
            <a:xfrm>
              <a:off x="4791995" y="3102047"/>
              <a:ext cx="220920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Key Financials</a:t>
              </a:r>
              <a:endParaRPr lang="en-US" sz="600" b="1" noProof="0" dirty="0">
                <a:solidFill>
                  <a:schemeClr val="tx2"/>
                </a:solidFill>
              </a:endParaRPr>
            </a:p>
          </p:txBody>
        </p:sp>
      </p:grpSp>
      <p:sp>
        <p:nvSpPr>
          <p:cNvPr id="211" name="Rechteck 5">
            <a:extLst>
              <a:ext uri="{FF2B5EF4-FFF2-40B4-BE49-F238E27FC236}">
                <a16:creationId xmlns:a16="http://schemas.microsoft.com/office/drawing/2014/main" id="{1725030F-0068-B7AF-4B54-F6A29637C78F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4740561" y="3287908"/>
            <a:ext cx="383253" cy="148019"/>
          </a:xfrm>
          <a:prstGeom prst="rect">
            <a:avLst/>
          </a:prstGeom>
          <a:noFill/>
          <a:ln w="6350">
            <a:noFill/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 marL="0" indent="4763">
              <a:lnSpc>
                <a:spcPct val="100000"/>
              </a:lnSpc>
              <a:buNone/>
            </a:pPr>
            <a:r>
              <a:rPr lang="en-US" sz="600" i="1" noProof="0" dirty="0"/>
              <a:t>in EURm</a:t>
            </a:r>
            <a:endParaRPr lang="en-US" sz="800" i="1" noProof="0" dirty="0"/>
          </a:p>
        </p:txBody>
      </p:sp>
      <p:graphicFrame>
        <p:nvGraphicFramePr>
          <p:cNvPr id="1120" name="Chart 1119">
            <a:extLst>
              <a:ext uri="{FF2B5EF4-FFF2-40B4-BE49-F238E27FC236}">
                <a16:creationId xmlns:a16="http://schemas.microsoft.com/office/drawing/2014/main" id="{7E5ED5A9-8849-F853-30F5-4297D12C5A5D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2739374832"/>
              </p:ext>
            </p:extLst>
          </p:nvPr>
        </p:nvGraphicFramePr>
        <p:xfrm>
          <a:off x="5053013" y="3673475"/>
          <a:ext cx="1997075" cy="585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069FA05-CA04-FB4C-F689-242CE0F82E16}"/>
              </a:ext>
            </a:extLst>
          </p:cNvPr>
          <p:cNvCxnSpPr>
            <a:cxnSpLocks/>
          </p:cNvCxnSpPr>
          <p:nvPr>
            <p:custDataLst>
              <p:tags r:id="rId49"/>
            </p:custDataLst>
          </p:nvPr>
        </p:nvCxnSpPr>
        <p:spPr bwMode="auto">
          <a:xfrm flipV="1">
            <a:off x="5218114" y="3498850"/>
            <a:ext cx="523875" cy="523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FAA885E-1D3C-355C-83CD-47169B5DC936}"/>
              </a:ext>
            </a:extLst>
          </p:cNvPr>
          <p:cNvCxnSpPr>
            <a:cxnSpLocks/>
          </p:cNvCxnSpPr>
          <p:nvPr>
            <p:custDataLst>
              <p:tags r:id="rId50"/>
            </p:custDataLst>
          </p:nvPr>
        </p:nvCxnSpPr>
        <p:spPr bwMode="auto">
          <a:xfrm flipV="1">
            <a:off x="5741989" y="3417888"/>
            <a:ext cx="1046163" cy="809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3F15BA7-DBE2-524B-1706-8D71D74A149F}"/>
              </a:ext>
            </a:extLst>
          </p:cNvPr>
          <p:cNvCxnSpPr/>
          <p:nvPr>
            <p:custDataLst>
              <p:tags r:id="rId51"/>
            </p:custDataLst>
          </p:nvPr>
        </p:nvCxnSpPr>
        <p:spPr bwMode="auto">
          <a:xfrm>
            <a:off x="5265738" y="4014788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822C281-D7D5-A0DC-E2AB-7C095A7A2A52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5402263" y="3975100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44B9672-DC18-4970-BA4A-6E21BE0E49A3}" type="datetime'''''''''''''''16''.''''''''''''''''''''''''''''''''''''''7'''">
              <a:rPr lang="en-US" altLang="en-US" sz="600" smtClean="0">
                <a:solidFill>
                  <a:schemeClr val="bg1"/>
                </a:solidFill>
                <a:effectLst/>
              </a:rPr>
              <a:pPr/>
              <a:t>16.7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912957A2-ECC4-CBED-817A-DE0E02AEF037}"/>
              </a:ext>
            </a:extLst>
          </p:cNvPr>
          <p:cNvSpPr/>
          <p:nvPr>
            <p:custDataLst>
              <p:tags r:id="rId53"/>
            </p:custDataLst>
          </p:nvPr>
        </p:nvSpPr>
        <p:spPr bwMode="gray">
          <a:xfrm>
            <a:off x="5514975" y="4083050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4F6BE2A-FFDB-4021-8047-3CCBD129C66F}" type="datetime'''''''''''5.''''''''''''''''''5'''">
              <a:rPr lang="en-US" altLang="en-US" sz="600" smtClean="0">
                <a:solidFill>
                  <a:schemeClr val="tx1"/>
                </a:solidFill>
                <a:effectLst/>
              </a:rPr>
              <a:pPr/>
              <a:t>5.5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1EBEAFBE-60AA-B2FD-FD40-48B820422D62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5422900" y="3692525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9CF05D3-47A0-4371-9F0B-031F33F0F1BA}" type="datetime'''''''''''''''''''''''''''''''''3''''''''''2.''''''''8''''%'''">
              <a:rPr lang="en-US" altLang="en-US" sz="600" smtClean="0">
                <a:solidFill>
                  <a:schemeClr val="tx1"/>
                </a:solidFill>
                <a:effectLst/>
              </a:rPr>
              <a:pPr/>
              <a:t>32.8%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0D846506-3BAC-CDF7-7D73-D4BCFB59DDA8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5461000" y="4237038"/>
            <a:ext cx="134938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DB5C42C-5B6C-4300-8A7D-85B4D9F1E234}" type="datetime'''2''''''''''''''''''3''''''''''A'''">
              <a:rPr lang="en-US" altLang="en-US" sz="600" b="1" smtClean="0">
                <a:solidFill>
                  <a:schemeClr val="tx1"/>
                </a:solidFill>
              </a:rPr>
              <a:pPr/>
              <a:t>23A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23" name="Rectangle 1051">
            <a:extLst>
              <a:ext uri="{FF2B5EF4-FFF2-40B4-BE49-F238E27FC236}">
                <a16:creationId xmlns:a16="http://schemas.microsoft.com/office/drawing/2014/main" id="{C437BE50-6EAB-2C92-C4DD-C4CB6E81549C}"/>
              </a:ext>
            </a:extLst>
          </p:cNvPr>
          <p:cNvSpPr/>
          <p:nvPr>
            <p:custDataLst>
              <p:tags r:id="rId56"/>
            </p:custDataLst>
          </p:nvPr>
        </p:nvSpPr>
        <p:spPr bwMode="gray">
          <a:xfrm>
            <a:off x="5664200" y="3965575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4E1F4A2-24FC-4317-B676-087B5BC74B78}" type="datetime'''''1''''''''''''''7''''''''''''''''''''''''''''''.''''7'''''">
              <a:rPr lang="en-US" altLang="en-US" sz="600" smtClean="0">
                <a:solidFill>
                  <a:schemeClr val="bg1"/>
                </a:solidFill>
                <a:effectLst/>
              </a:rPr>
              <a:pPr/>
              <a:t>17.7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24" name="Rectangle 86">
            <a:extLst>
              <a:ext uri="{FF2B5EF4-FFF2-40B4-BE49-F238E27FC236}">
                <a16:creationId xmlns:a16="http://schemas.microsoft.com/office/drawing/2014/main" id="{09207051-ECB3-0C0A-2AD5-6354ABB524B5}"/>
              </a:ext>
            </a:extLst>
          </p:cNvPr>
          <p:cNvSpPr/>
          <p:nvPr>
            <p:custDataLst>
              <p:tags r:id="rId57"/>
            </p:custDataLst>
          </p:nvPr>
        </p:nvSpPr>
        <p:spPr bwMode="gray">
          <a:xfrm>
            <a:off x="5776913" y="4073525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9AC19A-D56A-4C4A-B73F-028A43A7A429}" type="datetime'''6''''''''''''''''''.''''''4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6.4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25" name="Rectangle 1052">
            <a:extLst>
              <a:ext uri="{FF2B5EF4-FFF2-40B4-BE49-F238E27FC236}">
                <a16:creationId xmlns:a16="http://schemas.microsoft.com/office/drawing/2014/main" id="{C0926D83-DB03-225B-3351-58A483E38B7F}"/>
              </a:ext>
            </a:extLst>
          </p:cNvPr>
          <p:cNvSpPr/>
          <p:nvPr>
            <p:custDataLst>
              <p:tags r:id="rId58"/>
            </p:custDataLst>
          </p:nvPr>
        </p:nvSpPr>
        <p:spPr bwMode="gray">
          <a:xfrm>
            <a:off x="5684838" y="3665538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C1E7973-B2AC-4528-8BCC-95DBE8578CED}" type="datetime'''''''''''''''''''''3''6''''''.''''''''''''''''''1''''%'''">
              <a:rPr lang="en-US" altLang="en-US" sz="600" smtClean="0">
                <a:solidFill>
                  <a:schemeClr val="tx1"/>
                </a:solidFill>
                <a:effectLst/>
              </a:rPr>
              <a:pPr/>
              <a:t>36.1%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26" name="Rectangle 141">
            <a:extLst>
              <a:ext uri="{FF2B5EF4-FFF2-40B4-BE49-F238E27FC236}">
                <a16:creationId xmlns:a16="http://schemas.microsoft.com/office/drawing/2014/main" id="{673744A9-FD3E-A07E-FBD4-114E7119B80A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5722938" y="4237038"/>
            <a:ext cx="134938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2B78BBD-E84D-43D0-BFB2-DED13BB980A4}" type="datetime'''''''''''''''2''''''4''''A'''''''''''''''">
              <a:rPr lang="en-US" altLang="en-US" sz="600" b="1" smtClean="0">
                <a:solidFill>
                  <a:schemeClr val="tx1"/>
                </a:solidFill>
              </a:rPr>
              <a:pPr/>
              <a:t>24A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27" name="Rectangle 1051">
            <a:extLst>
              <a:ext uri="{FF2B5EF4-FFF2-40B4-BE49-F238E27FC236}">
                <a16:creationId xmlns:a16="http://schemas.microsoft.com/office/drawing/2014/main" id="{06688310-AC8D-F1A6-3D53-2FF7B85BE36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5926138" y="3946525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CBEC98E-00B4-4FDC-A973-C8DBA28AF580}" type="datetime'''1''''''''''''''''''''''''''9''.''''''''''''''''''7'''''''''">
              <a:rPr lang="en-US" altLang="en-US" sz="600" smtClean="0">
                <a:solidFill>
                  <a:schemeClr val="bg1"/>
                </a:solidFill>
                <a:effectLst/>
              </a:rPr>
              <a:pPr/>
              <a:t>19.7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28" name="Rectangle 86">
            <a:extLst>
              <a:ext uri="{FF2B5EF4-FFF2-40B4-BE49-F238E27FC236}">
                <a16:creationId xmlns:a16="http://schemas.microsoft.com/office/drawing/2014/main" id="{6333E699-AE8C-7586-413F-09E0D4AF217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6038850" y="4064000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F9256A6-507C-46A8-B817-CFE1B5D90D13}" type="datetime'''''''''''''''7''''''''''''''.''''''3''''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7.3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29" name="Rectangle 1052">
            <a:extLst>
              <a:ext uri="{FF2B5EF4-FFF2-40B4-BE49-F238E27FC236}">
                <a16:creationId xmlns:a16="http://schemas.microsoft.com/office/drawing/2014/main" id="{01B9AC7D-4407-4877-A12A-8B18B34ACF3A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5946775" y="3654425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F8B6A5D-56F6-4ADB-9FF0-90950C9B35EE}" type="datetime'''''37''''.''''''''3''''''''''''''''''''''''%''''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37.3%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30" name="Rectangle 141">
            <a:extLst>
              <a:ext uri="{FF2B5EF4-FFF2-40B4-BE49-F238E27FC236}">
                <a16:creationId xmlns:a16="http://schemas.microsoft.com/office/drawing/2014/main" id="{C8AF36D6-ED13-08E2-42DF-2A38278EE048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986463" y="4237038"/>
            <a:ext cx="131763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FBA3BD6-D556-45DC-9C46-F1FBAA9DBA1F}" type="datetime'''''''''''''''''''''''''2''''''''''''''''''''''5B'''''''">
              <a:rPr lang="en-US" altLang="en-US" sz="600" b="1" smtClean="0">
                <a:solidFill>
                  <a:schemeClr val="tx1"/>
                </a:solidFill>
              </a:rPr>
              <a:pPr/>
              <a:t>25B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47" name="Rectangle 1051">
            <a:extLst>
              <a:ext uri="{FF2B5EF4-FFF2-40B4-BE49-F238E27FC236}">
                <a16:creationId xmlns:a16="http://schemas.microsoft.com/office/drawing/2014/main" id="{B4363D8A-0F5F-2027-E8F6-0FF7A8779713}"/>
              </a:ext>
            </a:extLst>
          </p:cNvPr>
          <p:cNvSpPr/>
          <p:nvPr>
            <p:custDataLst>
              <p:tags r:id="rId64"/>
            </p:custDataLst>
          </p:nvPr>
        </p:nvSpPr>
        <p:spPr bwMode="gray">
          <a:xfrm>
            <a:off x="6186488" y="3940175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55841EB-9BE6-4426-8C63-AFFA7743A2DF}" type="datetime'''''''20''''''''''''''''''''''''''''''''''.''''''3'''''''''''">
              <a:rPr lang="en-US" altLang="en-US" sz="600" smtClean="0">
                <a:solidFill>
                  <a:schemeClr val="bg1"/>
                </a:solidFill>
                <a:effectLst/>
              </a:rPr>
              <a:pPr/>
              <a:t>20.3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4980E1E-FEF6-767B-797A-49E64F53072C}"/>
              </a:ext>
            </a:extLst>
          </p:cNvPr>
          <p:cNvSpPr/>
          <p:nvPr>
            <p:custDataLst>
              <p:tags r:id="rId65"/>
            </p:custDataLst>
          </p:nvPr>
        </p:nvSpPr>
        <p:spPr bwMode="gray">
          <a:xfrm>
            <a:off x="5140325" y="3990975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2D6F3C-6A27-4752-B5C0-20E6974534AD}" type="datetime'''1''4''''''''''''''''''.9'''''''''''''''''''''''''''''''''''">
              <a:rPr lang="en-US" altLang="en-US" sz="600" smtClean="0">
                <a:solidFill>
                  <a:schemeClr val="bg1"/>
                </a:solidFill>
                <a:effectLst/>
              </a:rPr>
              <a:pPr/>
              <a:t>14.9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34" name="Rectangle 1052">
            <a:extLst>
              <a:ext uri="{FF2B5EF4-FFF2-40B4-BE49-F238E27FC236}">
                <a16:creationId xmlns:a16="http://schemas.microsoft.com/office/drawing/2014/main" id="{87D045E6-0968-D541-8F0B-554179450540}"/>
              </a:ext>
            </a:extLst>
          </p:cNvPr>
          <p:cNvSpPr/>
          <p:nvPr>
            <p:custDataLst>
              <p:tags r:id="rId66"/>
            </p:custDataLst>
          </p:nvPr>
        </p:nvSpPr>
        <p:spPr bwMode="gray">
          <a:xfrm>
            <a:off x="6207125" y="3638550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C6431C0-22EB-465D-9F35-18E0406EC287}" type="datetime'''''''''''''39''''''''''''''''''.''''''4''''''''%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39.4%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35" name="Rectangle 141">
            <a:extLst>
              <a:ext uri="{FF2B5EF4-FFF2-40B4-BE49-F238E27FC236}">
                <a16:creationId xmlns:a16="http://schemas.microsoft.com/office/drawing/2014/main" id="{5A761B4E-33C5-F977-7CFA-55875D6E9E5C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6246813" y="4237038"/>
            <a:ext cx="130175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37CF99-1BFE-49F5-8C01-D3445162519A}" type="datetime'''''''''''''''''''''''''''''2''''''''6''''P'''''''''''''''">
              <a:rPr lang="en-US" altLang="en-US" sz="600" b="1" smtClean="0">
                <a:solidFill>
                  <a:schemeClr val="tx1"/>
                </a:solidFill>
              </a:rPr>
              <a:pPr/>
              <a:t>26P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37" name="Rectangle 1051">
            <a:extLst>
              <a:ext uri="{FF2B5EF4-FFF2-40B4-BE49-F238E27FC236}">
                <a16:creationId xmlns:a16="http://schemas.microsoft.com/office/drawing/2014/main" id="{04A953FB-F491-7753-8A5B-E48B06F50219}"/>
              </a:ext>
            </a:extLst>
          </p:cNvPr>
          <p:cNvSpPr/>
          <p:nvPr>
            <p:custDataLst>
              <p:tags r:id="rId68"/>
            </p:custDataLst>
          </p:nvPr>
        </p:nvSpPr>
        <p:spPr bwMode="gray">
          <a:xfrm>
            <a:off x="6448425" y="3932238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79E3FEC-146F-490A-8246-9B880564395B}" type="datetime'2''''''''''''''''''''1''''''''''''''''''.''1'''''''''''''">
              <a:rPr lang="en-US" altLang="en-US" sz="600" smtClean="0">
                <a:solidFill>
                  <a:schemeClr val="bg1"/>
                </a:solidFill>
                <a:effectLst/>
              </a:rPr>
              <a:pPr/>
              <a:t>21.1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38" name="Rectangle 86">
            <a:extLst>
              <a:ext uri="{FF2B5EF4-FFF2-40B4-BE49-F238E27FC236}">
                <a16:creationId xmlns:a16="http://schemas.microsoft.com/office/drawing/2014/main" id="{D9F47D3A-3758-1426-957F-2BA882D00C4F}"/>
              </a:ext>
            </a:extLst>
          </p:cNvPr>
          <p:cNvSpPr/>
          <p:nvPr>
            <p:custDataLst>
              <p:tags r:id="rId69"/>
            </p:custDataLst>
          </p:nvPr>
        </p:nvSpPr>
        <p:spPr bwMode="gray">
          <a:xfrm>
            <a:off x="6561138" y="4052888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B389615-6E87-4BD1-86C1-6D76157AED0F}" type="datetime'8''''''''''''''.''''''''''''''''''''''''''5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8.5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39" name="Rectangle 1052">
            <a:extLst>
              <a:ext uri="{FF2B5EF4-FFF2-40B4-BE49-F238E27FC236}">
                <a16:creationId xmlns:a16="http://schemas.microsoft.com/office/drawing/2014/main" id="{A628D284-D308-DE8E-30FB-7760DD8C825C}"/>
              </a:ext>
            </a:extLst>
          </p:cNvPr>
          <p:cNvSpPr/>
          <p:nvPr>
            <p:custDataLst>
              <p:tags r:id="rId70"/>
            </p:custDataLst>
          </p:nvPr>
        </p:nvSpPr>
        <p:spPr bwMode="gray">
          <a:xfrm>
            <a:off x="6469063" y="3630613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128AAE-5146-42D7-8571-5AD3656F9904}" type="datetime'''''''''''''''4''0.''''''''3%''''''''''''''''''''''''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40.3%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40" name="Rectangle 141">
            <a:extLst>
              <a:ext uri="{FF2B5EF4-FFF2-40B4-BE49-F238E27FC236}">
                <a16:creationId xmlns:a16="http://schemas.microsoft.com/office/drawing/2014/main" id="{F4DCFB87-A921-7F6F-A6FE-20778EA101A9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6508750" y="4237038"/>
            <a:ext cx="130175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6BCE04C-13BD-4285-B55D-C14D09A03B2C}" type="datetime'''''''''''''''''''''2''''''''''''''''7''''''''''P'''''">
              <a:rPr lang="en-US" altLang="en-US" sz="600" b="1" smtClean="0">
                <a:solidFill>
                  <a:schemeClr val="tx1"/>
                </a:solidFill>
              </a:rPr>
              <a:pPr/>
              <a:t>27P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41" name="Rectangle 1051">
            <a:extLst>
              <a:ext uri="{FF2B5EF4-FFF2-40B4-BE49-F238E27FC236}">
                <a16:creationId xmlns:a16="http://schemas.microsoft.com/office/drawing/2014/main" id="{32120523-1031-B6FE-3E29-3977A8997DCC}"/>
              </a:ext>
            </a:extLst>
          </p:cNvPr>
          <p:cNvSpPr/>
          <p:nvPr>
            <p:custDataLst>
              <p:tags r:id="rId72"/>
            </p:custDataLst>
          </p:nvPr>
        </p:nvSpPr>
        <p:spPr bwMode="gray">
          <a:xfrm>
            <a:off x="6710363" y="3924300"/>
            <a:ext cx="1555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7990AB1-A95E-4EFC-83F2-606FC4053DE8}" type="datetime'2''''''''''''''''''''''''1.''''''''9'''''''''">
              <a:rPr lang="en-US" altLang="en-US" sz="600" smtClean="0">
                <a:solidFill>
                  <a:schemeClr val="bg1"/>
                </a:solidFill>
                <a:effectLst/>
              </a:rPr>
              <a:pPr/>
              <a:t>21.9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42" name="Rectangle 86">
            <a:extLst>
              <a:ext uri="{FF2B5EF4-FFF2-40B4-BE49-F238E27FC236}">
                <a16:creationId xmlns:a16="http://schemas.microsoft.com/office/drawing/2014/main" id="{ACFDE75A-C5F7-3712-BFE6-1D8A4CD91441}"/>
              </a:ext>
            </a:extLst>
          </p:cNvPr>
          <p:cNvSpPr/>
          <p:nvPr>
            <p:custDataLst>
              <p:tags r:id="rId73"/>
            </p:custDataLst>
          </p:nvPr>
        </p:nvSpPr>
        <p:spPr bwMode="gray">
          <a:xfrm>
            <a:off x="6823075" y="4048125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6DADCEB-446A-4A13-B80B-9483219DE8E5}" type="datetime'''''''''''9''''''''''''''''''.''''''''''''''''''''''''''''''0'">
              <a:rPr lang="en-US" altLang="en-US" sz="600" smtClean="0">
                <a:solidFill>
                  <a:schemeClr val="tx1"/>
                </a:solidFill>
                <a:effectLst/>
              </a:rPr>
              <a:pPr/>
              <a:t>9.0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43" name="Rectangle 1052">
            <a:extLst>
              <a:ext uri="{FF2B5EF4-FFF2-40B4-BE49-F238E27FC236}">
                <a16:creationId xmlns:a16="http://schemas.microsoft.com/office/drawing/2014/main" id="{83F2462F-8050-F6A3-1FC5-99242A20A3F6}"/>
              </a:ext>
            </a:extLst>
          </p:cNvPr>
          <p:cNvSpPr/>
          <p:nvPr>
            <p:custDataLst>
              <p:tags r:id="rId74"/>
            </p:custDataLst>
          </p:nvPr>
        </p:nvSpPr>
        <p:spPr bwMode="gray">
          <a:xfrm>
            <a:off x="6731000" y="3624263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283DC6D-1CF9-4ED8-B0F1-BEAB1F864A63}" type="datetime'4''''1''''''''.''''''''''''''''''''0''''''''''''''''%'''">
              <a:rPr lang="en-US" altLang="en-US" sz="600" smtClean="0">
                <a:solidFill>
                  <a:schemeClr val="tx1"/>
                </a:solidFill>
                <a:effectLst/>
              </a:rPr>
              <a:pPr/>
              <a:t>41.0%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44" name="Rectangle 141">
            <a:extLst>
              <a:ext uri="{FF2B5EF4-FFF2-40B4-BE49-F238E27FC236}">
                <a16:creationId xmlns:a16="http://schemas.microsoft.com/office/drawing/2014/main" id="{6745062D-FF06-5F88-254F-A6F60727E843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6770688" y="4237038"/>
            <a:ext cx="130175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D6803D1-3498-45AD-A4EC-810B340F944C}" type="datetime'''''''2''8P'''''">
              <a:rPr lang="en-US" altLang="en-US" sz="600" b="1" smtClean="0">
                <a:solidFill>
                  <a:schemeClr val="tx1"/>
                </a:solidFill>
              </a:rPr>
              <a:pPr/>
              <a:t>28P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ADD5893A-5776-7CE9-ACD5-9831A0F03284}"/>
              </a:ext>
            </a:extLst>
          </p:cNvPr>
          <p:cNvSpPr/>
          <p:nvPr>
            <p:custDataLst>
              <p:tags r:id="rId76"/>
            </p:custDataLst>
          </p:nvPr>
        </p:nvSpPr>
        <p:spPr bwMode="gray">
          <a:xfrm>
            <a:off x="5253038" y="4129088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FB4051B-194B-4291-897F-6E0791696824}" type="datetime'''''0.''''''''''''''''''''''''''5''''''''''''''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0.5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 useBgFill="1">
        <p:nvSpPr>
          <p:cNvPr id="246" name="Rectangle 245">
            <a:extLst>
              <a:ext uri="{FF2B5EF4-FFF2-40B4-BE49-F238E27FC236}">
                <a16:creationId xmlns:a16="http://schemas.microsoft.com/office/drawing/2014/main" id="{42FD4588-6A9D-DBC9-14B3-DEDF34B61D4A}"/>
              </a:ext>
            </a:extLst>
          </p:cNvPr>
          <p:cNvSpPr/>
          <p:nvPr>
            <p:custDataLst>
              <p:tags r:id="rId77"/>
            </p:custDataLst>
          </p:nvPr>
        </p:nvSpPr>
        <p:spPr bwMode="gray">
          <a:xfrm>
            <a:off x="5180013" y="3932238"/>
            <a:ext cx="171450" cy="82550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2D42126-E30B-469E-AA34-C932B0515BD1}" type="datetime'''3''''''''''''''''''''''.''''''''''7''''''''''''''%'''">
              <a:rPr lang="en-US" altLang="en-US" sz="600" smtClean="0">
                <a:solidFill>
                  <a:schemeClr val="tx1"/>
                </a:solidFill>
                <a:effectLst/>
              </a:rPr>
              <a:pPr/>
              <a:t>3.7%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4661261-D23F-D04B-9E88-F5EE23A04935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5199063" y="4237038"/>
            <a:ext cx="134938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90957AF-C26B-48A1-86C8-B761099E478C}" type="datetime'''''2''''''2''''''''''''''''''''''''A'''">
              <a:rPr lang="en-US" altLang="en-US" sz="600" b="1" smtClean="0">
                <a:solidFill>
                  <a:schemeClr val="tx1"/>
                </a:solidFill>
              </a:rPr>
              <a:pPr/>
              <a:t>22A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33" name="Rectangle 86">
            <a:extLst>
              <a:ext uri="{FF2B5EF4-FFF2-40B4-BE49-F238E27FC236}">
                <a16:creationId xmlns:a16="http://schemas.microsoft.com/office/drawing/2014/main" id="{220518A6-C9A4-64C4-403B-CAE68E53F2F7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6299200" y="4057650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80ADE0E-77B3-48F6-B819-D8588670DA42}" type="datetime'''''''''''8''''''''''''''''''''''.''''''''''''''''0'''">
              <a:rPr lang="en-US" altLang="en-US" sz="600" smtClean="0">
                <a:solidFill>
                  <a:schemeClr val="tx1"/>
                </a:solidFill>
                <a:effectLst/>
              </a:rPr>
              <a:pPr/>
              <a:t>8.0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BB71E338-ECB0-1194-0191-E1C53D24DC75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5345113" y="3459163"/>
            <a:ext cx="269875" cy="131763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49F7B73-BC1F-4932-93D8-8E98D1CCF3E2}" type="datetime'+8''''''''''''''''''.''''8''%'''''''''''''''''''''''''''''''">
              <a:rPr lang="en-US" altLang="en-US" sz="600" b="1" smtClean="0">
                <a:solidFill>
                  <a:schemeClr val="tx1"/>
                </a:solidFill>
                <a:effectLst/>
              </a:rPr>
              <a:pPr/>
              <a:t>+8.8%</a:t>
            </a:fld>
            <a:endParaRPr lang="en-US" sz="600" b="1" dirty="0">
              <a:solidFill>
                <a:schemeClr val="tx1"/>
              </a:solidFill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1E4DCC5E-A3E7-B765-BCCC-B0D69558D916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6129338" y="3392488"/>
            <a:ext cx="269875" cy="131763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6820859-E691-430B-9AFC-1D17572676D4}" type="datetime'''''''+''''''''''5.''''5''''''''%'''''">
              <a:rPr lang="en-US" altLang="en-US" sz="600" b="1" smtClean="0">
                <a:solidFill>
                  <a:schemeClr val="tx1"/>
                </a:solidFill>
                <a:effectLst/>
              </a:rPr>
              <a:pPr/>
              <a:t>+5.5%</a:t>
            </a:fld>
            <a:endParaRPr lang="en-US" sz="600" b="1" dirty="0">
              <a:solidFill>
                <a:schemeClr val="tx1"/>
              </a:solidFill>
            </a:endParaRPr>
          </a:p>
        </p:txBody>
      </p:sp>
      <p:graphicFrame>
        <p:nvGraphicFramePr>
          <p:cNvPr id="250" name="Table 1093">
            <a:extLst>
              <a:ext uri="{FF2B5EF4-FFF2-40B4-BE49-F238E27FC236}">
                <a16:creationId xmlns:a16="http://schemas.microsoft.com/office/drawing/2014/main" id="{4BFD6065-C69E-F1FC-3C57-FDBFB1A96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18400"/>
              </p:ext>
            </p:extLst>
          </p:nvPr>
        </p:nvGraphicFramePr>
        <p:xfrm>
          <a:off x="4741875" y="4339908"/>
          <a:ext cx="2209026" cy="2743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09079">
                  <a:extLst>
                    <a:ext uri="{9D8B030D-6E8A-4147-A177-3AD203B41FA5}">
                      <a16:colId xmlns:a16="http://schemas.microsoft.com/office/drawing/2014/main" val="1835665587"/>
                    </a:ext>
                  </a:extLst>
                </a:gridCol>
                <a:gridCol w="237967">
                  <a:extLst>
                    <a:ext uri="{9D8B030D-6E8A-4147-A177-3AD203B41FA5}">
                      <a16:colId xmlns:a16="http://schemas.microsoft.com/office/drawing/2014/main" val="592246799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135723960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862604737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2418978667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496069448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880615160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1692296504"/>
                    </a:ext>
                  </a:extLst>
                </a:gridCol>
              </a:tblGrid>
              <a:tr h="73110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Adjustments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4’170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4’409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3’511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3’513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53178480"/>
                  </a:ext>
                </a:extLst>
              </a:tr>
              <a:tr h="55631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Rep. EBITDA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b="1" noProof="0" dirty="0"/>
                        <a:t>549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b="1" noProof="0" dirty="0"/>
                        <a:t>1’295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1’971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3’833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4’498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8’507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8’975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3054620"/>
                  </a:ext>
                </a:extLst>
              </a:tr>
              <a:tr h="55631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Rep. Margin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noProof="0" dirty="0"/>
                        <a:t>3.7%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noProof="0" dirty="0"/>
                        <a:t>7.8%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11.2%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19.5%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22.1%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40.3%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41.0%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3229327"/>
                  </a:ext>
                </a:extLst>
              </a:tr>
            </a:tbl>
          </a:graphicData>
        </a:graphic>
      </p:graphicFrame>
      <p:pic>
        <p:nvPicPr>
          <p:cNvPr id="1121" name="Picture 20" descr="Historie - Hüsges Gruppe">
            <a:extLst>
              <a:ext uri="{FF2B5EF4-FFF2-40B4-BE49-F238E27FC236}">
                <a16:creationId xmlns:a16="http://schemas.microsoft.com/office/drawing/2014/main" id="{4C0FFC86-DF02-70B8-7060-077CB0BCB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69" y="183938"/>
            <a:ext cx="871575" cy="27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8551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4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42632236762709130318E+00&quot;&gt;&lt;m_msothmcolidx val=&quot;0&quot;/&gt;&lt;m_rgb r=&quot;00&quot; g=&quot;B0&quot; b=&quot;50&quot;/&gt;&lt;/elem&gt;&lt;elem m_fUsage=&quot;1.97559000000000017927E+00&quot;&gt;&lt;m_msothmcolidx val=&quot;0&quot;/&gt;&lt;m_rgb r=&quot;70&quot; g=&quot;30&quot; b=&quot;A0&quot;/&gt;&lt;/elem&gt;&lt;elem m_fUsage=&quot;1.43046721000000021107E+00&quot;&gt;&lt;m_msothmcolidx val=&quot;0&quot;/&gt;&lt;m_rgb r=&quot;44&quot; g=&quot;62&quot; b=&quot;EE&quot;/&gt;&lt;/elem&gt;&lt;elem m_fUsage=&quot;6.62489036190000102344E-01&quot;&gt;&lt;m_msothmcolidx val=&quot;0&quot;/&gt;&lt;m_rgb r=&quot;F5&quot; g=&quot;62&quot; b=&quot;1B&quot;/&gt;&lt;/elem&gt;&lt;elem m_fUsage=&quot;6.19961075529443239596E-01&quot;&gt;&lt;m_msothmcolidx val=&quot;0&quot;/&gt;&lt;m_rgb r=&quot;BC&quot; g=&quot;CC&quot; b=&quot;EA&quot;/&gt;&lt;/elem&gt;&lt;elem m_fUsage=&quot;4.04609927057423490737E-01&quot;&gt;&lt;m_msothmcolidx val=&quot;0&quot;/&gt;&lt;m_rgb r=&quot;B9&quot; g=&quot;DF&quot; b=&quot;EE&quot;/&gt;&lt;/elem&gt;&lt;elem m_fUsage=&quot;1.96652532797959883615E-01&quot;&gt;&lt;m_msothmcolidx val=&quot;0&quot;/&gt;&lt;m_rgb r=&quot;25&quot; g=&quot;3F&quot; b=&quot;6A&quot;/&gt;&lt;/elem&gt;&lt;elem m_fUsage=&quot;8.53165342345673649582E-02&quot;&gt;&lt;m_msothmcolidx val=&quot;0&quot;/&gt;&lt;m_rgb r=&quot;C4&quot; g=&quot;DB&quot; b=&quot;F0&quot;/&gt;&lt;/elem&gt;&lt;elem m_fUsage=&quot;7.64128216143330762922E-02&quot;&gt;&lt;m_msothmcolidx val=&quot;0&quot;/&gt;&lt;m_rgb r=&quot;DC&quot; g=&quot;EE&quot; b=&quot;F5&quot;/&gt;&lt;/elem&gt;&lt;elem m_fUsage=&quot;4.07828594289022239305E-02&quot;&gt;&lt;m_msothmcolidx val=&quot;0&quot;/&gt;&lt;m_rgb r=&quot;41&quot; g=&quot;41&quot; b=&quot;41&quot;/&gt;&lt;/elem&gt;&lt;elem m_fUsage=&quot;1.19725151825620327456E-02&quot;&gt;&lt;m_msothmcolidx val=&quot;0&quot;/&gt;&lt;m_rgb r=&quot;F4&quot; g=&quot;F3&quot; b=&quot;E8&quot;/&gt;&lt;/elem&gt;&lt;elem m_fUsage=&quot;9.69773729787524671475E-03&quot;&gt;&lt;m_msothmcolidx val=&quot;0&quot;/&gt;&lt;m_rgb r=&quot;EF&quot; g=&quot;ED&quot; b=&quot;DA&quot;/&gt;&lt;/elem&gt;&lt;elem m_fUsage=&quot;8.72796356808772273717E-03&quot;&gt;&lt;m_msothmcolidx val=&quot;0&quot;/&gt;&lt;m_rgb r=&quot;D1&quot; g=&quot;EA&quot; b=&quot;F3&quot;/&gt;&lt;/elem&gt;&lt;elem m_fUsage=&quot;7.85516721127895063692E-03&quot;&gt;&lt;m_msothmcolidx val=&quot;0&quot;/&gt;&lt;m_rgb r=&quot;E8&quot; g=&quot;E4&quot; b=&quot;CA&quot;/&gt;&lt;/elem&gt;&lt;elem m_fUsage=&quot;7.61880991227818771261E-03&quot;&gt;&lt;m_msothmcolidx val=&quot;0&quot;/&gt;&lt;m_rgb r=&quot;59&quot; g=&quot;59&quot; b=&quot;59&quot;/&gt;&lt;/elem&gt;&lt;elem m_fUsage=&quot;4.17455791792929655631E-03&quot;&gt;&lt;m_msothmcolidx val=&quot;0&quot;/&gt;&lt;m_rgb r=&quot;D8&quot; g=&quot;E7&quot; b=&quot;F5&quot;/&gt;&lt;/elem&gt;&lt;elem m_fUsage=&quot;3.41431956983742363604E-03&quot;&gt;&lt;m_msothmcolidx val=&quot;0&quot;/&gt;&lt;m_rgb r=&quot;50&quot; g=&quot;25&quot; b=&quot;FA&quot;/&gt;&lt;/elem&gt;&lt;elem m_fUsage=&quot;3.38139191352273020194E-03&quot;&gt;&lt;m_msothmcolidx val=&quot;0&quot;/&gt;&lt;m_rgb r=&quot;AC&quot; g=&quot;F4&quot; b=&quot;FB&quot;/&gt;&lt;/elem&gt;&lt;elem m_fUsage=&quot;3.04325272217045731185E-03&quot;&gt;&lt;m_msothmcolidx val=&quot;0&quot;/&gt;&lt;m_rgb r=&quot;EB&quot; g=&quot;F3&quot; b=&quot;FA&quot;/&gt;&lt;/elem&gt;&lt;elem m_fUsage=&quot;2.73892744995341171077E-03&quot;&gt;&lt;m_msothmcolidx val=&quot;0&quot;/&gt;&lt;m_rgb r=&quot;AC&quot; g=&quot;A8&quot; b=&quot;A8&quot;/&gt;&lt;/elem&gt;&lt;elem m_fUsage=&quot;2.21853123446226355511E-03&quot;&gt;&lt;m_msothmcolidx val=&quot;0&quot;/&gt;&lt;m_rgb r=&quot;69&quot; g=&quot;88&quot; b=&quot;B6&quot;/&gt;&lt;/elem&gt;&lt;elem m_fUsage=&quot;1.99667811101603706950E-03&quot;&gt;&lt;m_msothmcolidx val=&quot;0&quot;/&gt;&lt;m_rgb r=&quot;17&quot; g=&quot;2C&quot; b=&quot;4A&quot;/&gt;&lt;/elem&gt;&lt;elem m_fUsage=&quot;1.45557834293069112905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tOpSTIlryNDByL_8Bq8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NHU48rbDFVFmM_JOlOr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6t1SzyjoX7TE2S8miw8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z.BvbScEPwb2rU5YcZP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Fd4xd9.vGGAGp6G2tqH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OssZzNebELPtdQAwue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qQdUL04SgP6Hc7jioz7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xSLXd.DAoobkkg5qfDA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.0tqALeW_5URFBEpqscY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STj__q7wIqKu6AXbuEy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8pdGKDlhVzZHYA6Es5q2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_oB2Crt8tiF4Ww8sOfe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Ck6r_HFLbJR8b1bwtqJ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c08Vk.Tm3ASrJd2RR09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E3RYGa_qQQ.PHWQCvot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4xoe7v.a7PycB6G4xcV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.0YmwlDMaPzN2nVi2z3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ZUi5YmKIq0RPg97rZE1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1taCpsz8KTxnGIqCD6vR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td5HpveCm5jw5kRFCDU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LCLKYUOMWcWGxtR7rhK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7FyVWrvW2ZVOHZySlna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un11KHALL56g1JD34Xy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sBci2Q7TR.7jHF2alJc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_Bs1dg1tHqllOwSa.A3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hKNFChf6zYPP2EA7Jm7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3GeBhHxtnf56RRsIHqt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ZKjLZ6dnUJO4ch0y3_0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nqOljrawTfOP9_SUMGn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orvf0LFhLoXnBPUTK.B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t0Nv.CXNFgJAlyErzR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gYKhLZrCGLg9PqKOcqc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0RvcqrWSDHz8vzVbRp1n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2z2DnkrRQ2T31ndk0fz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8iqIt.s06IFMLhWH80U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tOpSTIlryNDByL_8Bq8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LW0f4oS_DCnq5_cSAFyn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dRFLFeVW3eYvT5IV6GP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3WAQ4_9yYvTe_vm.eiC7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hV2rPXg3W.eNITKM5FM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1nLi35elyES9iJuz95e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1iKSiuMF7m.qDa2ujW0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.JhKnuRTSm3PR9NuZvY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BWknsCFtooSnV.maK5db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8Dv2xS1uxkqot6toUcoo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4yntR4K0xH5VpNiJGOb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i4ZhpcsbEAJyKX9BZ7b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ehQwYl.rSgNy2Eg5diM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0OUTyoWm_wXc3clxlJU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uWlqnhCOmayPYpmwdpO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SXAJpem7LkuvLoHwO8D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aoHrBF.hDCN6xlWfgKq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k_uufYjjEZMG8p4gsHa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Y2FDE9jX_ncaR.nLbCc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5Huo7F3AsFS0h1w8Wrx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2ikbMEr51XMnbm_SIuZ9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V9.T5JCH1DCOJRRyLTg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O5zbLMCQea9DC2RhhCv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fo6cfkhE5zWg8i.loZs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RhrJWfs0NZd0KyxlJA23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mzSgOFtzJTpwFhhw4PZ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C1zLHm4wgXw2bD_An1o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jZ4Pr3ZedvTTsKrAzTH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Zc50ZjOX47fzcXsG8bS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_mBhyV2eShHKGJCQRdZ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.Qn07qF8CbsTvp45lN_y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jHjIhiq42LAbj7Crf3Y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D0GLb1kxgcA1E1jIOjZ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nUyBAEqEQHvXprqYN0v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YOdlJgLNzIogstAlG7V.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AcUt5vK2fsvJVe7r6GRm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tlCol="0" anchor="ctr"/>
      <a:lstStyle>
        <a:defPPr algn="ctr">
          <a:defRPr sz="9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4CA7C6-6EF8-493D-B2CC-2C62053374D6}">
  <ds:schemaRefs>
    <ds:schemaRef ds:uri="http://schemas.microsoft.com/office/infopath/2007/PartnerControls"/>
    <ds:schemaRef ds:uri="http://purl.org/dc/elements/1.1/"/>
    <ds:schemaRef ds:uri="http://www.w3.org/XML/1998/namespace"/>
    <ds:schemaRef ds:uri="2a11dabe-1bed-4248-9727-f03e5cc57e90"/>
    <ds:schemaRef ds:uri="http://purl.org/dc/terms/"/>
    <ds:schemaRef ds:uri="http://schemas.microsoft.com/office/2006/documentManagement/types"/>
    <ds:schemaRef ds:uri="4cabe56c-7e26-4c02-8d85-b4fad8b06d2c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436</Words>
  <Application>Microsoft Office PowerPoint</Application>
  <PresentationFormat>On-screen Show (16:9)</PresentationFormat>
  <Paragraphs>156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Apercu</vt:lpstr>
      <vt:lpstr>Arial</vt:lpstr>
      <vt:lpstr>Calibri</vt:lpstr>
      <vt:lpstr>CKNord Book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Sandro Meyer</cp:lastModifiedBy>
  <cp:revision>1349</cp:revision>
  <cp:lastPrinted>2025-11-24T13:37:24Z</cp:lastPrinted>
  <dcterms:created xsi:type="dcterms:W3CDTF">2017-10-02T06:30:19Z</dcterms:created>
  <dcterms:modified xsi:type="dcterms:W3CDTF">2025-12-08T00:35:01Z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