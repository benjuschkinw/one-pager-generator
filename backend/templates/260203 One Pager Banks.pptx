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7"/>
  </p:notesMasterIdLst>
  <p:handoutMasterIdLst>
    <p:handoutMasterId r:id="rId8"/>
  </p:handoutMasterIdLst>
  <p:sldIdLst>
    <p:sldId id="2147377613" r:id="rId6"/>
  </p:sldIdLst>
  <p:sldSz cx="9144000" cy="5143500" type="screen16x9"/>
  <p:notesSz cx="7010400" cy="92964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3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72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5BBEF"/>
    <a:srgbClr val="364D6E"/>
    <a:srgbClr val="9DC3E6"/>
    <a:srgbClr val="AAAAAA"/>
    <a:srgbClr val="F4C500"/>
    <a:srgbClr val="8FAADC"/>
    <a:srgbClr val="D0CECE"/>
    <a:srgbClr val="BFBFBF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7307" autoAdjust="0"/>
  </p:normalViewPr>
  <p:slideViewPr>
    <p:cSldViewPr snapToGrid="0">
      <p:cViewPr varScale="1">
        <p:scale>
          <a:sx n="199" d="100"/>
          <a:sy n="199" d="100"/>
        </p:scale>
        <p:origin x="3486" y="162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172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353887399463807"/>
          <c:y val="0.16832669322709162"/>
          <c:w val="0.6720285969615728"/>
          <c:h val="0.663346613545816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569-48DC-985C-A3992F963010}"/>
              </c:ext>
            </c:extLst>
          </c:dPt>
          <c:dPt>
            <c:idx val="1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569-48DC-985C-A3992F963010}"/>
              </c:ext>
            </c:extLst>
          </c:dPt>
          <c:dPt>
            <c:idx val="2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569-48DC-985C-A3992F963010}"/>
              </c:ext>
            </c:extLst>
          </c:dPt>
          <c:dPt>
            <c:idx val="3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569-48DC-985C-A3992F963010}"/>
              </c:ext>
            </c:extLst>
          </c:dPt>
          <c:dPt>
            <c:idx val="4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B569-48DC-985C-A3992F963010}"/>
              </c:ext>
            </c:extLst>
          </c:dPt>
          <c:dPt>
            <c:idx val="5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569-48DC-985C-A3992F963010}"/>
              </c:ext>
            </c:extLst>
          </c:dPt>
          <c:dLbls>
            <c:dLbl>
              <c:idx val="0"/>
              <c:layout>
                <c:manualLayout>
                  <c:x val="8.0428954423592495E-3"/>
                  <c:y val="-1.095617529880478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569-48DC-985C-A3992F963010}"/>
                </c:ext>
              </c:extLst>
            </c:dLbl>
            <c:dLbl>
              <c:idx val="1"/>
              <c:layout>
                <c:manualLayout>
                  <c:x val="8.0428954423592495E-3"/>
                  <c:y val="2.98804780876494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569-48DC-985C-A3992F963010}"/>
                </c:ext>
              </c:extLst>
            </c:dLbl>
            <c:dLbl>
              <c:idx val="2"/>
              <c:layout>
                <c:manualLayout>
                  <c:x val="-1.7873100983020554E-3"/>
                  <c:y val="2.8884462151394421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569-48DC-985C-A3992F963010}"/>
                </c:ext>
              </c:extLst>
            </c:dLbl>
            <c:dLbl>
              <c:idx val="5"/>
              <c:layout>
                <c:manualLayout>
                  <c:x val="-8.0428954423592495E-3"/>
                  <c:y val="-6.9721115537848604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B569-48DC-985C-A3992F96301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Sheet1!$A$1:$A$6</c:f>
              <c:numCache>
                <c:formatCode>General</c:formatCode>
                <c:ptCount val="6"/>
                <c:pt idx="0">
                  <c:v>23.5</c:v>
                </c:pt>
                <c:pt idx="1">
                  <c:v>19</c:v>
                </c:pt>
                <c:pt idx="2">
                  <c:v>18</c:v>
                </c:pt>
                <c:pt idx="3">
                  <c:v>4.5</c:v>
                </c:pt>
                <c:pt idx="4">
                  <c:v>2.5</c:v>
                </c:pt>
                <c:pt idx="5">
                  <c:v>32.499999999999993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69-48DC-985C-A3992F963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8067349926793559E-2"/>
          <c:y val="0.262015503875969"/>
          <c:w val="0.92386530014641288"/>
          <c:h val="0.556589147286821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945736434108527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FA1-4278-92B1-56AA7D1189A0}"/>
                </c:ext>
              </c:extLst>
            </c:dLbl>
            <c:dLbl>
              <c:idx val="1"/>
              <c:layout>
                <c:manualLayout>
                  <c:x val="0"/>
                  <c:y val="-0.3178294573643410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FA1-4278-92B1-56AA7D1189A0}"/>
                </c:ext>
              </c:extLst>
            </c:dLbl>
            <c:dLbl>
              <c:idx val="2"/>
              <c:layout>
                <c:manualLayout>
                  <c:x val="0"/>
                  <c:y val="-0.3209302325581395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FA1-4278-92B1-56AA7D1189A0}"/>
                </c:ext>
              </c:extLst>
            </c:dLbl>
            <c:dLbl>
              <c:idx val="3"/>
              <c:layout>
                <c:manualLayout>
                  <c:x val="0"/>
                  <c:y val="-0.3395348837209302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FA1-4278-92B1-56AA7D1189A0}"/>
                </c:ext>
              </c:extLst>
            </c:dLbl>
            <c:dLbl>
              <c:idx val="4"/>
              <c:layout>
                <c:manualLayout>
                  <c:x val="0"/>
                  <c:y val="-0.3379844961240310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FA1-4278-92B1-56AA7D1189A0}"/>
                </c:ext>
              </c:extLst>
            </c:dLbl>
            <c:dLbl>
              <c:idx val="5"/>
              <c:layout>
                <c:manualLayout>
                  <c:x val="0"/>
                  <c:y val="-0.344186046511627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FA1-4278-92B1-56AA7D1189A0}"/>
                </c:ext>
              </c:extLst>
            </c:dLbl>
            <c:dLbl>
              <c:idx val="6"/>
              <c:layout>
                <c:manualLayout>
                  <c:x val="0"/>
                  <c:y val="-0.353488372093023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FA1-4278-92B1-56AA7D1189A0}"/>
                </c:ext>
              </c:extLst>
            </c:dLbl>
            <c:dLbl>
              <c:idx val="7"/>
              <c:layout>
                <c:manualLayout>
                  <c:x val="0"/>
                  <c:y val="-0.3612403100775193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2FA1-4278-92B1-56AA7D1189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Sheet1!$A$1:$H$1</c:f>
              <c:numCache>
                <c:formatCode>General</c:formatCode>
                <c:ptCount val="8"/>
                <c:pt idx="0">
                  <c:v>8.5329999999999995</c:v>
                </c:pt>
                <c:pt idx="1">
                  <c:v>9.5150000000000006</c:v>
                </c:pt>
                <c:pt idx="2">
                  <c:v>9.6449999999999996</c:v>
                </c:pt>
                <c:pt idx="3">
                  <c:v>10.351000000000001</c:v>
                </c:pt>
                <c:pt idx="4">
                  <c:v>10.282</c:v>
                </c:pt>
                <c:pt idx="5">
                  <c:v>10.548999999999999</c:v>
                </c:pt>
                <c:pt idx="6">
                  <c:v>10.866</c:v>
                </c:pt>
                <c:pt idx="7">
                  <c:v>11.192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FA1-4278-92B1-56AA7D1189A0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1.2445095168374817E-2"/>
                  <c:y val="-0.1984496124031007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FA1-4278-92B1-56AA7D1189A0}"/>
                </c:ext>
              </c:extLst>
            </c:dLbl>
            <c:dLbl>
              <c:idx val="1"/>
              <c:layout>
                <c:manualLayout>
                  <c:x val="1.2445095168374817E-2"/>
                  <c:y val="-0.2139534883720930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2FA1-4278-92B1-56AA7D1189A0}"/>
                </c:ext>
              </c:extLst>
            </c:dLbl>
            <c:dLbl>
              <c:idx val="2"/>
              <c:layout>
                <c:manualLayout>
                  <c:x val="1.2445095168374817E-2"/>
                  <c:y val="-0.217054263565891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2FA1-4278-92B1-56AA7D1189A0}"/>
                </c:ext>
              </c:extLst>
            </c:dLbl>
            <c:dLbl>
              <c:idx val="3"/>
              <c:layout>
                <c:manualLayout>
                  <c:x val="1.2445095168374817E-2"/>
                  <c:y val="-0.2263565891472868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2FA1-4278-92B1-56AA7D1189A0}"/>
                </c:ext>
              </c:extLst>
            </c:dLbl>
            <c:dLbl>
              <c:idx val="4"/>
              <c:layout>
                <c:manualLayout>
                  <c:x val="1.2445095168374817E-2"/>
                  <c:y val="-0.232558139534883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2FA1-4278-92B1-56AA7D1189A0}"/>
                </c:ext>
              </c:extLst>
            </c:dLbl>
            <c:dLbl>
              <c:idx val="5"/>
              <c:layout>
                <c:manualLayout>
                  <c:x val="1.2445095168374817E-2"/>
                  <c:y val="-0.2263565891472868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2FA1-4278-92B1-56AA7D1189A0}"/>
                </c:ext>
              </c:extLst>
            </c:dLbl>
            <c:dLbl>
              <c:idx val="6"/>
              <c:layout>
                <c:manualLayout>
                  <c:x val="1.2445095168374817E-2"/>
                  <c:y val="-0.2294573643410852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2FA1-4278-92B1-56AA7D1189A0}"/>
                </c:ext>
              </c:extLst>
            </c:dLbl>
            <c:dLbl>
              <c:idx val="7"/>
              <c:layout>
                <c:manualLayout>
                  <c:x val="1.2445095168374817E-2"/>
                  <c:y val="-0.232558139534883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2FA1-4278-92B1-56AA7D1189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0">
                  <c:v>1.294</c:v>
                </c:pt>
                <c:pt idx="1">
                  <c:v>1.5640000000000001</c:v>
                </c:pt>
                <c:pt idx="2">
                  <c:v>1.601</c:v>
                </c:pt>
                <c:pt idx="3">
                  <c:v>1.7649999999999999</c:v>
                </c:pt>
                <c:pt idx="4">
                  <c:v>1.8460000000000001</c:v>
                </c:pt>
                <c:pt idx="5">
                  <c:v>1.754</c:v>
                </c:pt>
                <c:pt idx="6">
                  <c:v>1.8069999999999999</c:v>
                </c:pt>
                <c:pt idx="7">
                  <c:v>1.861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FA1-4278-92B1-56AA7D118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44875279"/>
        <c:axId val="1"/>
      </c:barChart>
      <c:barChart>
        <c:barDir val="col"/>
        <c:grouping val="clustered"/>
        <c:varyColors val="0"/>
        <c:ser>
          <c:idx val="3"/>
          <c:order val="3"/>
          <c:invertIfNegative val="0"/>
          <c:extLst>
            <c:ext xmlns:c16="http://schemas.microsoft.com/office/drawing/2014/chart" uri="{C3380CC4-5D6E-409C-BE32-E72D297353CC}">
              <c16:uniqueId val="{0000001B-2FA1-4278-92B1-56AA7D118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2FA1-4278-92B1-56AA7D1189A0}"/>
              </c:ext>
            </c:extLst>
          </c:dPt>
          <c:dPt>
            <c:idx val="1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2FA1-4278-92B1-56AA7D1189A0}"/>
              </c:ext>
            </c:extLst>
          </c:dPt>
          <c:dPt>
            <c:idx val="2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2FA1-4278-92B1-56AA7D1189A0}"/>
              </c:ext>
            </c:extLst>
          </c:dPt>
          <c:dPt>
            <c:idx val="3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2FA1-4278-92B1-56AA7D1189A0}"/>
              </c:ext>
            </c:extLst>
          </c:dPt>
          <c:dPt>
            <c:idx val="4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2FA1-4278-92B1-56AA7D1189A0}"/>
              </c:ext>
            </c:extLst>
          </c:dPt>
          <c:dPt>
            <c:idx val="5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2FA1-4278-92B1-56AA7D1189A0}"/>
              </c:ext>
            </c:extLst>
          </c:dPt>
          <c:dPt>
            <c:idx val="6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2FA1-4278-92B1-56AA7D1189A0}"/>
              </c:ext>
            </c:extLst>
          </c:dPt>
          <c:dPt>
            <c:idx val="7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2FA1-4278-92B1-56AA7D1189A0}"/>
              </c:ext>
            </c:extLst>
          </c:dPt>
          <c:val>
            <c:numRef>
              <c:f>Sheet1!$A$3:$H$3</c:f>
              <c:numCache>
                <c:formatCode>General</c:formatCode>
                <c:ptCount val="8"/>
                <c:pt idx="0">
                  <c:v>1.4902306340091411</c:v>
                </c:pt>
                <c:pt idx="1">
                  <c:v>1.8210778770362586</c:v>
                </c:pt>
                <c:pt idx="2">
                  <c:v>1.8667543805080351</c:v>
                </c:pt>
                <c:pt idx="3">
                  <c:v>2.0659588445560813</c:v>
                </c:pt>
                <c:pt idx="4">
                  <c:v>2.1774254036179732</c:v>
                </c:pt>
                <c:pt idx="5">
                  <c:v>2.0456405346478337</c:v>
                </c:pt>
                <c:pt idx="6">
                  <c:v>2.1075014724829741</c:v>
                </c:pt>
                <c:pt idx="7">
                  <c:v>2.1704461222301643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2FA1-4278-92B1-56AA7D118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4875279"/>
        <c:axId val="1"/>
      </c:lineChart>
      <c:catAx>
        <c:axId val="14448752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.19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1444875279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.1000000000000001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3616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3616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173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GB" smtClean="0"/>
              <a:pPr/>
              <a:t>03/03/2026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58888"/>
            <a:ext cx="6042025" cy="3398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550" y="4846716"/>
            <a:ext cx="5556391" cy="3965496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173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0B33-301B-2A03-F6B8-869CC41F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DB9F3-01B8-C287-18EF-0B3047A3B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14EA8-C9AE-545D-D61C-AFBDB027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B248-57E0-1EBA-C84B-9A04D4FA2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081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oleObject" Target="../embeddings/oleObject8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oleObject" Target="../embeddings/oleObject1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2419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GB" dirty="0"/>
              <a:t>Click to edit Master</a:t>
            </a:r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12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192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8328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415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967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70804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971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6992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829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820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8381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42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10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558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916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760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1573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263055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2C2A8472-B2A0-3A42-A5D5-3467F5A0408F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84" Type="http://schemas.openxmlformats.org/officeDocument/2006/relationships/tags" Target="../tags/tag127.xml"/><Relationship Id="rId89" Type="http://schemas.openxmlformats.org/officeDocument/2006/relationships/tags" Target="../tags/tag132.xml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74" Type="http://schemas.openxmlformats.org/officeDocument/2006/relationships/tags" Target="../tags/tag117.xml"/><Relationship Id="rId79" Type="http://schemas.openxmlformats.org/officeDocument/2006/relationships/tags" Target="../tags/tag122.xml"/><Relationship Id="rId5" Type="http://schemas.openxmlformats.org/officeDocument/2006/relationships/tags" Target="../tags/tag48.xml"/><Relationship Id="rId90" Type="http://schemas.openxmlformats.org/officeDocument/2006/relationships/tags" Target="../tags/tag133.xml"/><Relationship Id="rId95" Type="http://schemas.openxmlformats.org/officeDocument/2006/relationships/slideLayout" Target="../slideLayouts/slideLayout4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80" Type="http://schemas.openxmlformats.org/officeDocument/2006/relationships/tags" Target="../tags/tag123.xml"/><Relationship Id="rId85" Type="http://schemas.openxmlformats.org/officeDocument/2006/relationships/tags" Target="../tags/tag128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tags" Target="../tags/tag118.xml"/><Relationship Id="rId83" Type="http://schemas.openxmlformats.org/officeDocument/2006/relationships/tags" Target="../tags/tag126.xml"/><Relationship Id="rId88" Type="http://schemas.openxmlformats.org/officeDocument/2006/relationships/tags" Target="../tags/tag131.xml"/><Relationship Id="rId91" Type="http://schemas.openxmlformats.org/officeDocument/2006/relationships/tags" Target="../tags/tag134.xml"/><Relationship Id="rId96" Type="http://schemas.openxmlformats.org/officeDocument/2006/relationships/notesSlide" Target="../notesSlides/notesSlide1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tags" Target="../tags/tag121.xml"/><Relationship Id="rId81" Type="http://schemas.openxmlformats.org/officeDocument/2006/relationships/tags" Target="../tags/tag124.xml"/><Relationship Id="rId86" Type="http://schemas.openxmlformats.org/officeDocument/2006/relationships/tags" Target="../tags/tag129.xml"/><Relationship Id="rId94" Type="http://schemas.openxmlformats.org/officeDocument/2006/relationships/tags" Target="../tags/tag137.xml"/><Relationship Id="rId99" Type="http://schemas.openxmlformats.org/officeDocument/2006/relationships/chart" Target="../charts/chart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tags" Target="../tags/tag119.xml"/><Relationship Id="rId97" Type="http://schemas.openxmlformats.org/officeDocument/2006/relationships/oleObject" Target="../embeddings/oleObject18.bin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92" Type="http://schemas.openxmlformats.org/officeDocument/2006/relationships/tags" Target="../tags/tag135.xml"/><Relationship Id="rId2" Type="http://schemas.openxmlformats.org/officeDocument/2006/relationships/tags" Target="../tags/tag45.xml"/><Relationship Id="rId29" Type="http://schemas.openxmlformats.org/officeDocument/2006/relationships/tags" Target="../tags/tag72.xml"/><Relationship Id="rId24" Type="http://schemas.openxmlformats.org/officeDocument/2006/relationships/tags" Target="../tags/tag67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66" Type="http://schemas.openxmlformats.org/officeDocument/2006/relationships/tags" Target="../tags/tag109.xml"/><Relationship Id="rId87" Type="http://schemas.openxmlformats.org/officeDocument/2006/relationships/tags" Target="../tags/tag130.xml"/><Relationship Id="rId61" Type="http://schemas.openxmlformats.org/officeDocument/2006/relationships/tags" Target="../tags/tag104.xml"/><Relationship Id="rId82" Type="http://schemas.openxmlformats.org/officeDocument/2006/relationships/tags" Target="../tags/tag125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56" Type="http://schemas.openxmlformats.org/officeDocument/2006/relationships/tags" Target="../tags/tag99.xml"/><Relationship Id="rId77" Type="http://schemas.openxmlformats.org/officeDocument/2006/relationships/tags" Target="../tags/tag120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93" Type="http://schemas.openxmlformats.org/officeDocument/2006/relationships/tags" Target="../tags/tag136.xml"/><Relationship Id="rId98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7748-C471-C978-FD50-E79E067C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think-cell data - do not delete" hidden="1">
            <a:extLst>
              <a:ext uri="{FF2B5EF4-FFF2-40B4-BE49-F238E27FC236}">
                <a16:creationId xmlns:a16="http://schemas.microsoft.com/office/drawing/2014/main" id="{A2C24867-33F7-8653-0CDC-DC4F54D98C4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954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7" imgW="404" imgH="405" progId="TCLayout.ActiveDocument.1">
                  <p:embed/>
                </p:oleObj>
              </mc:Choice>
              <mc:Fallback>
                <p:oleObj name="think-cell Slide" r:id="rId97" imgW="404" imgH="405" progId="TCLayout.ActiveDocument.1">
                  <p:embed/>
                  <p:pic>
                    <p:nvPicPr>
                      <p:cNvPr id="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0C65EC-D2F5-C3E6-90CF-322BE0E8BE90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5">
            <a:extLst>
              <a:ext uri="{FF2B5EF4-FFF2-40B4-BE49-F238E27FC236}">
                <a16:creationId xmlns:a16="http://schemas.microsoft.com/office/drawing/2014/main" id="{717BFB5F-1DE8-F062-A2A4-DAB5764EEE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702404" y="3058088"/>
            <a:ext cx="2346736" cy="16012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cxnSp>
        <p:nvCxnSpPr>
          <p:cNvPr id="11" name="Gerader Verbinder 12">
            <a:extLst>
              <a:ext uri="{FF2B5EF4-FFF2-40B4-BE49-F238E27FC236}">
                <a16:creationId xmlns:a16="http://schemas.microsoft.com/office/drawing/2014/main" id="{AEC0949F-A57D-D5E5-510A-11E94B3F8FCC}"/>
              </a:ext>
            </a:extLst>
          </p:cNvPr>
          <p:cNvCxnSpPr>
            <a:cxnSpLocks/>
          </p:cNvCxnSpPr>
          <p:nvPr/>
        </p:nvCxnSpPr>
        <p:spPr bwMode="auto">
          <a:xfrm>
            <a:off x="4771170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0167B4-DFF1-BBC5-F2AF-C6534D6DE064}"/>
              </a:ext>
            </a:extLst>
          </p:cNvPr>
          <p:cNvSpPr txBox="1"/>
          <p:nvPr/>
        </p:nvSpPr>
        <p:spPr>
          <a:xfrm>
            <a:off x="4753741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Financials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837A3-8476-6F8F-4DA6-DA3E79B9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GB" noProof="0" dirty="0"/>
              <a:t>CONSTELLATION CAPITAL AG</a:t>
            </a:r>
            <a:endParaRPr lang="en-GB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A4AD5-A346-F256-04BF-D78686FC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E351-8280-3C1A-BC1B-681F1782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GB" noProof="0" smtClean="0"/>
              <a:pPr>
                <a:defRPr/>
              </a:pPr>
              <a:t>1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DCC96-A822-E338-42A6-512751EA0F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One Pager </a:t>
            </a:r>
            <a:r>
              <a:rPr lang="en-GB" b="1" i="0" noProof="0" dirty="0">
                <a:solidFill>
                  <a:srgbClr val="10162F"/>
                </a:solidFill>
                <a:effectLst/>
                <a:latin typeface="Apercu"/>
              </a:rPr>
              <a:t>| Project Banks</a:t>
            </a:r>
            <a:endParaRPr lang="en-GB" b="1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51F02-72EB-A4ED-1B23-75A3A858ED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dirty="0"/>
              <a:t>Succession Solution for Profitable Lab Tech Trader &amp; Developer</a:t>
            </a:r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57768E33-8FB7-0264-C758-DC74141D23B4}"/>
              </a:ext>
            </a:extLst>
          </p:cNvPr>
          <p:cNvSpPr/>
          <p:nvPr/>
        </p:nvSpPr>
        <p:spPr>
          <a:xfrm>
            <a:off x="7189750" y="1337631"/>
            <a:ext cx="1624051" cy="27570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en-US" sz="800" noProof="0" dirty="0"/>
              <a:t>Access to a premium customers</a:t>
            </a: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de-CH" sz="800" noProof="0" dirty="0"/>
              <a:t>Loyal </a:t>
            </a:r>
            <a:r>
              <a:rPr lang="de-CH" sz="800" noProof="0" dirty="0" err="1"/>
              <a:t>team</a:t>
            </a:r>
            <a:endParaRPr lang="en-GB" sz="800" noProof="0" dirty="0"/>
          </a:p>
          <a:p>
            <a:pPr marL="88900" indent="-88900">
              <a:spcAft>
                <a:spcPts val="100"/>
              </a:spcAft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r>
              <a:rPr lang="de-CH" sz="800" dirty="0"/>
              <a:t>Global </a:t>
            </a:r>
            <a:r>
              <a:rPr lang="de-CH" sz="800" dirty="0" err="1"/>
              <a:t>competition</a:t>
            </a:r>
            <a:endParaRPr lang="de-CH" sz="800" dirty="0"/>
          </a:p>
          <a:p>
            <a:pPr marL="88900" indent="-88900">
              <a:spcAft>
                <a:spcPts val="100"/>
              </a:spcAft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r>
              <a:rPr lang="en-US" sz="800" dirty="0"/>
              <a:t>Unclear split, own products vs. third-party premium brands</a:t>
            </a:r>
            <a:endParaRPr lang="hu-HU" sz="800" dirty="0"/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de-CH" sz="800" dirty="0">
                <a:solidFill>
                  <a:srgbClr val="000000"/>
                </a:solidFill>
              </a:rPr>
              <a:t>Key-person </a:t>
            </a:r>
            <a:r>
              <a:rPr lang="de-CH" sz="800" dirty="0" err="1">
                <a:solidFill>
                  <a:srgbClr val="000000"/>
                </a:solidFill>
              </a:rPr>
              <a:t>risk</a:t>
            </a:r>
            <a:endParaRPr lang="de-CH" sz="800" dirty="0">
              <a:solidFill>
                <a:srgbClr val="000000"/>
              </a:solidFill>
            </a:endParaRP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dirty="0">
                <a:solidFill>
                  <a:srgbClr val="000000"/>
                </a:solidFill>
              </a:rPr>
              <a:t>No internal successor for the MD</a:t>
            </a: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dirty="0">
                <a:solidFill>
                  <a:srgbClr val="000000"/>
                </a:solidFill>
              </a:rPr>
              <a:t>Key customer risk</a:t>
            </a:r>
            <a:endParaRPr lang="de-CH" sz="80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44FAE096-C3F4-E44E-E106-F110AA571B72}"/>
              </a:ext>
            </a:extLst>
          </p:cNvPr>
          <p:cNvCxnSpPr>
            <a:cxnSpLocks/>
          </p:cNvCxnSpPr>
          <p:nvPr/>
        </p:nvCxnSpPr>
        <p:spPr bwMode="auto">
          <a:xfrm>
            <a:off x="7255650" y="1559131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1">
            <a:extLst>
              <a:ext uri="{FF2B5EF4-FFF2-40B4-BE49-F238E27FC236}">
                <a16:creationId xmlns:a16="http://schemas.microsoft.com/office/drawing/2014/main" id="{747D04C9-7BBC-4320-5DA8-7C5B0A4160D0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GB" sz="1200" b="1" noProof="0" dirty="0">
                <a:solidFill>
                  <a:schemeClr val="accent1"/>
                </a:solidFill>
              </a:rPr>
              <a:t>Investment-Thesis: </a:t>
            </a:r>
            <a:r>
              <a:rPr lang="en-US" sz="1200" b="1" dirty="0">
                <a:solidFill>
                  <a:schemeClr val="dk1"/>
                </a:solidFill>
              </a:rPr>
              <a:t> 100% sale of cash-generative lab component trader &amp; developer</a:t>
            </a:r>
            <a:endParaRPr lang="en-GB" sz="1400" b="1" noProof="0" dirty="0">
              <a:solidFill>
                <a:schemeClr val="dk1"/>
              </a:solidFill>
            </a:endParaRPr>
          </a:p>
        </p:txBody>
      </p:sp>
      <p:sp>
        <p:nvSpPr>
          <p:cNvPr id="22" name="Textfeld 15">
            <a:extLst>
              <a:ext uri="{FF2B5EF4-FFF2-40B4-BE49-F238E27FC236}">
                <a16:creationId xmlns:a16="http://schemas.microsoft.com/office/drawing/2014/main" id="{C93816DC-0F06-9234-DC66-3C1F276100F7}"/>
              </a:ext>
            </a:extLst>
          </p:cNvPr>
          <p:cNvSpPr txBox="1"/>
          <p:nvPr/>
        </p:nvSpPr>
        <p:spPr>
          <a:xfrm>
            <a:off x="7196138" y="4249738"/>
            <a:ext cx="1617663" cy="4095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sz="1100" noProof="0" dirty="0"/>
              <a:t>Status:</a:t>
            </a:r>
          </a:p>
          <a:p>
            <a:r>
              <a:rPr lang="en-GB" sz="800" b="0" noProof="0" dirty="0">
                <a:solidFill>
                  <a:schemeClr val="dk1"/>
                </a:solidFill>
              </a:rPr>
              <a:t>Internal discussion </a:t>
            </a:r>
            <a:r>
              <a:rPr lang="en-GB" sz="800" b="0" noProof="0" dirty="0">
                <a:solidFill>
                  <a:schemeClr val="tx1"/>
                </a:solidFill>
              </a:rPr>
              <a:t>– </a:t>
            </a:r>
            <a:r>
              <a:rPr lang="en-GB" sz="800" b="0" dirty="0">
                <a:solidFill>
                  <a:schemeClr val="tx1"/>
                </a:solidFill>
              </a:rPr>
              <a:t> 03</a:t>
            </a:r>
            <a:r>
              <a:rPr lang="en-GB" sz="800" b="0" noProof="0" dirty="0">
                <a:solidFill>
                  <a:schemeClr val="tx1"/>
                </a:solidFill>
              </a:rPr>
              <a:t>.0</a:t>
            </a:r>
            <a:r>
              <a:rPr lang="en-GB" sz="800" b="0" dirty="0">
                <a:solidFill>
                  <a:schemeClr val="tx1"/>
                </a:solidFill>
              </a:rPr>
              <a:t>3</a:t>
            </a:r>
            <a:r>
              <a:rPr lang="en-GB" sz="800" b="0" noProof="0" dirty="0">
                <a:solidFill>
                  <a:schemeClr val="tx1"/>
                </a:solidFill>
              </a:rPr>
              <a:t>.26</a:t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554E2CDD-6EB4-F04B-FFCB-AF03C564FE43}"/>
              </a:ext>
            </a:extLst>
          </p:cNvPr>
          <p:cNvSpPr/>
          <p:nvPr/>
        </p:nvSpPr>
        <p:spPr>
          <a:xfrm flipV="1">
            <a:off x="7205663" y="4123790"/>
            <a:ext cx="1608138" cy="96838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 noProof="0" dirty="0">
              <a:latin typeface="+mn-lt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082C9BF6-8868-B442-53BF-121FCDA9AD10}"/>
              </a:ext>
            </a:extLst>
          </p:cNvPr>
          <p:cNvSpPr txBox="1"/>
          <p:nvPr/>
        </p:nvSpPr>
        <p:spPr>
          <a:xfrm>
            <a:off x="328492" y="4726408"/>
            <a:ext cx="8485309" cy="110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GB" sz="600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656F25-61FD-4F3F-A8FC-D1998D5CFA8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646335" y="473453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ED065C-6D75-14CB-7285-1E2BBB441E4E}"/>
              </a:ext>
            </a:extLst>
          </p:cNvPr>
          <p:cNvGrpSpPr/>
          <p:nvPr/>
        </p:nvGrpSpPr>
        <p:grpSpPr>
          <a:xfrm>
            <a:off x="5080446" y="474513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7FB074-85CC-EC27-C11D-EE677115BFB6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D73ABBD9-55A2-9E5B-BAC9-9D515170322A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191F85D6-325A-B06B-CAB4-96F96A259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780633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9FFCD94E-313C-6E1E-6E4D-98B9AD718E3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302521" y="470942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4C016A-9CB9-FB32-7C11-6445501ED351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EBDF054D-ECBA-22C5-1373-47BEFA2A668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B13BFA9F-538B-6FCC-E9B4-CF4D3F7B9348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EC7CB4A-38C1-0D57-6489-B488DC26CD46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1E941001-763D-BD4B-D2BA-498821BFA4D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F81246D-BEC9-694A-B577-78272B5C2457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DB7EC2-3AC2-A295-2AF1-E4B18A9124F3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DFFDC361-8337-95E1-A5EE-76CB22180981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748FB74C-0A73-3104-AD11-519285509119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E2D51ADF-58B1-F889-6D1D-076FF5158D49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ADEF6EDF-ED6E-FCA7-99FD-F47ABD1B5F8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AB3A817D-FF06-4BD9-63F5-FBF08EF0BC32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F1C3827-B5E7-B496-D375-6BA849742BC2}"/>
              </a:ext>
            </a:extLst>
          </p:cNvPr>
          <p:cNvGrpSpPr>
            <a:grpSpLocks/>
          </p:cNvGrpSpPr>
          <p:nvPr/>
        </p:nvGrpSpPr>
        <p:grpSpPr>
          <a:xfrm>
            <a:off x="8613546" y="758439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8B9B2F23-2125-D045-C163-9E6E4B4BA13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DC30B9E-AB33-849C-B129-96971E080B4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5948AF-70C2-74BF-920E-1FE41F6474B5}"/>
              </a:ext>
            </a:extLst>
          </p:cNvPr>
          <p:cNvGrpSpPr>
            <a:grpSpLocks/>
          </p:cNvGrpSpPr>
          <p:nvPr/>
        </p:nvGrpSpPr>
        <p:grpSpPr>
          <a:xfrm>
            <a:off x="9333893" y="655622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77C8DA10-66D1-D813-715F-6271B726D75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6C1808DD-DF22-89F2-A4FB-41E29C9BC6D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AC47FB-EBF8-1039-7F42-CE512EE369B2}"/>
              </a:ext>
            </a:extLst>
          </p:cNvPr>
          <p:cNvGrpSpPr>
            <a:grpSpLocks/>
          </p:cNvGrpSpPr>
          <p:nvPr/>
        </p:nvGrpSpPr>
        <p:grpSpPr>
          <a:xfrm>
            <a:off x="9409354" y="998529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B13A2799-B3DF-C37B-B98C-10288627BCA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27F3956B-1F28-5A06-04D5-271294491C9A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10" name="Rechteck 5">
            <a:extLst>
              <a:ext uri="{FF2B5EF4-FFF2-40B4-BE49-F238E27FC236}">
                <a16:creationId xmlns:a16="http://schemas.microsoft.com/office/drawing/2014/main" id="{AB249EB8-2B4F-C82C-804A-298F0CA1111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24419" y="1337632"/>
            <a:ext cx="1706564" cy="332168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Founded: </a:t>
            </a:r>
            <a:r>
              <a:rPr lang="en-GB" sz="800" noProof="0" dirty="0">
                <a:solidFill>
                  <a:srgbClr val="000000"/>
                </a:solidFill>
                <a:latin typeface="Calibri"/>
              </a:rPr>
              <a:t>n/a</a:t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HQ:</a:t>
            </a:r>
            <a:r>
              <a:rPr lang="en-GB" sz="800" noProof="0" dirty="0">
                <a:solidFill>
                  <a:schemeClr val="dk1"/>
                </a:solidFill>
              </a:rPr>
              <a:t> </a:t>
            </a:r>
            <a:r>
              <a:rPr lang="en-GB" sz="800" dirty="0">
                <a:solidFill>
                  <a:srgbClr val="000000"/>
                </a:solidFill>
                <a:latin typeface="Calibri"/>
              </a:rPr>
              <a:t>Southern Germany</a:t>
            </a:r>
            <a:endParaRPr lang="en-GB" sz="800" noProof="0" dirty="0">
              <a:solidFill>
                <a:srgbClr val="000000"/>
              </a:solidFill>
              <a:latin typeface="Calibri"/>
            </a:endParaRPr>
          </a:p>
          <a:p>
            <a:pPr marL="0" indent="4763">
              <a:spcAft>
                <a:spcPts val="600"/>
              </a:spcAft>
              <a:buNone/>
            </a:pPr>
            <a:r>
              <a:rPr lang="en-GB" sz="800" b="1" noProof="0" dirty="0"/>
              <a:t>Website</a:t>
            </a:r>
            <a:r>
              <a:rPr lang="en-GB" sz="800" noProof="0" dirty="0">
                <a:latin typeface="Calibri"/>
              </a:rPr>
              <a:t>:</a:t>
            </a:r>
            <a:r>
              <a:rPr lang="en-GB" sz="800" dirty="0"/>
              <a:t> n/a</a:t>
            </a:r>
            <a:endParaRPr lang="en-GB" sz="800" noProof="0" dirty="0">
              <a:latin typeface="Calibri"/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Industry: </a:t>
            </a:r>
            <a:r>
              <a:rPr lang="en-GB" sz="800" noProof="0" dirty="0">
                <a:solidFill>
                  <a:schemeClr val="dk1"/>
                </a:solidFill>
              </a:rPr>
              <a:t>Lab Analytics &amp; Technology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/>
              <a:t>Niche</a:t>
            </a:r>
            <a:r>
              <a:rPr lang="en-GB" sz="800" noProof="0" dirty="0">
                <a:solidFill>
                  <a:schemeClr val="dk1"/>
                </a:solidFill>
              </a:rPr>
              <a:t>: </a:t>
            </a:r>
            <a:r>
              <a:rPr lang="en-US" sz="800">
                <a:solidFill>
                  <a:schemeClr val="dk1"/>
                </a:solidFill>
              </a:rPr>
              <a:t>Trader with own development</a:t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Revenue (2025</a:t>
            </a:r>
            <a:r>
              <a:rPr lang="hu-HU" sz="800" b="1" noProof="0" dirty="0">
                <a:solidFill>
                  <a:schemeClr val="dk1"/>
                </a:solidFill>
              </a:rPr>
              <a:t>A</a:t>
            </a:r>
            <a:r>
              <a:rPr lang="en-GB" sz="800" b="1" noProof="0" dirty="0">
                <a:solidFill>
                  <a:schemeClr val="dk1"/>
                </a:solidFill>
              </a:rPr>
              <a:t>): </a:t>
            </a:r>
            <a:r>
              <a:rPr lang="en-GB" sz="800" noProof="0" dirty="0">
                <a:solidFill>
                  <a:schemeClr val="dk1"/>
                </a:solidFill>
              </a:rPr>
              <a:t>EUR 10.3m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 err="1">
                <a:solidFill>
                  <a:schemeClr val="dk1"/>
                </a:solidFill>
              </a:rPr>
              <a:t>Adj</a:t>
            </a:r>
            <a:r>
              <a:rPr lang="hu-HU" sz="800" b="1" noProof="0" dirty="0">
                <a:solidFill>
                  <a:schemeClr val="dk1"/>
                </a:solidFill>
              </a:rPr>
              <a:t>.</a:t>
            </a:r>
            <a:r>
              <a:rPr lang="en-GB" sz="800" b="1" noProof="0" dirty="0">
                <a:solidFill>
                  <a:schemeClr val="dk1"/>
                </a:solidFill>
              </a:rPr>
              <a:t> EBITDA (2025</a:t>
            </a:r>
            <a:r>
              <a:rPr lang="hu-HU" sz="800" b="1" noProof="0" dirty="0">
                <a:solidFill>
                  <a:schemeClr val="dk1"/>
                </a:solidFill>
              </a:rPr>
              <a:t>A</a:t>
            </a:r>
            <a:r>
              <a:rPr lang="en-GB" sz="800" b="1" noProof="0" dirty="0">
                <a:solidFill>
                  <a:schemeClr val="dk1"/>
                </a:solidFill>
              </a:rPr>
              <a:t>): </a:t>
            </a:r>
            <a:r>
              <a:rPr lang="en-GB" sz="800" noProof="0" dirty="0">
                <a:solidFill>
                  <a:schemeClr val="dk1"/>
                </a:solidFill>
              </a:rPr>
              <a:t>EUR 1</a:t>
            </a:r>
            <a:r>
              <a:rPr lang="en-GB" sz="800" dirty="0">
                <a:solidFill>
                  <a:schemeClr val="dk1"/>
                </a:solidFill>
              </a:rPr>
              <a:t>.8</a:t>
            </a:r>
            <a:r>
              <a:rPr lang="en-GB" sz="800" noProof="0" dirty="0">
                <a:solidFill>
                  <a:schemeClr val="dk1"/>
                </a:solidFill>
              </a:rPr>
              <a:t>m</a:t>
            </a:r>
            <a:r>
              <a:rPr lang="hu-HU" sz="800" noProof="0" dirty="0">
                <a:solidFill>
                  <a:schemeClr val="dk1"/>
                </a:solidFill>
              </a:rPr>
              <a:t> </a:t>
            </a:r>
            <a:r>
              <a:rPr lang="en-GB" sz="800" noProof="0" dirty="0">
                <a:solidFill>
                  <a:schemeClr val="dk1"/>
                </a:solidFill>
              </a:rPr>
              <a:t>(</a:t>
            </a:r>
            <a:r>
              <a:rPr lang="en-GB" sz="800" dirty="0">
                <a:solidFill>
                  <a:schemeClr val="dk1"/>
                </a:solidFill>
              </a:rPr>
              <a:t>18</a:t>
            </a:r>
            <a:r>
              <a:rPr lang="en-GB" sz="800" noProof="0" dirty="0">
                <a:solidFill>
                  <a:schemeClr val="dk1"/>
                </a:solidFill>
              </a:rPr>
              <a:t>%)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Management Team: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dk1"/>
                </a:solidFill>
              </a:rPr>
              <a:t>1 managing shareholder (operational MD)</a:t>
            </a:r>
            <a:endParaRPr lang="en-GB" sz="800" dirty="0">
              <a:solidFill>
                <a:schemeClr val="dk1"/>
              </a:solidFill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GB" sz="800" b="1" noProof="0" dirty="0">
              <a:highlight>
                <a:srgbClr val="FFFF00"/>
              </a:highlight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/>
              <a:t>No of employees</a:t>
            </a:r>
            <a:r>
              <a:rPr lang="en-GB" sz="800" b="1" noProof="0" dirty="0">
                <a:solidFill>
                  <a:schemeClr val="dk1"/>
                </a:solidFill>
              </a:rPr>
              <a:t>: </a:t>
            </a:r>
            <a:r>
              <a:rPr lang="en-GB" sz="800" dirty="0">
                <a:solidFill>
                  <a:schemeClr val="dk1"/>
                </a:solidFill>
              </a:rPr>
              <a:t>10</a:t>
            </a: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GB" sz="800" noProof="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dirty="0">
                <a:solidFill>
                  <a:schemeClr val="dk1"/>
                </a:solidFill>
              </a:rPr>
              <a:t>Property owned</a:t>
            </a:r>
            <a:r>
              <a:rPr lang="en-GB" sz="800" dirty="0">
                <a:solidFill>
                  <a:schemeClr val="dk1"/>
                </a:solidFill>
              </a:rPr>
              <a:t>: 1,600m² plot, 650m² usable space</a:t>
            </a:r>
            <a:br>
              <a:rPr lang="en-GB" sz="800" noProof="0" dirty="0">
                <a:solidFill>
                  <a:schemeClr val="dk1"/>
                </a:solidFill>
              </a:rPr>
            </a:br>
            <a:endParaRPr lang="en-GB" sz="800" b="1" noProof="0" dirty="0">
              <a:solidFill>
                <a:schemeClr val="dk1"/>
              </a:solidFill>
            </a:endParaRPr>
          </a:p>
          <a:p>
            <a:pPr marL="0" indent="4763">
              <a:lnSpc>
                <a:spcPct val="100000"/>
              </a:lnSpc>
              <a:buNone/>
            </a:pPr>
            <a:r>
              <a:rPr lang="en-GB" sz="800" b="1" noProof="0" dirty="0"/>
              <a:t>Source:</a:t>
            </a:r>
            <a:r>
              <a:rPr lang="en-GB" sz="800" noProof="0" dirty="0"/>
              <a:t> </a:t>
            </a:r>
            <a:r>
              <a:rPr lang="en-GB" sz="800" noProof="0" dirty="0" err="1"/>
              <a:t>Nachfolgekontor</a:t>
            </a:r>
            <a:endParaRPr lang="en-GB" sz="800" noProof="0" dirty="0"/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>IM received on:</a:t>
            </a:r>
            <a:r>
              <a:rPr lang="en-GB" sz="700" i="1" dirty="0"/>
              <a:t> 19.02.2026</a:t>
            </a:r>
            <a:endParaRPr lang="en-GB" sz="700" i="1" noProof="0" dirty="0"/>
          </a:p>
        </p:txBody>
      </p:sp>
      <p:cxnSp>
        <p:nvCxnSpPr>
          <p:cNvPr id="12" name="Gerader Verbinder 12">
            <a:extLst>
              <a:ext uri="{FF2B5EF4-FFF2-40B4-BE49-F238E27FC236}">
                <a16:creationId xmlns:a16="http://schemas.microsoft.com/office/drawing/2014/main" id="{E66874C1-5F6E-5D4A-2FE8-46ADDF54820A}"/>
              </a:ext>
            </a:extLst>
          </p:cNvPr>
          <p:cNvCxnSpPr>
            <a:cxnSpLocks/>
          </p:cNvCxnSpPr>
          <p:nvPr/>
        </p:nvCxnSpPr>
        <p:spPr bwMode="auto">
          <a:xfrm>
            <a:off x="374426" y="1559131"/>
            <a:ext cx="16065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6E9C400-66D8-73CF-D8A4-250E7D6733F7}"/>
              </a:ext>
            </a:extLst>
          </p:cNvPr>
          <p:cNvSpPr txBox="1"/>
          <p:nvPr/>
        </p:nvSpPr>
        <p:spPr>
          <a:xfrm>
            <a:off x="374426" y="1367421"/>
            <a:ext cx="1606550" cy="1680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Facts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F545AAF-2B66-4CB4-8DFB-54C49AA6CE01}"/>
              </a:ext>
            </a:extLst>
          </p:cNvPr>
          <p:cNvSpPr txBox="1"/>
          <p:nvPr/>
        </p:nvSpPr>
        <p:spPr>
          <a:xfrm>
            <a:off x="7260432" y="1366791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Rationale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11D124-39F9-4AA6-ED34-872724C0B95D}"/>
              </a:ext>
            </a:extLst>
          </p:cNvPr>
          <p:cNvSpPr txBox="1"/>
          <p:nvPr/>
        </p:nvSpPr>
        <p:spPr>
          <a:xfrm>
            <a:off x="7260432" y="2617791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Criteria</a:t>
            </a:r>
          </a:p>
        </p:txBody>
      </p:sp>
      <p:sp>
        <p:nvSpPr>
          <p:cNvPr id="138" name="Rechteck 5">
            <a:extLst>
              <a:ext uri="{FF2B5EF4-FFF2-40B4-BE49-F238E27FC236}">
                <a16:creationId xmlns:a16="http://schemas.microsoft.com/office/drawing/2014/main" id="{B5C93F76-02AB-7A28-5035-0CDD07CA628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190361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Premium brand distributor &amp; own lab tech developer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Serves blue-chip clients: Pharma, Chemie, Max Planck, SGS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Strong service: Maintenance, repair, calibration, training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Modern owned infrastructure: Lab, workshop (1,600m²)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ISO 9001 certified, low turnover (~12y avg)</a:t>
            </a:r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88AC5BAC-2738-AB3E-F78D-EC6A856A0D14}"/>
              </a:ext>
            </a:extLst>
          </p:cNvPr>
          <p:cNvCxnSpPr>
            <a:cxnSpLocks/>
          </p:cNvCxnSpPr>
          <p:nvPr/>
        </p:nvCxnSpPr>
        <p:spPr bwMode="auto">
          <a:xfrm>
            <a:off x="2259127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B5FF161-6DB9-7452-B772-5F6281672E4F}"/>
              </a:ext>
            </a:extLst>
          </p:cNvPr>
          <p:cNvSpPr txBox="1"/>
          <p:nvPr/>
        </p:nvSpPr>
        <p:spPr>
          <a:xfrm>
            <a:off x="2241698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Description</a:t>
            </a:r>
            <a:endParaRPr lang="en-GB" sz="800" b="1" noProof="0" dirty="0">
              <a:solidFill>
                <a:schemeClr val="tx2"/>
              </a:solidFill>
            </a:endParaRPr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702BD145-BB9B-8069-F9D3-30973AC2F4C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702404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</p:txBody>
      </p:sp>
      <p:cxnSp>
        <p:nvCxnSpPr>
          <p:cNvPr id="16" name="Gerader Verbinder 12">
            <a:extLst>
              <a:ext uri="{FF2B5EF4-FFF2-40B4-BE49-F238E27FC236}">
                <a16:creationId xmlns:a16="http://schemas.microsoft.com/office/drawing/2014/main" id="{03D72849-8110-83DE-942C-99611BE18C0F}"/>
              </a:ext>
            </a:extLst>
          </p:cNvPr>
          <p:cNvCxnSpPr>
            <a:cxnSpLocks/>
          </p:cNvCxnSpPr>
          <p:nvPr/>
        </p:nvCxnSpPr>
        <p:spPr bwMode="auto">
          <a:xfrm>
            <a:off x="4771170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94F076-73DC-F5CF-BE42-70AA0668170D}"/>
              </a:ext>
            </a:extLst>
          </p:cNvPr>
          <p:cNvSpPr txBox="1"/>
          <p:nvPr/>
        </p:nvSpPr>
        <p:spPr>
          <a:xfrm>
            <a:off x="4753741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Product Portfolio</a:t>
            </a:r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3BF8F5E6-003E-2D32-1868-285E752D2F7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190361" y="3058088"/>
            <a:ext cx="2346736" cy="16012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5BA7B05A-E0AF-69C3-2782-7EB436BF7E0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723022" y="3302440"/>
            <a:ext cx="383253" cy="148019"/>
          </a:xfrm>
          <a:prstGeom prst="rect">
            <a:avLst/>
          </a:prstGeom>
          <a:noFill/>
          <a:ln w="6350">
            <a:noFill/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 marL="0" indent="4763">
              <a:lnSpc>
                <a:spcPct val="100000"/>
              </a:lnSpc>
              <a:buNone/>
            </a:pPr>
            <a:r>
              <a:rPr lang="en-GB" sz="600" i="1" dirty="0"/>
              <a:t>in EURm</a:t>
            </a:r>
            <a:endParaRPr lang="en-GB" sz="800" i="1" noProof="0" dirty="0"/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AF7CD646-7C39-9E22-CD5A-373E77056EFE}"/>
              </a:ext>
            </a:extLst>
          </p:cNvPr>
          <p:cNvCxnSpPr>
            <a:cxnSpLocks/>
          </p:cNvCxnSpPr>
          <p:nvPr/>
        </p:nvCxnSpPr>
        <p:spPr bwMode="auto">
          <a:xfrm>
            <a:off x="2259127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437F3F-9CD4-5607-3F14-034195F5AE17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Customer Structure</a:t>
            </a:r>
          </a:p>
        </p:txBody>
      </p:sp>
      <p:graphicFrame>
        <p:nvGraphicFramePr>
          <p:cNvPr id="1371" name="Chart 1370">
            <a:extLst>
              <a:ext uri="{FF2B5EF4-FFF2-40B4-BE49-F238E27FC236}">
                <a16:creationId xmlns:a16="http://schemas.microsoft.com/office/drawing/2014/main" id="{0EE98069-6E1F-5EE4-786D-F5D91EB14C13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952971373"/>
              </p:ext>
            </p:extLst>
          </p:nvPr>
        </p:nvGraphicFramePr>
        <p:xfrm>
          <a:off x="1974850" y="3179763"/>
          <a:ext cx="1776413" cy="159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>
        <p:nvSpPr>
          <p:cNvPr id="176" name="Rectangle 175">
            <a:extLst>
              <a:ext uri="{FF2B5EF4-FFF2-40B4-BE49-F238E27FC236}">
                <a16:creationId xmlns:a16="http://schemas.microsoft.com/office/drawing/2014/main" id="{BF79F60A-DB9D-8786-E60A-A3CB0197114C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474913" y="4224338"/>
            <a:ext cx="152400" cy="109538"/>
          </a:xfrm>
          <a:prstGeom prst="rect">
            <a:avLst/>
          </a:prstGeom>
          <a:solidFill>
            <a:srgbClr val="9DB1C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A458BBC-0DCD-41B0-96A0-4B82BD32FBFC}" type="datetime'''''''''''''''''''''''''''''''''5''''''''''''''''''''%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ACB26CD6-389A-BD64-5E6A-9BA594F9793E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473325" y="4114800"/>
            <a:ext cx="152400" cy="109538"/>
          </a:xfrm>
          <a:prstGeom prst="rect">
            <a:avLst/>
          </a:prstGeom>
          <a:solidFill>
            <a:srgbClr val="DFE5E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1820FA2-6F50-4FA0-AFF8-99F6B10704FB}" type="datetime'''''''3''''''''''''''''''''%''''''''''''''''''''''''''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FD3C709-67CF-0587-8F38-4EAAE9048736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3500438" y="3435350"/>
            <a:ext cx="142875" cy="106363"/>
          </a:xfrm>
          <a:prstGeom prst="rect">
            <a:avLst/>
          </a:prstGeom>
          <a:solidFill>
            <a:srgbClr val="364D6E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CA4FB32-C729-985C-8829-82621FFA4EA0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500438" y="3608388"/>
            <a:ext cx="142875" cy="106363"/>
          </a:xfrm>
          <a:prstGeom prst="rect">
            <a:avLst/>
          </a:prstGeom>
          <a:solidFill>
            <a:srgbClr val="4C6C9C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61836207-3974-EF6C-79D3-10FC40DBEF1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500438" y="3781425"/>
            <a:ext cx="142875" cy="106363"/>
          </a:xfrm>
          <a:prstGeom prst="rect">
            <a:avLst/>
          </a:prstGeom>
          <a:solidFill>
            <a:srgbClr val="6F8DB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07D2C74D-067F-0DC1-711C-CB55D14056E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500438" y="3954463"/>
            <a:ext cx="142875" cy="106363"/>
          </a:xfrm>
          <a:prstGeom prst="rect">
            <a:avLst/>
          </a:prstGeom>
          <a:solidFill>
            <a:srgbClr val="9DB1C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BDF27259-635E-C15B-0D4B-ACA4576BDFDE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3500438" y="4127500"/>
            <a:ext cx="142875" cy="106363"/>
          </a:xfrm>
          <a:prstGeom prst="rect">
            <a:avLst/>
          </a:prstGeom>
          <a:solidFill>
            <a:srgbClr val="DFE5E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4EE0CB66-7182-80B5-CE3C-181DE87F0867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3500438" y="4300538"/>
            <a:ext cx="142875" cy="106363"/>
          </a:xfrm>
          <a:prstGeom prst="rect">
            <a:avLst/>
          </a:prstGeom>
          <a:solidFill>
            <a:srgbClr val="969696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87AB5DF-002B-F64D-76F8-1CB62ED0D244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3694113" y="3430588"/>
            <a:ext cx="7223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48F2AA6-F7C3-4C0F-A2B2-23552FF02251}" type="datetime'Lar''''''''''''''ge''''''''''s''t'''' Cu''st''omer'''''''">
              <a:rPr lang="en-GB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Largest Customer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78C134D-3178-C9D3-0786-18FAA4557CAA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694113" y="3603625"/>
            <a:ext cx="158750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B6D10F2-4A7B-433C-891E-97EEE4F569DC}" type="datetime'''''''''''''''''2''''''''''n''''''''''''d'''''">
              <a:rPr lang="en-GB" altLang="en-US" sz="800" smtClean="0">
                <a:solidFill>
                  <a:schemeClr val="tx1"/>
                </a:solidFill>
              </a:rPr>
              <a:pPr/>
              <a:t>2nd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784AA70-DFC6-DDA6-F564-479BE51F3373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694113" y="3776663"/>
            <a:ext cx="139700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82574B33-E02A-447A-A82C-A8606D898D59}" type="datetime'''''''''3''r''''''''''''''''''''''''''d'">
              <a:rPr lang="en-GB" altLang="en-US" sz="800" smtClean="0">
                <a:solidFill>
                  <a:schemeClr val="tx1"/>
                </a:solidFill>
              </a:rPr>
              <a:pPr/>
              <a:t>3rd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562CA84-00A3-2833-237F-3D4D61D2B47D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3694114" y="3949700"/>
            <a:ext cx="1381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1E0663A-20E8-4FD3-BC36-0B7A5C2B9883}" type="datetime'''''''4t''h'">
              <a:rPr lang="en-GB" altLang="en-US" sz="800" smtClean="0">
                <a:solidFill>
                  <a:schemeClr val="tx1"/>
                </a:solidFill>
              </a:rPr>
              <a:pPr/>
              <a:t>4th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3A12B07-BC86-6531-3990-8E300913560A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694113" y="4122738"/>
            <a:ext cx="1381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63F3BC8-37E0-4A0F-9598-6FD5383A7F13}" type="datetime'''''''5''''t''''''''''''''''h'''''''">
              <a:rPr lang="en-GB" altLang="en-US" sz="800" smtClean="0">
                <a:solidFill>
                  <a:schemeClr val="tx1"/>
                </a:solidFill>
              </a:rPr>
              <a:pPr/>
              <a:t>5th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923578B-2315-41FB-EC40-99478EDC6FDB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694114" y="4295775"/>
            <a:ext cx="430213" cy="2444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D62F1B9-8C2F-4149-910B-1545489B8BE7}" type="datetime'O''ther ''3''''''''5''''''''''''''''''''0''&#10;''custome''r''s'">
              <a:rPr lang="en-GB" altLang="en-US" sz="800" smtClean="0">
                <a:solidFill>
                  <a:schemeClr val="tx1"/>
                </a:solidFill>
              </a:rPr>
              <a:pPr/>
              <a:t>Other 350
customers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66FCA101-66E6-6D2D-E628-09F48E24EAD4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2697163" y="3827463"/>
            <a:ext cx="330200" cy="2984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26988" rIns="0" bIns="26988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b="1" dirty="0">
                <a:solidFill>
                  <a:schemeClr val="tx1"/>
                </a:solidFill>
                <a:effectLst/>
              </a:rPr>
              <a:t>EUR 10.3m</a:t>
            </a:r>
            <a:endParaRPr lang="en-GB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98" name="Chart 97">
            <a:extLst>
              <a:ext uri="{FF2B5EF4-FFF2-40B4-BE49-F238E27FC236}">
                <a16:creationId xmlns:a16="http://schemas.microsoft.com/office/drawing/2014/main" id="{35E50C2C-A5B1-BF53-8635-B28356D0F4A2}"/>
              </a:ext>
            </a:extLst>
          </p:cNvPr>
          <p:cNvGraphicFramePr/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833198937"/>
              </p:ext>
            </p:extLst>
          </p:nvPr>
        </p:nvGraphicFramePr>
        <p:xfrm>
          <a:off x="4886325" y="3481388"/>
          <a:ext cx="2168525" cy="1023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9"/>
          </a:graphicData>
        </a:graphic>
      </p:graphicFrame>
      <p:cxnSp>
        <p:nvCxnSpPr>
          <p:cNvPr id="1321" name="Straight Connector 1320">
            <a:extLst>
              <a:ext uri="{FF2B5EF4-FFF2-40B4-BE49-F238E27FC236}">
                <a16:creationId xmlns:a16="http://schemas.microsoft.com/office/drawing/2014/main" id="{7DF18762-6C22-3622-BA72-15AB5B858FD0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 bwMode="auto">
          <a:xfrm flipV="1">
            <a:off x="5048250" y="3460750"/>
            <a:ext cx="1001713" cy="889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5" name="Straight Connector 1334">
            <a:extLst>
              <a:ext uri="{FF2B5EF4-FFF2-40B4-BE49-F238E27FC236}">
                <a16:creationId xmlns:a16="http://schemas.microsoft.com/office/drawing/2014/main" id="{E88268F3-F488-AE3D-699F-3588B4967E04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 bwMode="auto">
          <a:xfrm flipV="1">
            <a:off x="6049963" y="3414713"/>
            <a:ext cx="750888" cy="460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B53F04E-ED84-C5E6-B6D2-2FE29D4881D9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6418263" y="4025900"/>
            <a:ext cx="0" cy="2492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D866FDD-2FA7-344B-5109-BFFEED81B1CA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5094288" y="4164013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24DFCB9-4A45-3508-F49B-BD3D6B1505B5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6346825" y="4135438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E104AB-E769-5BA8-F468-2232F0BCFE3D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5416550" y="4038600"/>
            <a:ext cx="0" cy="241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25BF56D-7838-6AB6-5252-B062504DBB61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6669088" y="4022725"/>
            <a:ext cx="0" cy="2508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4" name="Straight Connector 1203">
            <a:extLst>
              <a:ext uri="{FF2B5EF4-FFF2-40B4-BE49-F238E27FC236}">
                <a16:creationId xmlns:a16="http://schemas.microsoft.com/office/drawing/2014/main" id="{7ECF75F6-BC88-EB00-AA2F-1AB89A9FDE1C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5345113" y="4148138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3A9A21-B8D4-5762-89C4-3AF9220E0089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6596063" y="4132263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6E81B2-4955-25CE-8C51-38643A2A6C2B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5667375" y="4035425"/>
            <a:ext cx="0" cy="2428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3C73242-FE44-6A7B-E6F6-636DE19303D5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6918325" y="4019550"/>
            <a:ext cx="0" cy="2524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27C65F5-A606-A5CB-DE21-2E17EB4DFE29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5594350" y="4144963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D99CBAD-61D5-DE38-55E3-312069EFA56F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>
            <a:off x="6846888" y="4129088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7" name="Straight Connector 1426">
            <a:extLst>
              <a:ext uri="{FF2B5EF4-FFF2-40B4-BE49-F238E27FC236}">
                <a16:creationId xmlns:a16="http://schemas.microsoft.com/office/drawing/2014/main" id="{F7AE89A1-F006-252B-2FB9-F218224CF0C1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5916613" y="4025900"/>
            <a:ext cx="0" cy="2476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E18BA67-55F1-39AD-09D2-DCC55CC6131B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6096000" y="4129088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048116-E4E3-D3A0-730D-D1F14B655922}"/>
              </a:ext>
            </a:extLst>
          </p:cNvPr>
          <p:cNvCxnSpPr>
            <a:cxnSpLocks/>
          </p:cNvCxnSpPr>
          <p:nvPr>
            <p:custDataLst>
              <p:tags r:id="rId46"/>
            </p:custDataLst>
          </p:nvPr>
        </p:nvCxnSpPr>
        <p:spPr bwMode="auto">
          <a:xfrm>
            <a:off x="5845175" y="4135438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CB33564-CA4A-D29A-E4BC-B192908ACCC4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6167438" y="4019550"/>
            <a:ext cx="0" cy="2524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0" name="Straight Connector 1399">
            <a:extLst>
              <a:ext uri="{FF2B5EF4-FFF2-40B4-BE49-F238E27FC236}">
                <a16:creationId xmlns:a16="http://schemas.microsoft.com/office/drawing/2014/main" id="{105716EA-0CBE-C09E-F099-6CEBEC37D9C9}"/>
              </a:ext>
            </a:extLst>
          </p:cNvPr>
          <p:cNvCxnSpPr/>
          <p:nvPr>
            <p:custDataLst>
              <p:tags r:id="rId48"/>
            </p:custDataLst>
          </p:nvPr>
        </p:nvCxnSpPr>
        <p:spPr bwMode="auto">
          <a:xfrm>
            <a:off x="5165725" y="4054475"/>
            <a:ext cx="0" cy="2317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74BDA992-93EE-7778-56FD-0FFE3064CAC7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4994275" y="4054475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EBAB9E3-B37B-4170-92DE-471AB572224B}" type="datetime'1''''''''''''''''''''''''''''5''''''''%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375" name="Rectangle 1374">
            <a:extLst>
              <a:ext uri="{FF2B5EF4-FFF2-40B4-BE49-F238E27FC236}">
                <a16:creationId xmlns:a16="http://schemas.microsoft.com/office/drawing/2014/main" id="{F6E87895-5231-CE79-ED05-16836A705E2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5005388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212A809-A35B-40C5-80ED-214E66368520}" type="datetime'''''''''''2''''''''''''1''''''''''''''''A'''''''''">
              <a:rPr lang="en-GB" altLang="en-US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21A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196" name="Rectangle 1195">
            <a:extLst>
              <a:ext uri="{FF2B5EF4-FFF2-40B4-BE49-F238E27FC236}">
                <a16:creationId xmlns:a16="http://schemas.microsoft.com/office/drawing/2014/main" id="{E6ACE224-D363-3391-22DE-150A61FA0A64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5243513" y="403860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A3E28F7-EAFE-47D1-A690-2D3A3EA444EA}" type="datetime'''''''''''''''''''1''6''''''''''''''''''''''''''%''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16%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22CCADDC-FC4A-0661-294B-6FA23DDFA066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5256213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4A8DD47-2D2F-4A3C-B660-117B12E913B8}" type="datetime'''2''2''''A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22A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3A810DC2-B4DD-8811-0E02-87BA6A66D487}"/>
              </a:ext>
            </a:extLst>
          </p:cNvPr>
          <p:cNvSpPr/>
          <p:nvPr>
            <p:custDataLst>
              <p:tags r:id="rId53"/>
            </p:custDataLst>
          </p:nvPr>
        </p:nvSpPr>
        <p:spPr bwMode="gray">
          <a:xfrm>
            <a:off x="5492750" y="4035425"/>
            <a:ext cx="203200" cy="109538"/>
          </a:xfrm>
          <a:prstGeom prst="rect">
            <a:avLst/>
          </a:prstGeom>
          <a:solidFill>
            <a:srgbClr val="364D6E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301F5AE-F5AF-4AF5-933F-F0F05E0767ED}" type="datetime'''''''''''1''''''''''''''''''''7''''''''''''''%'''''''''">
              <a:rPr lang="en-GB" altLang="en-US" sz="8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8A362824-2D9D-3DF4-61E4-6DAFCC038CC7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5507038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7B4B083-934A-43AA-A97D-54D1AB5C3356}" type="datetime'''''''''23''''''''''''''''''A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23A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198" name="Rectangle 1197">
            <a:extLst>
              <a:ext uri="{FF2B5EF4-FFF2-40B4-BE49-F238E27FC236}">
                <a16:creationId xmlns:a16="http://schemas.microsoft.com/office/drawing/2014/main" id="{5EC13D14-E003-9FA4-675E-8CEFB15D052F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5743575" y="402590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725D303-D071-417C-AE74-22E90171EC17}" type="datetime'''''''''1''''''''''''''''''''''''''''''''''''''7%''''''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0103D70-5F06-EECD-5D6F-9237695C9E47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6007100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10FE4A4-FFB5-45E7-B5B6-54F9849C62E2}" type="datetime'''''25''''''''''''''''''''''A'''''''''''''''''''''">
              <a:rPr lang="en-GB" altLang="en-US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25A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57CB699F-4E19-C6FD-962F-F69B90661166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6511925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D23C7C0-BC73-4947-B355-2239D90B3253}" type="datetime'''''''''''2''7''''''''''''''''''''''''''P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27P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E266CC5A-D05A-179A-9945-C010CD7F7177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6261100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425AAD2-0E1D-471D-936B-0B803E71AE92}" type="datetime'2''''''''6''P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26P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202" name="Rectangle 1201">
            <a:extLst>
              <a:ext uri="{FF2B5EF4-FFF2-40B4-BE49-F238E27FC236}">
                <a16:creationId xmlns:a16="http://schemas.microsoft.com/office/drawing/2014/main" id="{B65941A2-E322-9690-2DBF-93E0CCBEC213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6743700" y="401955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181FF3B-91C2-4C90-ADA5-273B1C59B8A6}" type="datetime'''''''''''1''''''''''7''''''''''''''''''''''''''''%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lang="en-GB" sz="800" dirty="0">
              <a:solidFill>
                <a:schemeClr val="tx1"/>
              </a:solidFill>
            </a:endParaRPr>
          </a:p>
        </p:txBody>
      </p:sp>
      <p:sp useBgFill="1">
        <p:nvSpPr>
          <p:cNvPr id="1200" name="Rectangle 1199">
            <a:extLst>
              <a:ext uri="{FF2B5EF4-FFF2-40B4-BE49-F238E27FC236}">
                <a16:creationId xmlns:a16="http://schemas.microsoft.com/office/drawing/2014/main" id="{E384BBBC-50C7-381E-0716-E4D7E67D2116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6245225" y="402590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728A8AB-C577-41BA-BD69-82905F735543}" type="datetime'''''''''1''''''''''''''''''''''''''''''''7%''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24DE8E61-3BAC-A1EE-7E6D-9C31A567843C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6761163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41AE6A-2A5A-41B8-A861-127B4F6976CB}" type="datetime'''2''''''''''''''''8P''''''''''''''''''''''''''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28P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199" name="Rectangle 1198">
            <a:extLst>
              <a:ext uri="{FF2B5EF4-FFF2-40B4-BE49-F238E27FC236}">
                <a16:creationId xmlns:a16="http://schemas.microsoft.com/office/drawing/2014/main" id="{1F361337-C8F1-2DB1-8C5D-3B1A13CDEFB3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5994400" y="401955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AFE9ED5-728A-43F0-BE75-649E18A1104C}" type="datetime'''''''1''''''''8''''''''''%''''''''''''''''''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18%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4E783A5F-B7C1-2C40-C0D8-C9CC8FA18E4C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756275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FDF300F-FEF1-4B27-95C1-A81495CCC75C}" type="datetime'''''''''''''''''''''''2''4''''''''''''''''''''''''A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24A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201" name="Rectangle 1200">
            <a:extLst>
              <a:ext uri="{FF2B5EF4-FFF2-40B4-BE49-F238E27FC236}">
                <a16:creationId xmlns:a16="http://schemas.microsoft.com/office/drawing/2014/main" id="{2F9F2D15-E2A0-3262-0314-EDFDC6F5EE65}"/>
              </a:ext>
            </a:extLst>
          </p:cNvPr>
          <p:cNvSpPr/>
          <p:nvPr>
            <p:custDataLst>
              <p:tags r:id="rId64"/>
            </p:custDataLst>
          </p:nvPr>
        </p:nvSpPr>
        <p:spPr bwMode="gray">
          <a:xfrm>
            <a:off x="6494463" y="4022725"/>
            <a:ext cx="203200" cy="109538"/>
          </a:xfrm>
          <a:prstGeom prst="rect">
            <a:avLst/>
          </a:prstGeom>
          <a:solidFill>
            <a:srgbClr val="364D6E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236AC89-9C6E-4BC3-8553-80C294D24F14}" type="datetime'''''1''''''''''''''''7''%'''''''''''''''''''''''''''''''''''''">
              <a:rPr lang="en-GB" altLang="en-US" sz="8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1320" name="Oval 1319">
            <a:extLst>
              <a:ext uri="{FF2B5EF4-FFF2-40B4-BE49-F238E27FC236}">
                <a16:creationId xmlns:a16="http://schemas.microsoft.com/office/drawing/2014/main" id="{516279A6-EE94-F329-EC82-930967C603D5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5424488" y="3419475"/>
            <a:ext cx="249238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AA3335C-841D-47E6-BE5C-2EF4807268B3}" type="datetime'''''''''''''''+5''''''''''''''''''''%'''''''''''''''''''''''''">
              <a:rPr lang="en-GB" altLang="en-US" sz="8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+5%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333" name="Oval 1332">
            <a:extLst>
              <a:ext uri="{FF2B5EF4-FFF2-40B4-BE49-F238E27FC236}">
                <a16:creationId xmlns:a16="http://schemas.microsoft.com/office/drawing/2014/main" id="{A57702F2-5751-21F5-8DBE-59CABBD826B0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6300788" y="3351213"/>
            <a:ext cx="249238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09BAE07-F2A8-41ED-84D2-AA814538798C}" type="datetime'''''''''''''+''''''''3%'''''''''''''''''''''''''''''''''">
              <a:rPr lang="en-GB" altLang="en-US" sz="8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+3%</a:t>
            </a:fld>
            <a:endParaRPr lang="en-GB" sz="800" b="1" dirty="0">
              <a:solidFill>
                <a:schemeClr val="tx1"/>
              </a:solidFill>
            </a:endParaRPr>
          </a:p>
        </p:txBody>
      </p:sp>
      <p:cxnSp>
        <p:nvCxnSpPr>
          <p:cNvPr id="1409" name="Gerader Verbinder 17">
            <a:extLst>
              <a:ext uri="{FF2B5EF4-FFF2-40B4-BE49-F238E27FC236}">
                <a16:creationId xmlns:a16="http://schemas.microsoft.com/office/drawing/2014/main" id="{57DA56E0-0F47-7CBD-D6E9-204F3EBDD0BD}"/>
              </a:ext>
            </a:extLst>
          </p:cNvPr>
          <p:cNvCxnSpPr>
            <a:cxnSpLocks/>
          </p:cNvCxnSpPr>
          <p:nvPr/>
        </p:nvCxnSpPr>
        <p:spPr bwMode="auto">
          <a:xfrm>
            <a:off x="7255650" y="3771259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10" name="TextBox 1409">
            <a:extLst>
              <a:ext uri="{FF2B5EF4-FFF2-40B4-BE49-F238E27FC236}">
                <a16:creationId xmlns:a16="http://schemas.microsoft.com/office/drawing/2014/main" id="{55E006B6-6103-0576-37D9-73BE110ABD48}"/>
              </a:ext>
            </a:extLst>
          </p:cNvPr>
          <p:cNvSpPr txBox="1"/>
          <p:nvPr/>
        </p:nvSpPr>
        <p:spPr>
          <a:xfrm>
            <a:off x="7260432" y="3571234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Acquisition Strategy</a:t>
            </a:r>
          </a:p>
        </p:txBody>
      </p:sp>
      <p:cxnSp>
        <p:nvCxnSpPr>
          <p:cNvPr id="30" name="Gerader Verbinder 17">
            <a:extLst>
              <a:ext uri="{FF2B5EF4-FFF2-40B4-BE49-F238E27FC236}">
                <a16:creationId xmlns:a16="http://schemas.microsoft.com/office/drawing/2014/main" id="{4A14B837-1E09-2346-F6BE-A9A05D2338C0}"/>
              </a:ext>
            </a:extLst>
          </p:cNvPr>
          <p:cNvCxnSpPr>
            <a:cxnSpLocks/>
          </p:cNvCxnSpPr>
          <p:nvPr/>
        </p:nvCxnSpPr>
        <p:spPr bwMode="auto">
          <a:xfrm>
            <a:off x="7255650" y="27965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FB60E3A-A357-6ED3-0F80-05BB2EF41E36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7267575" y="34686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A36C62-E7CE-F576-6301-2904B7B3215A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7267575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683C62-171C-DA9A-9F61-C61BD9133F1D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7265988" y="316547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1C18BA-C116-E70E-94C9-6836166D947D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7267575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4BF872-EB6C-60FF-E77C-3C4046B0F1BD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7265988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C318BD-D89C-C408-EBDD-695395CDF488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8178800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60C579-6973-466D-6EA9-5A36EDAFE18C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8178800" y="31670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CEA023-20D7-75B7-C7EA-32CE1164BFB0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8178800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5CCA83-B1AB-A365-7545-CF5FF3EC8445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8178800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B84A3530-595E-764E-1592-E74E9521E997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7367587" y="2862263"/>
            <a:ext cx="777582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(EUR 1.0m)</a:t>
            </a:r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091AFB1E-16B5-B8B7-777A-97BA61A0246B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7367588" y="3011488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margin (10%)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5234A1C5-5DCD-AECB-8870-F69507339223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7367588" y="3160713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Digitization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615398AB-6D13-C771-7AF6-67BAE41E4C3E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7367588" y="3308350"/>
            <a:ext cx="777582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Buy &amp; Build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A31E3EA6-87E5-A3E3-ECD2-B1E7DFB3988A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7367587" y="3460750"/>
            <a:ext cx="1201738" cy="87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hu-HU" sz="700" dirty="0">
                <a:solidFill>
                  <a:schemeClr val="tx1"/>
                </a:solidFill>
              </a:rPr>
              <a:t>Market</a:t>
            </a:r>
            <a:r>
              <a:rPr lang="en-GB" sz="700" dirty="0">
                <a:solidFill>
                  <a:schemeClr val="tx1"/>
                </a:solidFill>
              </a:rPr>
              <a:t> fragmentation</a:t>
            </a:r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653A1FF3-B57A-D45D-8166-DC7B9F703EB4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8277225" y="2862263"/>
            <a:ext cx="555625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DACH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B53A7488-E23C-13AD-2CEA-EC2EC106E60B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8277225" y="3011488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Majority stake</a:t>
            </a:r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6A3C5BA7-4DE0-6D31-3031-906AE41088F5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8277225" y="316071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Asset light</a:t>
            </a:r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ABD1326F-FC7E-0CAB-57CE-8ECCA0A6BC36}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8277225" y="3308350"/>
            <a:ext cx="555625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ESG</a:t>
            </a:r>
          </a:p>
        </p:txBody>
      </p:sp>
      <p:sp>
        <p:nvSpPr>
          <p:cNvPr id="1363" name="Rectangle 1362">
            <a:extLst>
              <a:ext uri="{FF2B5EF4-FFF2-40B4-BE49-F238E27FC236}">
                <a16:creationId xmlns:a16="http://schemas.microsoft.com/office/drawing/2014/main" id="{1C3129D2-B7E3-D544-6098-BDD0CA46118D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7267575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364" name="Rectangle 1363">
            <a:extLst>
              <a:ext uri="{FF2B5EF4-FFF2-40B4-BE49-F238E27FC236}">
                <a16:creationId xmlns:a16="http://schemas.microsoft.com/office/drawing/2014/main" id="{EE43CB1D-9EBF-51F7-A87A-24085546B17F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8178800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BD496183-CF87-EBA0-F7DC-6B2C80690B41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7367589" y="3827463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Vertical</a:t>
            </a:r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D9C6C656-ADB4-CE63-2DC8-FB00B96092A2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8277225" y="382746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Horizontal</a:t>
            </a:r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E3ABDCBF-FD5B-DA63-A208-3589C83A15C2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7267575" y="39592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A25894FD-5589-A74C-25C4-F93ABED3C1C8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7367588" y="3952875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Geographical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F25C50-CC74-9CF7-D319-4A015653A035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4159621" y="4734539"/>
            <a:ext cx="108000" cy="72000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B76DAAA-FA7D-2ED4-E9DB-28DAFF0DEBA6}"/>
              </a:ext>
            </a:extLst>
          </p:cNvPr>
          <p:cNvSpPr>
            <a:spLocks noGrp="1"/>
          </p:cNvSpPr>
          <p:nvPr>
            <p:custDataLst>
              <p:tags r:id="rId92"/>
            </p:custDataLst>
          </p:nvPr>
        </p:nvSpPr>
        <p:spPr bwMode="auto">
          <a:xfrm>
            <a:off x="4293919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hu-HU" sz="600" noProof="0" dirty="0">
                <a:solidFill>
                  <a:srgbClr val="000000"/>
                </a:solidFill>
                <a:sym typeface="CKNord Book" panose="020B0604020101010102"/>
              </a:rPr>
              <a:t>Revenue</a:t>
            </a:r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F794AD5C-3E08-0C2D-6FBA-2222C725D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013523"/>
              </p:ext>
            </p:extLst>
          </p:nvPr>
        </p:nvGraphicFramePr>
        <p:xfrm>
          <a:off x="5243513" y="4477578"/>
          <a:ext cx="1700104" cy="1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72">
                  <a:extLst>
                    <a:ext uri="{9D8B030D-6E8A-4147-A177-3AD203B41FA5}">
                      <a16:colId xmlns:a16="http://schemas.microsoft.com/office/drawing/2014/main" val="232548218"/>
                    </a:ext>
                  </a:extLst>
                </a:gridCol>
                <a:gridCol w="242872">
                  <a:extLst>
                    <a:ext uri="{9D8B030D-6E8A-4147-A177-3AD203B41FA5}">
                      <a16:colId xmlns:a16="http://schemas.microsoft.com/office/drawing/2014/main" val="376615012"/>
                    </a:ext>
                  </a:extLst>
                </a:gridCol>
                <a:gridCol w="242872">
                  <a:extLst>
                    <a:ext uri="{9D8B030D-6E8A-4147-A177-3AD203B41FA5}">
                      <a16:colId xmlns:a16="http://schemas.microsoft.com/office/drawing/2014/main" val="2944890319"/>
                    </a:ext>
                  </a:extLst>
                </a:gridCol>
                <a:gridCol w="242872">
                  <a:extLst>
                    <a:ext uri="{9D8B030D-6E8A-4147-A177-3AD203B41FA5}">
                      <a16:colId xmlns:a16="http://schemas.microsoft.com/office/drawing/2014/main" val="3719164646"/>
                    </a:ext>
                  </a:extLst>
                </a:gridCol>
                <a:gridCol w="242872">
                  <a:extLst>
                    <a:ext uri="{9D8B030D-6E8A-4147-A177-3AD203B41FA5}">
                      <a16:colId xmlns:a16="http://schemas.microsoft.com/office/drawing/2014/main" val="39257741"/>
                    </a:ext>
                  </a:extLst>
                </a:gridCol>
                <a:gridCol w="242872">
                  <a:extLst>
                    <a:ext uri="{9D8B030D-6E8A-4147-A177-3AD203B41FA5}">
                      <a16:colId xmlns:a16="http://schemas.microsoft.com/office/drawing/2014/main" val="3992533551"/>
                    </a:ext>
                  </a:extLst>
                </a:gridCol>
                <a:gridCol w="242872">
                  <a:extLst>
                    <a:ext uri="{9D8B030D-6E8A-4147-A177-3AD203B41FA5}">
                      <a16:colId xmlns:a16="http://schemas.microsoft.com/office/drawing/2014/main" val="2637130293"/>
                    </a:ext>
                  </a:extLst>
                </a:gridCol>
              </a:tblGrid>
              <a:tr h="156640">
                <a:tc>
                  <a:txBody>
                    <a:bodyPr/>
                    <a:lstStyle/>
                    <a:p>
                      <a:pPr algn="ctr"/>
                      <a:r>
                        <a:rPr lang="en-GB" sz="800" b="0" dirty="0">
                          <a:solidFill>
                            <a:schemeClr val="tx1"/>
                          </a:solidFill>
                        </a:rPr>
                        <a:t>77%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57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74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79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67%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72%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72%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82604"/>
                  </a:ext>
                </a:extLst>
              </a:tr>
            </a:tbl>
          </a:graphicData>
        </a:graphic>
      </p:graphicFrame>
      <p:sp>
        <p:nvSpPr>
          <p:cNvPr id="1398" name="TextBox 1397">
            <a:extLst>
              <a:ext uri="{FF2B5EF4-FFF2-40B4-BE49-F238E27FC236}">
                <a16:creationId xmlns:a16="http://schemas.microsoft.com/office/drawing/2014/main" id="{CE8151A8-9737-4BA0-C752-6616FDA67EFD}"/>
              </a:ext>
            </a:extLst>
          </p:cNvPr>
          <p:cNvSpPr txBox="1"/>
          <p:nvPr/>
        </p:nvSpPr>
        <p:spPr>
          <a:xfrm>
            <a:off x="4735609" y="4494343"/>
            <a:ext cx="2547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800" dirty="0"/>
              <a:t>FCF</a:t>
            </a:r>
            <a:endParaRPr lang="en-GB" sz="8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93E6555-10AA-5A6E-194F-774C7EACC438}"/>
              </a:ext>
            </a:extLst>
          </p:cNvPr>
          <p:cNvSpPr/>
          <p:nvPr/>
        </p:nvSpPr>
        <p:spPr>
          <a:xfrm>
            <a:off x="4769265" y="1596437"/>
            <a:ext cx="1044000" cy="241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/>
              <a:t>Chromatography 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267158A-4AC7-2382-5B10-4083443D83D3}"/>
              </a:ext>
            </a:extLst>
          </p:cNvPr>
          <p:cNvSpPr/>
          <p:nvPr/>
        </p:nvSpPr>
        <p:spPr>
          <a:xfrm>
            <a:off x="4769265" y="1861397"/>
            <a:ext cx="1044000" cy="241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Photometry 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FC6530C-8F0D-2143-91B3-0D10412391BD}"/>
              </a:ext>
            </a:extLst>
          </p:cNvPr>
          <p:cNvSpPr/>
          <p:nvPr/>
        </p:nvSpPr>
        <p:spPr>
          <a:xfrm>
            <a:off x="4769265" y="2126357"/>
            <a:ext cx="1044000" cy="241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Elemental analysis 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92487E-BAF5-FC9B-8A39-26F0E2A27414}"/>
              </a:ext>
            </a:extLst>
          </p:cNvPr>
          <p:cNvSpPr/>
          <p:nvPr/>
        </p:nvSpPr>
        <p:spPr>
          <a:xfrm>
            <a:off x="4769265" y="2391317"/>
            <a:ext cx="1044000" cy="241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Liquid handling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053B365-9F79-3A47-4C78-69D8C495FC95}"/>
              </a:ext>
            </a:extLst>
          </p:cNvPr>
          <p:cNvSpPr/>
          <p:nvPr/>
        </p:nvSpPr>
        <p:spPr>
          <a:xfrm>
            <a:off x="4769265" y="2656276"/>
            <a:ext cx="1044000" cy="241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Consumables </a:t>
            </a:r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64FD3E24-9EAD-9F20-A857-B4A0A54BC954}"/>
              </a:ext>
            </a:extLst>
          </p:cNvPr>
          <p:cNvSpPr/>
          <p:nvPr/>
        </p:nvSpPr>
        <p:spPr>
          <a:xfrm>
            <a:off x="5936375" y="1596437"/>
            <a:ext cx="1044000" cy="241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Standard analytics</a:t>
            </a:r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EA9633C2-A2A3-9BFB-D275-DBF83A3792EE}"/>
              </a:ext>
            </a:extLst>
          </p:cNvPr>
          <p:cNvSpPr/>
          <p:nvPr/>
        </p:nvSpPr>
        <p:spPr>
          <a:xfrm>
            <a:off x="5936375" y="1861397"/>
            <a:ext cx="1044000" cy="241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Process control</a:t>
            </a:r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17CEB3F5-F505-F9F9-279E-3683A76F3078}"/>
              </a:ext>
            </a:extLst>
          </p:cNvPr>
          <p:cNvSpPr/>
          <p:nvPr/>
        </p:nvSpPr>
        <p:spPr>
          <a:xfrm>
            <a:off x="5936375" y="2126357"/>
            <a:ext cx="1044000" cy="241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Method development</a:t>
            </a:r>
          </a:p>
        </p:txBody>
      </p:sp>
      <p:sp>
        <p:nvSpPr>
          <p:cNvPr id="1414" name="Rectangle 1413">
            <a:extLst>
              <a:ext uri="{FF2B5EF4-FFF2-40B4-BE49-F238E27FC236}">
                <a16:creationId xmlns:a16="http://schemas.microsoft.com/office/drawing/2014/main" id="{9EE35B33-5530-BC7B-95F2-6C98B75C154C}"/>
              </a:ext>
            </a:extLst>
          </p:cNvPr>
          <p:cNvSpPr/>
          <p:nvPr/>
        </p:nvSpPr>
        <p:spPr>
          <a:xfrm>
            <a:off x="5936375" y="2391317"/>
            <a:ext cx="1044000" cy="241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415" name="Rectangle 1414">
            <a:extLst>
              <a:ext uri="{FF2B5EF4-FFF2-40B4-BE49-F238E27FC236}">
                <a16:creationId xmlns:a16="http://schemas.microsoft.com/office/drawing/2014/main" id="{2C420502-F1B8-16FC-20B4-3F746BCE6F2B}"/>
              </a:ext>
            </a:extLst>
          </p:cNvPr>
          <p:cNvSpPr/>
          <p:nvPr/>
        </p:nvSpPr>
        <p:spPr>
          <a:xfrm>
            <a:off x="5936375" y="2656276"/>
            <a:ext cx="1044000" cy="241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Maintenance and repair</a:t>
            </a:r>
          </a:p>
        </p:txBody>
      </p:sp>
    </p:spTree>
    <p:extLst>
      <p:ext uri="{BB962C8B-B14F-4D97-AF65-F5344CB8AC3E}">
        <p14:creationId xmlns:p14="http://schemas.microsoft.com/office/powerpoint/2010/main" val="214718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5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91813596403010055980E+00&quot;&gt;&lt;m_msothmcolidx val=&quot;0&quot;/&gt;&lt;m_rgb r=&quot;00&quot; g=&quot;B0&quot; b=&quot;50&quot;/&gt;&lt;/elem&gt;&lt;elem m_fUsage=&quot;2.19510000000000005116E+00&quot;&gt;&lt;m_msothmcolidx val=&quot;0&quot;/&gt;&lt;m_rgb r=&quot;70&quot; g=&quot;30&quot; b=&quot;A0&quot;/&gt;&lt;/elem&gt;&lt;elem m_fUsage=&quot;7.36098929100000076708E-01&quot;&gt;&lt;m_msothmcolidx val=&quot;0&quot;/&gt;&lt;m_rgb r=&quot;F5&quot; g=&quot;62&quot; b=&quot;1B&quot;/&gt;&lt;/elem&gt;&lt;elem m_fUsage=&quot;6.88845639477159155106E-01&quot;&gt;&lt;m_msothmcolidx val=&quot;0&quot;/&gt;&lt;m_rgb r=&quot;BC&quot; g=&quot;CC&quot; b=&quot;EA&quot;/&gt;&lt;/elem&gt;&lt;elem m_fUsage=&quot;4.78296900000000135833E-01&quot;&gt;&lt;m_msothmcolidx val=&quot;0&quot;/&gt;&lt;m_rgb r=&quot;44&quot; g=&quot;62&quot; b=&quot;EE&quot;/&gt;&lt;/elem&gt;&lt;elem m_fUsage=&quot;4.49566585619359360138E-01&quot;&gt;&lt;m_msothmcolidx val=&quot;0&quot;/&gt;&lt;m_rgb r=&quot;B9&quot; g=&quot;DF&quot; b=&quot;EE&quot;/&gt;&lt;/elem&gt;&lt;elem m_fUsage=&quot;2.18502814219955432407E-01&quot;&gt;&lt;m_msothmcolidx val=&quot;0&quot;/&gt;&lt;m_rgb r=&quot;25&quot; g=&quot;3F&quot; b=&quot;6A&quot;/&gt;&lt;/elem&gt;&lt;elem m_fUsage=&quot;9.47961491495192820622E-02&quot;&gt;&lt;m_msothmcolidx val=&quot;0&quot;/&gt;&lt;m_rgb r=&quot;C4&quot; g=&quot;DB&quot; b=&quot;F0&quot;/&gt;&lt;/elem&gt;&lt;elem m_fUsage=&quot;8.49031351270367468098E-02&quot;&gt;&lt;m_msothmcolidx val=&quot;0&quot;/&gt;&lt;m_rgb r=&quot;DC&quot; g=&quot;EE&quot; b=&quot;F5&quot;/&gt;&lt;/elem&gt;&lt;elem m_fUsage=&quot;4.53142882543358035963E-02&quot;&gt;&lt;m_msothmcolidx val=&quot;0&quot;/&gt;&lt;m_rgb r=&quot;41&quot; g=&quot;41&quot; b=&quot;41&quot;/&gt;&lt;/elem&gt;&lt;elem m_fUsage=&quot;1.33027946472911492298E-02&quot;&gt;&lt;m_msothmcolidx val=&quot;0&quot;/&gt;&lt;m_rgb r=&quot;F4&quot; g=&quot;F3&quot; b=&quot;E8&quot;/&gt;&lt;/elem&gt;&lt;elem m_fUsage=&quot;1.07752636643058292976E-02&quot;&gt;&lt;m_msothmcolidx val=&quot;0&quot;/&gt;&lt;m_rgb r=&quot;EF&quot; g=&quot;ED&quot; b=&quot;DA&quot;/&gt;&lt;/elem&gt;&lt;elem m_fUsage=&quot;9.69773729787524844947E-03&quot;&gt;&lt;m_msothmcolidx val=&quot;0&quot;/&gt;&lt;m_rgb r=&quot;D1&quot; g=&quot;EA&quot; b=&quot;F3&quot;/&gt;&lt;/elem&gt;&lt;elem m_fUsage=&quot;8.72796356808772273717E-03&quot;&gt;&lt;m_msothmcolidx val=&quot;0&quot;/&gt;&lt;m_rgb r=&quot;E8&quot; g=&quot;E4&quot; b=&quot;CA&quot;/&gt;&lt;/elem&gt;&lt;elem m_fUsage=&quot;8.46534434697576373963E-03&quot;&gt;&lt;m_msothmcolidx val=&quot;0&quot;/&gt;&lt;m_rgb r=&quot;59&quot; g=&quot;59&quot; b=&quot;59&quot;/&gt;&lt;/elem&gt;&lt;elem m_fUsage=&quot;4.63839768658810824853E-03&quot;&gt;&lt;m_msothmcolidx val=&quot;0&quot;/&gt;&lt;m_rgb r=&quot;D8&quot; g=&quot;E7&quot; b=&quot;F5&quot;/&gt;&lt;/elem&gt;&lt;elem m_fUsage=&quot;3.79368841093047142951E-03&quot;&gt;&lt;m_msothmcolidx val=&quot;0&quot;/&gt;&lt;m_rgb r=&quot;50&quot; g=&quot;25&quot; b=&quot;FA&quot;/&gt;&lt;/elem&gt;&lt;elem m_fUsage=&quot;3.75710212613636785478E-03&quot;&gt;&lt;m_msothmcolidx val=&quot;0&quot;/&gt;&lt;m_rgb r=&quot;AC&quot; g=&quot;F4&quot; b=&quot;FB&quot;/&gt;&lt;/elem&gt;&lt;elem m_fUsage=&quot;3.38139191352273020194E-03&quot;&gt;&lt;m_msothmcolidx val=&quot;0&quot;/&gt;&lt;m_rgb r=&quot;EB&quot; g=&quot;F3&quot; b=&quot;FA&quot;/&gt;&lt;/elem&gt;&lt;elem m_fUsage=&quot;3.04325272217045731185E-03&quot;&gt;&lt;m_msothmcolidx val=&quot;0&quot;/&gt;&lt;m_rgb r=&quot;AC&quot; g=&quot;A8&quot; b=&quot;A8&quot;/&gt;&lt;/elem&gt;&lt;elem m_fUsage=&quot;2.46503470495807114685E-03&quot;&gt;&lt;m_msothmcolidx val=&quot;0&quot;/&gt;&lt;m_rgb r=&quot;69&quot; g=&quot;88&quot; b=&quot;B6&quot;/&gt;&lt;/elem&gt;&lt;elem m_fUsage=&quot;2.21853123446226355511E-03&quot;&gt;&lt;m_msothmcolidx val=&quot;0&quot;/&gt;&lt;m_rgb r=&quot;17&quot; g=&quot;2C&quot; b=&quot;4A&quot;/&gt;&lt;/elem&gt;&lt;elem m_fUsage=&quot;1.61730926992299014339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  <p:tag name="THINKCELLSHAPEDONOTDELETE" val="pfDYr2t8jNIypJBq4bknX4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jm06wZVgw.7eP7ysSST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WkyHFR39HbAAx3gXKK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VJeW_MqSvywVGmQolfO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M9nolBmLv879M3gU3X0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ZjXS3MRw.d21ANPuFz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jqgQCl2oUgFuiC8_AF1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S4230g.BlsfwiuIXM40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hyGOD58ovKrgIew7e1a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pxCFDqrfhMG5V0K3NGa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j1nYGjFaQ45SCoUsdzP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elo3co9.BShPXriX.aF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M1czAANo..mXKXshgKz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oPg_il_qVA1.RSbxbc6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nJJLCSOudSOtFtrZzHZ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QOrcobVP3IWj1QjJCBw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5Uz9Vo8mdnLkVipfQNh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Zsys01yS1svRFPT1H3e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QeP50dlptPHo1T5ZozY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cBs3T9lXyK6l7o1LgQf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.KFSjVXwiXitldK3PtfO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TdOGx06VXWBHULDzyfM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q4L38QK0MRJL0kjxT2X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t8Z9ovTdal9Zr3xUk_D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xcUj04zY_42ZzDANjVC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0uE2PVi5bLQC99TMMpE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XmE5YF0WqxOmynowfNN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.6waqCArq2AEdfbnRKQ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tXZqLSZClyvQA65kRD9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L1hrnuyjkAaA1utiF5m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JnvRkpR5m42vpAqfV_3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KlYFc5NFFMXZf49TU3V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Co2fRDUl4CfGa7oYyQk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Z3inCVvBnAtx_0x634W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oZZVBLMVHsTLzVerafU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tuFxvfeDugpyg4hu8Y6g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trgcUrkTnFSqF7ZXrCg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2Ith1VFeqzwOrC9fZMb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8ymrHV5.4XR2E7QFYmC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B61xsgpmedxXVp4ALKW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_J3SkED16.zVJ9CYWwO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QAGEo1lXatEsqnnmrNz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qf_A2U4kldoZ.x9T0Lv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oqiINGPf9gQy43dA.rB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2feBZzdU.xVJfNvKxHM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ng_7kAnxuQzeI0O_PnP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z5CSgGuWxT5KMdRVAmP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z1IV7gepf7sMekpyDLO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kBE_DOEnZxb.Lc9L3PBx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EqsKCaficwTxbfLgiaP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aD3BTxDfxGTzB4UVg2b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f_lZieJNH9ewDxuxTlx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i6urI0WpwtWLyeypra5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UDizBwou6FaaTdC.wOP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1XZs2vyiPDIDFjPD4cFO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UlmCEF5ogDoyv7GAJ2n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K7SR5lskVWXZ0L3.JOC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jHv88tkUrm9DdEIzSns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9suJRTpz.BBNTv4hp9Y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Xar4jx2z4Gm1df8.Yka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LjwOL9lI.LGikRVcT0c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7TPEhLoJa1NGN_4k3x.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LIuY85I0LZtqSv2vNsx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magkM0pMOxOpRKhZB8dW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4rjK2pMFPjpyc6VmMYZV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3X75uqju6ZlUUXe3XTHK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xxQ.wZ5dMEIb9k8DAGX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3HmWlQoj98YrH9IZ99W7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562Zc_0YAI9Ns7f72GZp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3OlY51L0cDp7.8PNuFM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nexWDeCaoW2ExnbqfyC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i0pi2CMIAgymG1PdMeBo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P.adES.2vEiaGyM3nNh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ULuixfS8gAS3Uc9Sxvj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RQDMgkTc5iPfm7xshH0z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VC3BrXsHzz_5wxaM3DM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Af6_cHsWnGy3spbgmqw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K71JMBj0QzIpRljgfzW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4CA7C6-6EF8-493D-B2CC-2C62053374D6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4cabe56c-7e26-4c02-8d85-b4fad8b06d2c"/>
    <ds:schemaRef ds:uri="http://purl.org/dc/dcmitype/"/>
    <ds:schemaRef ds:uri="2a11dabe-1bed-4248-9727-f03e5cc57e90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350</Words>
  <Application>Microsoft Office PowerPoint</Application>
  <PresentationFormat>On-screen Show (16:9)</PresentationFormat>
  <Paragraphs>155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Apercu</vt:lpstr>
      <vt:lpstr>Arial</vt:lpstr>
      <vt:lpstr>Calibri</vt:lpstr>
      <vt:lpstr>CKNord Book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Tobias Wieser</cp:lastModifiedBy>
  <cp:revision>1266</cp:revision>
  <cp:lastPrinted>2023-04-14T12:16:15Z</cp:lastPrinted>
  <dcterms:created xsi:type="dcterms:W3CDTF">2017-10-02T06:30:19Z</dcterms:created>
  <dcterms:modified xsi:type="dcterms:W3CDTF">2026-03-03T10:48:15Z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