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7"/>
  </p:notesMasterIdLst>
  <p:handoutMasterIdLst>
    <p:handoutMasterId r:id="rId8"/>
  </p:handoutMasterIdLst>
  <p:sldIdLst>
    <p:sldId id="2147377613" r:id="rId6"/>
  </p:sldIdLst>
  <p:sldSz cx="9144000" cy="5143500" type="screen16x9"/>
  <p:notesSz cx="7010400" cy="92964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3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72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5BBEF"/>
    <a:srgbClr val="364D6E"/>
    <a:srgbClr val="9DC3E6"/>
    <a:srgbClr val="AAAAAA"/>
    <a:srgbClr val="F4C500"/>
    <a:srgbClr val="8FAADC"/>
    <a:srgbClr val="D0CECE"/>
    <a:srgbClr val="BFBFBF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7307" autoAdjust="0"/>
  </p:normalViewPr>
  <p:slideViewPr>
    <p:cSldViewPr snapToGrid="0">
      <p:cViewPr varScale="1">
        <p:scale>
          <a:sx n="199" d="100"/>
          <a:sy n="199" d="100"/>
        </p:scale>
        <p:origin x="3486" y="162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172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353887399463807"/>
          <c:y val="0.16832669322709162"/>
          <c:w val="0.6720285969615728"/>
          <c:h val="0.663346613545816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0BD-4F16-AA78-B4767F5A3B37}"/>
              </c:ext>
            </c:extLst>
          </c:dPt>
          <c:dPt>
            <c:idx val="1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0BD-4F16-AA78-B4767F5A3B3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0BD-4F16-AA78-B4767F5A3B37}"/>
              </c:ext>
            </c:extLst>
          </c:dPt>
          <c:dLbls>
            <c:dLbl>
              <c:idx val="0"/>
              <c:layout>
                <c:manualLayout>
                  <c:x val="8.9365504915102766E-3"/>
                  <c:y val="1.99203187250996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0BD-4F16-AA78-B4767F5A3B37}"/>
                </c:ext>
              </c:extLst>
            </c:dLbl>
            <c:dLbl>
              <c:idx val="1"/>
              <c:layout>
                <c:manualLayout>
                  <c:x val="-1.2511170688114389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0BD-4F16-AA78-B4767F5A3B37}"/>
                </c:ext>
              </c:extLst>
            </c:dLbl>
            <c:dLbl>
              <c:idx val="2"/>
              <c:layout>
                <c:manualLayout>
                  <c:x val="-7.1492403932082215E-3"/>
                  <c:y val="-1.494023904382470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0BD-4F16-AA78-B4767F5A3B3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63</c:v>
                </c:pt>
                <c:pt idx="1">
                  <c:v>19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BD-4F16-AA78-B4767F5A3B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8067349926793559E-2"/>
          <c:y val="0.26323987538940807"/>
          <c:w val="0.92386530014641288"/>
          <c:h val="0.5545171339563862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69158878504672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DFE-4289-B88B-62B1337F5012}"/>
                </c:ext>
              </c:extLst>
            </c:dLbl>
            <c:dLbl>
              <c:idx val="1"/>
              <c:layout>
                <c:manualLayout>
                  <c:x val="0"/>
                  <c:y val="-0.2336448598130841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DFE-4289-B88B-62B1337F5012}"/>
                </c:ext>
              </c:extLst>
            </c:dLbl>
            <c:dLbl>
              <c:idx val="2"/>
              <c:layout>
                <c:manualLayout>
                  <c:x val="0"/>
                  <c:y val="-0.2320872274143302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DFE-4289-B88B-62B1337F5012}"/>
                </c:ext>
              </c:extLst>
            </c:dLbl>
            <c:dLbl>
              <c:idx val="3"/>
              <c:layout>
                <c:manualLayout>
                  <c:x val="0"/>
                  <c:y val="-0.311526479750778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DFE-4289-B88B-62B1337F5012}"/>
                </c:ext>
              </c:extLst>
            </c:dLbl>
            <c:dLbl>
              <c:idx val="4"/>
              <c:layout>
                <c:manualLayout>
                  <c:x val="0"/>
                  <c:y val="-0.3348909657320872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DFE-4289-B88B-62B1337F5012}"/>
                </c:ext>
              </c:extLst>
            </c:dLbl>
            <c:dLbl>
              <c:idx val="5"/>
              <c:layout>
                <c:manualLayout>
                  <c:x val="0"/>
                  <c:y val="-0.3598130841121495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DFE-4289-B88B-62B1337F501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3.266</c:v>
                </c:pt>
                <c:pt idx="1">
                  <c:v>3.8879999999999999</c:v>
                </c:pt>
                <c:pt idx="2">
                  <c:v>4.3380000000000001</c:v>
                </c:pt>
                <c:pt idx="3">
                  <c:v>6.6989999999999998</c:v>
                </c:pt>
                <c:pt idx="4">
                  <c:v>7.3689999999999998</c:v>
                </c:pt>
                <c:pt idx="5">
                  <c:v>8.1059999999999999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FE-4289-B88B-62B1337F5012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0">
                  <c:v>0.91900000000000004</c:v>
                </c:pt>
                <c:pt idx="1">
                  <c:v>1.333</c:v>
                </c:pt>
                <c:pt idx="2">
                  <c:v>2.0209999999999999</c:v>
                </c:pt>
                <c:pt idx="3">
                  <c:v>3.8</c:v>
                </c:pt>
                <c:pt idx="4">
                  <c:v>4.2119999999999997</c:v>
                </c:pt>
                <c:pt idx="5">
                  <c:v>4.6929999999999996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DFE-4289-B88B-62B1337F5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52567999"/>
        <c:axId val="1"/>
      </c:barChart>
      <c:barChart>
        <c:barDir val="col"/>
        <c:grouping val="clustered"/>
        <c:varyColors val="0"/>
        <c:ser>
          <c:idx val="3"/>
          <c:order val="3"/>
          <c:invertIfNegative val="0"/>
          <c:extLst>
            <c:ext xmlns:c16="http://schemas.microsoft.com/office/drawing/2014/chart" uri="{C3380CC4-5D6E-409C-BE32-E72D297353CC}">
              <c16:uniqueId val="{0000000F-4DFE-4289-B88B-62B1337F5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DFE-4289-B88B-62B1337F5012}"/>
              </c:ext>
            </c:extLst>
          </c:dPt>
          <c:dPt>
            <c:idx val="1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DFE-4289-B88B-62B1337F5012}"/>
              </c:ext>
            </c:extLst>
          </c:dPt>
          <c:dPt>
            <c:idx val="2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DFE-4289-B88B-62B1337F5012}"/>
              </c:ext>
            </c:extLst>
          </c:dPt>
          <c:dPt>
            <c:idx val="3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DFE-4289-B88B-62B1337F5012}"/>
              </c:ext>
            </c:extLst>
          </c:dPt>
          <c:dPt>
            <c:idx val="4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DFE-4289-B88B-62B1337F5012}"/>
              </c:ext>
            </c:extLst>
          </c:dPt>
          <c:dPt>
            <c:idx val="5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DFE-4289-B88B-62B1337F5012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1.1775918554807105</c:v>
                </c:pt>
                <c:pt idx="1">
                  <c:v>1.7900187757201647</c:v>
                </c:pt>
                <c:pt idx="2">
                  <c:v>2.9625493314891651</c:v>
                </c:pt>
                <c:pt idx="3">
                  <c:v>5.9555456038214647</c:v>
                </c:pt>
                <c:pt idx="4">
                  <c:v>6.6195103813271814</c:v>
                </c:pt>
                <c:pt idx="5">
                  <c:v>7.4100304712558591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4DFE-4289-B88B-62B1337F5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2567999"/>
        <c:axId val="1"/>
      </c:lineChart>
      <c:catAx>
        <c:axId val="752567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.105999999999999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752567999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.1000000000000001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3616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3616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173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GB" smtClean="0"/>
              <a:pPr/>
              <a:t>03/03/2026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58888"/>
            <a:ext cx="6042025" cy="3398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550" y="4846716"/>
            <a:ext cx="5556391" cy="3965496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173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0B33-301B-2A03-F6B8-869CC41F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DB9F3-01B8-C287-18EF-0B3047A3B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14EA8-C9AE-545D-D61C-AFBDB027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B248-57E0-1EBA-C84B-9A04D4FA2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081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oleObject" Target="../embeddings/oleObject8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oleObject" Target="../embeddings/oleObject1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2419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GB" dirty="0"/>
              <a:t>Click to edit Master</a:t>
            </a:r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12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192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8328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415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967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70804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971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6992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829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820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8381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42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10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558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916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760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1573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263055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2C2A8472-B2A0-3A42-A5D5-3467F5A0408F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74" Type="http://schemas.openxmlformats.org/officeDocument/2006/relationships/tags" Target="../tags/tag117.xml"/><Relationship Id="rId79" Type="http://schemas.openxmlformats.org/officeDocument/2006/relationships/oleObject" Target="../embeddings/oleObject18.bin"/><Relationship Id="rId5" Type="http://schemas.openxmlformats.org/officeDocument/2006/relationships/tags" Target="../tags/tag48.xml"/><Relationship Id="rId61" Type="http://schemas.openxmlformats.org/officeDocument/2006/relationships/tags" Target="../tags/tag104.xml"/><Relationship Id="rId82" Type="http://schemas.openxmlformats.org/officeDocument/2006/relationships/image" Target="../media/image2.png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56" Type="http://schemas.openxmlformats.org/officeDocument/2006/relationships/tags" Target="../tags/tag99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77" Type="http://schemas.openxmlformats.org/officeDocument/2006/relationships/slideLayout" Target="../slideLayouts/slideLayout4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80" Type="http://schemas.openxmlformats.org/officeDocument/2006/relationships/chart" Target="../charts/chart1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tags" Target="../tags/tag118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notesSlide" Target="../notesSlides/notesSlide1.xml"/><Relationship Id="rId81" Type="http://schemas.openxmlformats.org/officeDocument/2006/relationships/chart" Target="../charts/chart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tags" Target="../tags/tag119.xml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2" Type="http://schemas.openxmlformats.org/officeDocument/2006/relationships/tags" Target="../tags/tag45.xml"/><Relationship Id="rId29" Type="http://schemas.openxmlformats.org/officeDocument/2006/relationships/tags" Target="../tags/tag72.xml"/><Relationship Id="rId24" Type="http://schemas.openxmlformats.org/officeDocument/2006/relationships/tags" Target="../tags/tag67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66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7748-C471-C978-FD50-E79E067C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think-cell data - do not delete" hidden="1">
            <a:extLst>
              <a:ext uri="{FF2B5EF4-FFF2-40B4-BE49-F238E27FC236}">
                <a16:creationId xmlns:a16="http://schemas.microsoft.com/office/drawing/2014/main" id="{A2C24867-33F7-8653-0CDC-DC4F54D98C4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9195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9" imgW="404" imgH="405" progId="TCLayout.ActiveDocument.1">
                  <p:embed/>
                </p:oleObj>
              </mc:Choice>
              <mc:Fallback>
                <p:oleObj name="think-cell Slide" r:id="rId79" imgW="404" imgH="405" progId="TCLayout.ActiveDocument.1">
                  <p:embed/>
                  <p:pic>
                    <p:nvPicPr>
                      <p:cNvPr id="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0C65EC-D2F5-C3E6-90CF-322BE0E8BE90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" name="Rechteck 5">
            <a:extLst>
              <a:ext uri="{FF2B5EF4-FFF2-40B4-BE49-F238E27FC236}">
                <a16:creationId xmlns:a16="http://schemas.microsoft.com/office/drawing/2014/main" id="{B274DCBF-4E82-29E2-7CD7-4886BDAFDA9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702404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3-level electric karting (600m track, event lounge for up to 80 guests)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25 bowling lanes with LED screens &amp; VIP areas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Darts, billiards, arcade games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Integrated Food &amp; Beverages offering (restaurant &amp; bar)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F794AD5C-3E08-0C2D-6FBA-2222C725D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81466"/>
              </p:ext>
            </p:extLst>
          </p:nvPr>
        </p:nvGraphicFramePr>
        <p:xfrm>
          <a:off x="5033964" y="4477578"/>
          <a:ext cx="2246944" cy="1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92">
                  <a:extLst>
                    <a:ext uri="{9D8B030D-6E8A-4147-A177-3AD203B41FA5}">
                      <a16:colId xmlns:a16="http://schemas.microsoft.com/office/drawing/2014/main" val="232548218"/>
                    </a:ext>
                  </a:extLst>
                </a:gridCol>
                <a:gridCol w="320992">
                  <a:extLst>
                    <a:ext uri="{9D8B030D-6E8A-4147-A177-3AD203B41FA5}">
                      <a16:colId xmlns:a16="http://schemas.microsoft.com/office/drawing/2014/main" val="376615012"/>
                    </a:ext>
                  </a:extLst>
                </a:gridCol>
                <a:gridCol w="320992">
                  <a:extLst>
                    <a:ext uri="{9D8B030D-6E8A-4147-A177-3AD203B41FA5}">
                      <a16:colId xmlns:a16="http://schemas.microsoft.com/office/drawing/2014/main" val="2944890319"/>
                    </a:ext>
                  </a:extLst>
                </a:gridCol>
                <a:gridCol w="320992">
                  <a:extLst>
                    <a:ext uri="{9D8B030D-6E8A-4147-A177-3AD203B41FA5}">
                      <a16:colId xmlns:a16="http://schemas.microsoft.com/office/drawing/2014/main" val="3719164646"/>
                    </a:ext>
                  </a:extLst>
                </a:gridCol>
                <a:gridCol w="320992">
                  <a:extLst>
                    <a:ext uri="{9D8B030D-6E8A-4147-A177-3AD203B41FA5}">
                      <a16:colId xmlns:a16="http://schemas.microsoft.com/office/drawing/2014/main" val="39257741"/>
                    </a:ext>
                  </a:extLst>
                </a:gridCol>
                <a:gridCol w="320992">
                  <a:extLst>
                    <a:ext uri="{9D8B030D-6E8A-4147-A177-3AD203B41FA5}">
                      <a16:colId xmlns:a16="http://schemas.microsoft.com/office/drawing/2014/main" val="3992533551"/>
                    </a:ext>
                  </a:extLst>
                </a:gridCol>
                <a:gridCol w="320992">
                  <a:extLst>
                    <a:ext uri="{9D8B030D-6E8A-4147-A177-3AD203B41FA5}">
                      <a16:colId xmlns:a16="http://schemas.microsoft.com/office/drawing/2014/main" val="2637130293"/>
                    </a:ext>
                  </a:extLst>
                </a:gridCol>
              </a:tblGrid>
              <a:tr h="156640">
                <a:tc>
                  <a:txBody>
                    <a:bodyPr/>
                    <a:lstStyle/>
                    <a:p>
                      <a:pPr algn="ctr"/>
                      <a:r>
                        <a:rPr lang="en-GB" sz="800" b="0" dirty="0">
                          <a:solidFill>
                            <a:schemeClr val="tx1"/>
                          </a:solidFill>
                        </a:rPr>
                        <a:t>7%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82604"/>
                  </a:ext>
                </a:extLst>
              </a:tr>
            </a:tbl>
          </a:graphicData>
        </a:graphic>
      </p:graphicFrame>
      <p:sp>
        <p:nvSpPr>
          <p:cNvPr id="8" name="Rechteck 5">
            <a:extLst>
              <a:ext uri="{FF2B5EF4-FFF2-40B4-BE49-F238E27FC236}">
                <a16:creationId xmlns:a16="http://schemas.microsoft.com/office/drawing/2014/main" id="{717BFB5F-1DE8-F062-A2A4-DAB5764EEE5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702404" y="3058088"/>
            <a:ext cx="2346736" cy="16012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cxnSp>
        <p:nvCxnSpPr>
          <p:cNvPr id="11" name="Gerader Verbinder 12">
            <a:extLst>
              <a:ext uri="{FF2B5EF4-FFF2-40B4-BE49-F238E27FC236}">
                <a16:creationId xmlns:a16="http://schemas.microsoft.com/office/drawing/2014/main" id="{AEC0949F-A57D-D5E5-510A-11E94B3F8FCC}"/>
              </a:ext>
            </a:extLst>
          </p:cNvPr>
          <p:cNvCxnSpPr>
            <a:cxnSpLocks/>
          </p:cNvCxnSpPr>
          <p:nvPr/>
        </p:nvCxnSpPr>
        <p:spPr bwMode="auto">
          <a:xfrm>
            <a:off x="4771170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0167B4-DFF1-BBC5-F2AF-C6534D6DE064}"/>
              </a:ext>
            </a:extLst>
          </p:cNvPr>
          <p:cNvSpPr txBox="1"/>
          <p:nvPr/>
        </p:nvSpPr>
        <p:spPr>
          <a:xfrm>
            <a:off x="4753741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Financials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837A3-8476-6F8F-4DA6-DA3E79B9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GB" noProof="0" dirty="0"/>
              <a:t>CONSTELLATION CAPITAL AG</a:t>
            </a:r>
            <a:endParaRPr lang="en-GB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A4AD5-A346-F256-04BF-D78686FC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E351-8280-3C1A-BC1B-681F1782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GB" noProof="0" smtClean="0"/>
              <a:pPr>
                <a:defRPr/>
              </a:pPr>
              <a:t>1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DCC96-A822-E338-42A6-512751EA0F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One Pager </a:t>
            </a:r>
            <a:r>
              <a:rPr lang="en-GB" b="1" i="0" noProof="0" dirty="0">
                <a:solidFill>
                  <a:srgbClr val="10162F"/>
                </a:solidFill>
                <a:effectLst/>
                <a:latin typeface="Apercu"/>
              </a:rPr>
              <a:t>|</a:t>
            </a:r>
            <a:endParaRPr lang="en-GB" b="1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51F02-72EB-A4ED-1B23-75A3A858ED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dirty="0"/>
              <a:t>Succession Solution for Indoor E-Karting &amp; Bowling Platform</a:t>
            </a:r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57768E33-8FB7-0264-C758-DC74141D23B4}"/>
              </a:ext>
            </a:extLst>
          </p:cNvPr>
          <p:cNvSpPr/>
          <p:nvPr/>
        </p:nvSpPr>
        <p:spPr>
          <a:xfrm>
            <a:off x="7189750" y="1337631"/>
            <a:ext cx="1624051" cy="27570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en-US" sz="800" noProof="0" dirty="0"/>
              <a:t>Exceptional profitability</a:t>
            </a: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de-CH" sz="800" noProof="0" dirty="0" err="1"/>
              <a:t>Highly</a:t>
            </a:r>
            <a:r>
              <a:rPr lang="de-CH" sz="800" noProof="0" dirty="0"/>
              <a:t> </a:t>
            </a:r>
            <a:r>
              <a:rPr lang="de-CH" sz="800" noProof="0" dirty="0" err="1"/>
              <a:t>digitalized</a:t>
            </a:r>
            <a:endParaRPr lang="en-GB" sz="800" noProof="0" dirty="0"/>
          </a:p>
          <a:p>
            <a:pPr marL="88900" indent="-88900">
              <a:spcAft>
                <a:spcPts val="100"/>
              </a:spcAft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r>
              <a:rPr lang="de-CH" sz="800" dirty="0"/>
              <a:t>Bowling </a:t>
            </a:r>
            <a:r>
              <a:rPr lang="de-CH" sz="800" dirty="0" err="1"/>
              <a:t>ramp-up</a:t>
            </a:r>
            <a:r>
              <a:rPr lang="de-CH" sz="800" dirty="0"/>
              <a:t> (</a:t>
            </a:r>
            <a:r>
              <a:rPr lang="de-CH" sz="800" dirty="0" err="1"/>
              <a:t>opening</a:t>
            </a:r>
            <a:r>
              <a:rPr lang="de-CH" sz="800" dirty="0"/>
              <a:t> </a:t>
            </a:r>
            <a:r>
              <a:rPr lang="de-CH" sz="800" dirty="0" err="1"/>
              <a:t>Oct</a:t>
            </a:r>
            <a:r>
              <a:rPr lang="de-CH" sz="800" dirty="0"/>
              <a:t> 2025)</a:t>
            </a: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de-CH" sz="800" dirty="0">
                <a:solidFill>
                  <a:srgbClr val="000000"/>
                </a:solidFill>
              </a:rPr>
              <a:t>"Other" </a:t>
            </a:r>
            <a:r>
              <a:rPr lang="de-CH" sz="800" dirty="0" err="1">
                <a:solidFill>
                  <a:srgbClr val="000000"/>
                </a:solidFill>
              </a:rPr>
              <a:t>revenue</a:t>
            </a:r>
            <a:r>
              <a:rPr lang="de-CH" sz="800" dirty="0">
                <a:solidFill>
                  <a:srgbClr val="000000"/>
                </a:solidFill>
              </a:rPr>
              <a:t> </a:t>
            </a:r>
            <a:r>
              <a:rPr lang="de-CH" sz="800" dirty="0" err="1">
                <a:solidFill>
                  <a:srgbClr val="000000"/>
                </a:solidFill>
              </a:rPr>
              <a:t>category</a:t>
            </a:r>
            <a:r>
              <a:rPr lang="de-CH" sz="800" dirty="0">
                <a:solidFill>
                  <a:srgbClr val="000000"/>
                </a:solidFill>
              </a:rPr>
              <a:t> not </a:t>
            </a:r>
            <a:r>
              <a:rPr lang="de-CH" sz="800" dirty="0" err="1">
                <a:solidFill>
                  <a:srgbClr val="000000"/>
                </a:solidFill>
              </a:rPr>
              <a:t>sustainable</a:t>
            </a:r>
            <a:endParaRPr lang="de-CH" sz="800" dirty="0">
              <a:solidFill>
                <a:srgbClr val="000000"/>
              </a:solidFill>
            </a:endParaRP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de-CH" sz="800" dirty="0">
                <a:solidFill>
                  <a:srgbClr val="000000"/>
                </a:solidFill>
              </a:rPr>
              <a:t>Founder </a:t>
            </a:r>
            <a:r>
              <a:rPr lang="de-CH" sz="800" dirty="0" err="1">
                <a:solidFill>
                  <a:srgbClr val="000000"/>
                </a:solidFill>
              </a:rPr>
              <a:t>dependency</a:t>
            </a:r>
            <a:endParaRPr lang="de-CH" sz="80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44FAE096-C3F4-E44E-E106-F110AA571B72}"/>
              </a:ext>
            </a:extLst>
          </p:cNvPr>
          <p:cNvCxnSpPr>
            <a:cxnSpLocks/>
          </p:cNvCxnSpPr>
          <p:nvPr/>
        </p:nvCxnSpPr>
        <p:spPr bwMode="auto">
          <a:xfrm>
            <a:off x="7255650" y="1559131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1">
            <a:extLst>
              <a:ext uri="{FF2B5EF4-FFF2-40B4-BE49-F238E27FC236}">
                <a16:creationId xmlns:a16="http://schemas.microsoft.com/office/drawing/2014/main" id="{747D04C9-7BBC-4320-5DA8-7C5B0A4160D0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GB" sz="1200" b="1" noProof="0" dirty="0">
                <a:solidFill>
                  <a:schemeClr val="accent1"/>
                </a:solidFill>
              </a:rPr>
              <a:t>Investment-Thesis: </a:t>
            </a:r>
            <a:r>
              <a:rPr lang="en-US" sz="1200" b="1" dirty="0">
                <a:solidFill>
                  <a:schemeClr val="dk1"/>
                </a:solidFill>
              </a:rPr>
              <a:t> 100% acquisition of profitable dual-venue leisure platform</a:t>
            </a:r>
            <a:endParaRPr lang="en-GB" sz="1400" b="1" noProof="0" dirty="0">
              <a:solidFill>
                <a:schemeClr val="dk1"/>
              </a:solidFill>
            </a:endParaRPr>
          </a:p>
        </p:txBody>
      </p:sp>
      <p:sp>
        <p:nvSpPr>
          <p:cNvPr id="22" name="Textfeld 15">
            <a:extLst>
              <a:ext uri="{FF2B5EF4-FFF2-40B4-BE49-F238E27FC236}">
                <a16:creationId xmlns:a16="http://schemas.microsoft.com/office/drawing/2014/main" id="{C93816DC-0F06-9234-DC66-3C1F276100F7}"/>
              </a:ext>
            </a:extLst>
          </p:cNvPr>
          <p:cNvSpPr txBox="1"/>
          <p:nvPr/>
        </p:nvSpPr>
        <p:spPr>
          <a:xfrm>
            <a:off x="7196138" y="4249738"/>
            <a:ext cx="1617663" cy="4095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sz="1100" noProof="0" dirty="0"/>
              <a:t>Status:</a:t>
            </a:r>
          </a:p>
          <a:p>
            <a:r>
              <a:rPr lang="en-GB" sz="800" b="0" noProof="0" dirty="0">
                <a:solidFill>
                  <a:schemeClr val="dk1"/>
                </a:solidFill>
              </a:rPr>
              <a:t>Internal discussion </a:t>
            </a:r>
            <a:r>
              <a:rPr lang="en-GB" sz="800" b="0" noProof="0" dirty="0">
                <a:solidFill>
                  <a:schemeClr val="tx1"/>
                </a:solidFill>
              </a:rPr>
              <a:t>– </a:t>
            </a:r>
            <a:r>
              <a:rPr lang="en-GB" sz="800" b="0" dirty="0">
                <a:solidFill>
                  <a:schemeClr val="tx1"/>
                </a:solidFill>
              </a:rPr>
              <a:t> 03</a:t>
            </a:r>
            <a:r>
              <a:rPr lang="en-GB" sz="800" b="0" noProof="0" dirty="0">
                <a:solidFill>
                  <a:schemeClr val="tx1"/>
                </a:solidFill>
              </a:rPr>
              <a:t>.0</a:t>
            </a:r>
            <a:r>
              <a:rPr lang="en-GB" sz="800" b="0" dirty="0">
                <a:solidFill>
                  <a:schemeClr val="tx1"/>
                </a:solidFill>
              </a:rPr>
              <a:t>3</a:t>
            </a:r>
            <a:r>
              <a:rPr lang="en-GB" sz="800" b="0" noProof="0" dirty="0">
                <a:solidFill>
                  <a:schemeClr val="tx1"/>
                </a:solidFill>
              </a:rPr>
              <a:t>.26</a:t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554E2CDD-6EB4-F04B-FFCB-AF03C564FE43}"/>
              </a:ext>
            </a:extLst>
          </p:cNvPr>
          <p:cNvSpPr/>
          <p:nvPr/>
        </p:nvSpPr>
        <p:spPr>
          <a:xfrm flipV="1">
            <a:off x="7205663" y="4123790"/>
            <a:ext cx="1608138" cy="96838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 noProof="0" dirty="0">
              <a:latin typeface="+mn-lt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082C9BF6-8868-B442-53BF-121FCDA9AD10}"/>
              </a:ext>
            </a:extLst>
          </p:cNvPr>
          <p:cNvSpPr txBox="1"/>
          <p:nvPr/>
        </p:nvSpPr>
        <p:spPr>
          <a:xfrm>
            <a:off x="328492" y="4726408"/>
            <a:ext cx="8485309" cy="110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GB" sz="600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656F25-61FD-4F3F-A8FC-D1998D5CFA8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646335" y="473453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ED065C-6D75-14CB-7285-1E2BBB441E4E}"/>
              </a:ext>
            </a:extLst>
          </p:cNvPr>
          <p:cNvGrpSpPr/>
          <p:nvPr/>
        </p:nvGrpSpPr>
        <p:grpSpPr>
          <a:xfrm>
            <a:off x="5080446" y="474513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7FB074-85CC-EC27-C11D-EE677115BFB6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D73ABBD9-55A2-9E5B-BAC9-9D515170322A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191F85D6-325A-B06B-CAB4-96F96A25979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780633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9FFCD94E-313C-6E1E-6E4D-98B9AD718E3B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302521" y="470942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4C016A-9CB9-FB32-7C11-6445501ED351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EBDF054D-ECBA-22C5-1373-47BEFA2A668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B13BFA9F-538B-6FCC-E9B4-CF4D3F7B9348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EC7CB4A-38C1-0D57-6489-B488DC26CD46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1E941001-763D-BD4B-D2BA-498821BFA4D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F81246D-BEC9-694A-B577-78272B5C2457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DB7EC2-3AC2-A295-2AF1-E4B18A9124F3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DFFDC361-8337-95E1-A5EE-76CB22180981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748FB74C-0A73-3104-AD11-519285509119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E2D51ADF-58B1-F889-6D1D-076FF5158D49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ADEF6EDF-ED6E-FCA7-99FD-F47ABD1B5F8F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AB3A817D-FF06-4BD9-63F5-FBF08EF0BC32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F1C3827-B5E7-B496-D375-6BA849742BC2}"/>
              </a:ext>
            </a:extLst>
          </p:cNvPr>
          <p:cNvGrpSpPr>
            <a:grpSpLocks/>
          </p:cNvGrpSpPr>
          <p:nvPr/>
        </p:nvGrpSpPr>
        <p:grpSpPr>
          <a:xfrm>
            <a:off x="8613546" y="758439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8B9B2F23-2125-D045-C163-9E6E4B4BA13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DC30B9E-AB33-849C-B129-96971E080B4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5948AF-70C2-74BF-920E-1FE41F6474B5}"/>
              </a:ext>
            </a:extLst>
          </p:cNvPr>
          <p:cNvGrpSpPr>
            <a:grpSpLocks/>
          </p:cNvGrpSpPr>
          <p:nvPr/>
        </p:nvGrpSpPr>
        <p:grpSpPr>
          <a:xfrm>
            <a:off x="9333893" y="655622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77C8DA10-66D1-D813-715F-6271B726D75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6C1808DD-DF22-89F2-A4FB-41E29C9BC6D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AC47FB-EBF8-1039-7F42-CE512EE369B2}"/>
              </a:ext>
            </a:extLst>
          </p:cNvPr>
          <p:cNvGrpSpPr>
            <a:grpSpLocks/>
          </p:cNvGrpSpPr>
          <p:nvPr/>
        </p:nvGrpSpPr>
        <p:grpSpPr>
          <a:xfrm>
            <a:off x="9409354" y="998529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B13A2799-B3DF-C37B-B98C-10288627BCA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27F3956B-1F28-5A06-04D5-271294491C9A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10" name="Rechteck 5">
            <a:extLst>
              <a:ext uri="{FF2B5EF4-FFF2-40B4-BE49-F238E27FC236}">
                <a16:creationId xmlns:a16="http://schemas.microsoft.com/office/drawing/2014/main" id="{AB249EB8-2B4F-C82C-804A-298F0CA1111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24419" y="1337632"/>
            <a:ext cx="1706564" cy="332168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Founded: </a:t>
            </a:r>
            <a:r>
              <a:rPr lang="en-GB" sz="800" noProof="0" dirty="0">
                <a:solidFill>
                  <a:srgbClr val="000000"/>
                </a:solidFill>
                <a:latin typeface="Calibri"/>
              </a:rPr>
              <a:t>2008</a:t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HQ:</a:t>
            </a:r>
            <a:r>
              <a:rPr lang="en-GB" sz="800" noProof="0" dirty="0">
                <a:solidFill>
                  <a:schemeClr val="dk1"/>
                </a:solidFill>
              </a:rPr>
              <a:t> </a:t>
            </a:r>
            <a:r>
              <a:rPr lang="en-GB" sz="800" dirty="0">
                <a:solidFill>
                  <a:srgbClr val="000000"/>
                </a:solidFill>
                <a:latin typeface="Calibri"/>
              </a:rPr>
              <a:t>Frankfurt am Main, Germany</a:t>
            </a:r>
            <a:endParaRPr lang="en-GB" sz="800" noProof="0" dirty="0">
              <a:solidFill>
                <a:srgbClr val="000000"/>
              </a:solidFill>
              <a:latin typeface="Calibri"/>
            </a:endParaRPr>
          </a:p>
          <a:p>
            <a:pPr marL="0" indent="4763">
              <a:spcAft>
                <a:spcPts val="600"/>
              </a:spcAft>
              <a:buNone/>
            </a:pPr>
            <a:r>
              <a:rPr lang="en-GB" sz="800" b="1" noProof="0" dirty="0"/>
              <a:t>Website</a:t>
            </a:r>
            <a:r>
              <a:rPr lang="en-GB" sz="800" noProof="0" dirty="0">
                <a:latin typeface="Calibri"/>
              </a:rPr>
              <a:t>:</a:t>
            </a:r>
            <a:r>
              <a:rPr lang="en-GB" sz="800" dirty="0"/>
              <a:t> eco-kart.de</a:t>
            </a:r>
            <a:endParaRPr lang="en-GB" sz="800" noProof="0" dirty="0">
              <a:latin typeface="Calibri"/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Industry: </a:t>
            </a:r>
            <a:r>
              <a:rPr lang="en-GB" sz="800" noProof="0" dirty="0">
                <a:solidFill>
                  <a:schemeClr val="dk1"/>
                </a:solidFill>
              </a:rPr>
              <a:t>Indoor Leisure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/>
              <a:t>Niche</a:t>
            </a:r>
            <a:r>
              <a:rPr lang="en-GB" sz="800" noProof="0" dirty="0">
                <a:solidFill>
                  <a:schemeClr val="dk1"/>
                </a:solidFill>
              </a:rPr>
              <a:t>: </a:t>
            </a:r>
            <a:r>
              <a:rPr lang="en-US" sz="800" dirty="0">
                <a:solidFill>
                  <a:schemeClr val="dk1"/>
                </a:solidFill>
              </a:rPr>
              <a:t>E‑Karting &amp; Bowling</a:t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Revenue (2025</a:t>
            </a:r>
            <a:r>
              <a:rPr lang="hu-HU" sz="800" b="1" noProof="0" dirty="0">
                <a:solidFill>
                  <a:schemeClr val="dk1"/>
                </a:solidFill>
              </a:rPr>
              <a:t>A</a:t>
            </a:r>
            <a:r>
              <a:rPr lang="en-GB" sz="800" b="1" noProof="0" dirty="0">
                <a:solidFill>
                  <a:schemeClr val="dk1"/>
                </a:solidFill>
              </a:rPr>
              <a:t>): </a:t>
            </a:r>
            <a:r>
              <a:rPr lang="en-GB" sz="800" noProof="0" dirty="0">
                <a:solidFill>
                  <a:schemeClr val="dk1"/>
                </a:solidFill>
              </a:rPr>
              <a:t>EUR </a:t>
            </a:r>
            <a:r>
              <a:rPr lang="en-GB" sz="800" dirty="0">
                <a:solidFill>
                  <a:schemeClr val="dk1"/>
                </a:solidFill>
              </a:rPr>
              <a:t>4</a:t>
            </a:r>
            <a:r>
              <a:rPr lang="en-GB" sz="800" noProof="0" dirty="0">
                <a:solidFill>
                  <a:schemeClr val="dk1"/>
                </a:solidFill>
              </a:rPr>
              <a:t>.3m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 err="1">
                <a:solidFill>
                  <a:schemeClr val="dk1"/>
                </a:solidFill>
              </a:rPr>
              <a:t>Adj</a:t>
            </a:r>
            <a:r>
              <a:rPr lang="hu-HU" sz="800" b="1" noProof="0" dirty="0">
                <a:solidFill>
                  <a:schemeClr val="dk1"/>
                </a:solidFill>
              </a:rPr>
              <a:t>.</a:t>
            </a:r>
            <a:r>
              <a:rPr lang="en-GB" sz="800" b="1" noProof="0" dirty="0">
                <a:solidFill>
                  <a:schemeClr val="dk1"/>
                </a:solidFill>
              </a:rPr>
              <a:t> EBITDA (2025</a:t>
            </a:r>
            <a:r>
              <a:rPr lang="hu-HU" sz="800" b="1" noProof="0" dirty="0">
                <a:solidFill>
                  <a:schemeClr val="dk1"/>
                </a:solidFill>
              </a:rPr>
              <a:t>A</a:t>
            </a:r>
            <a:r>
              <a:rPr lang="en-GB" sz="800" b="1" noProof="0" dirty="0">
                <a:solidFill>
                  <a:schemeClr val="dk1"/>
                </a:solidFill>
              </a:rPr>
              <a:t>): </a:t>
            </a:r>
            <a:r>
              <a:rPr lang="en-GB" sz="800" noProof="0" dirty="0">
                <a:solidFill>
                  <a:schemeClr val="dk1"/>
                </a:solidFill>
              </a:rPr>
              <a:t>EUR </a:t>
            </a:r>
            <a:r>
              <a:rPr lang="en-GB" sz="800" dirty="0">
                <a:solidFill>
                  <a:schemeClr val="dk1"/>
                </a:solidFill>
              </a:rPr>
              <a:t>2.0</a:t>
            </a:r>
            <a:r>
              <a:rPr lang="en-GB" sz="800" noProof="0" dirty="0">
                <a:solidFill>
                  <a:schemeClr val="dk1"/>
                </a:solidFill>
              </a:rPr>
              <a:t>m</a:t>
            </a:r>
            <a:r>
              <a:rPr lang="hu-HU" sz="800" noProof="0" dirty="0">
                <a:solidFill>
                  <a:schemeClr val="dk1"/>
                </a:solidFill>
              </a:rPr>
              <a:t> </a:t>
            </a:r>
            <a:r>
              <a:rPr lang="en-GB" sz="800" noProof="0" dirty="0">
                <a:solidFill>
                  <a:schemeClr val="dk1"/>
                </a:solidFill>
              </a:rPr>
              <a:t>(47%)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Management Team: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dk1"/>
                </a:solidFill>
              </a:rPr>
              <a:t>Managing shareholder: Andreas Weiland (Founder)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dk1"/>
                </a:solidFill>
              </a:rPr>
              <a:t>2</a:t>
            </a:r>
            <a:r>
              <a:rPr lang="en-US" sz="800" baseline="30000" dirty="0">
                <a:solidFill>
                  <a:schemeClr val="dk1"/>
                </a:solidFill>
              </a:rPr>
              <a:t>nd</a:t>
            </a:r>
            <a:r>
              <a:rPr lang="en-US" sz="800" dirty="0">
                <a:solidFill>
                  <a:schemeClr val="dk1"/>
                </a:solidFill>
              </a:rPr>
              <a:t> level management for operations, track, event management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GB" sz="800" b="1" noProof="0" dirty="0">
              <a:highlight>
                <a:srgbClr val="FFFF00"/>
              </a:highlight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/>
              <a:t>No of employees</a:t>
            </a:r>
            <a:r>
              <a:rPr lang="en-GB" sz="800" b="1" noProof="0" dirty="0">
                <a:solidFill>
                  <a:schemeClr val="dk1"/>
                </a:solidFill>
              </a:rPr>
              <a:t>: </a:t>
            </a:r>
            <a:r>
              <a:rPr lang="en-GB" sz="800" noProof="0" dirty="0">
                <a:solidFill>
                  <a:schemeClr val="dk1"/>
                </a:solidFill>
              </a:rPr>
              <a:t>28 FTEs</a:t>
            </a:r>
            <a:endParaRPr lang="en-GB" sz="800" dirty="0">
              <a:solidFill>
                <a:schemeClr val="dk1"/>
              </a:solidFill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GB" sz="800" noProof="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buNone/>
            </a:pPr>
            <a:r>
              <a:rPr lang="en-GB" sz="800" b="1" noProof="0" dirty="0"/>
              <a:t>Source:</a:t>
            </a:r>
            <a:r>
              <a:rPr lang="en-GB" sz="800" noProof="0" dirty="0"/>
              <a:t> Alphabet Partners</a:t>
            </a:r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>IM received on:</a:t>
            </a:r>
            <a:r>
              <a:rPr lang="en-GB" sz="700" i="1" dirty="0"/>
              <a:t> 27.02.2026</a:t>
            </a:r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>LOI deadline: 18.03.2026</a:t>
            </a:r>
          </a:p>
        </p:txBody>
      </p:sp>
      <p:cxnSp>
        <p:nvCxnSpPr>
          <p:cNvPr id="12" name="Gerader Verbinder 12">
            <a:extLst>
              <a:ext uri="{FF2B5EF4-FFF2-40B4-BE49-F238E27FC236}">
                <a16:creationId xmlns:a16="http://schemas.microsoft.com/office/drawing/2014/main" id="{E66874C1-5F6E-5D4A-2FE8-46ADDF54820A}"/>
              </a:ext>
            </a:extLst>
          </p:cNvPr>
          <p:cNvCxnSpPr>
            <a:cxnSpLocks/>
          </p:cNvCxnSpPr>
          <p:nvPr/>
        </p:nvCxnSpPr>
        <p:spPr bwMode="auto">
          <a:xfrm>
            <a:off x="374426" y="1559131"/>
            <a:ext cx="16065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6E9C400-66D8-73CF-D8A4-250E7D6733F7}"/>
              </a:ext>
            </a:extLst>
          </p:cNvPr>
          <p:cNvSpPr txBox="1"/>
          <p:nvPr/>
        </p:nvSpPr>
        <p:spPr>
          <a:xfrm>
            <a:off x="374426" y="1367421"/>
            <a:ext cx="1606550" cy="1680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Facts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F545AAF-2B66-4CB4-8DFB-54C49AA6CE01}"/>
              </a:ext>
            </a:extLst>
          </p:cNvPr>
          <p:cNvSpPr txBox="1"/>
          <p:nvPr/>
        </p:nvSpPr>
        <p:spPr>
          <a:xfrm>
            <a:off x="7260432" y="1366791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Rationale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11D124-39F9-4AA6-ED34-872724C0B95D}"/>
              </a:ext>
            </a:extLst>
          </p:cNvPr>
          <p:cNvSpPr txBox="1"/>
          <p:nvPr/>
        </p:nvSpPr>
        <p:spPr>
          <a:xfrm>
            <a:off x="7260432" y="2617791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Criteria</a:t>
            </a:r>
          </a:p>
        </p:txBody>
      </p:sp>
      <p:sp>
        <p:nvSpPr>
          <p:cNvPr id="138" name="Rechteck 5">
            <a:extLst>
              <a:ext uri="{FF2B5EF4-FFF2-40B4-BE49-F238E27FC236}">
                <a16:creationId xmlns:a16="http://schemas.microsoft.com/office/drawing/2014/main" id="{B5C93F76-02AB-7A28-5035-0CDD07CA628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190361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Premium 3-level indoor e-karting track (600m, RIMO karts) + 25-lane high-tech bowling center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5 km from city center); leases until 2029/2033 with 5-year extensions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Karting, bowling, darts, billiards, arcade, F&amp;B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B2B/corporate events focus; modular packages, VIP lounges, catering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Fully digitalized operations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51% Vienna stake, Munich real estate option</a:t>
            </a:r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88AC5BAC-2738-AB3E-F78D-EC6A856A0D14}"/>
              </a:ext>
            </a:extLst>
          </p:cNvPr>
          <p:cNvCxnSpPr>
            <a:cxnSpLocks/>
          </p:cNvCxnSpPr>
          <p:nvPr/>
        </p:nvCxnSpPr>
        <p:spPr bwMode="auto">
          <a:xfrm>
            <a:off x="2259127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B5FF161-6DB9-7452-B772-5F6281672E4F}"/>
              </a:ext>
            </a:extLst>
          </p:cNvPr>
          <p:cNvSpPr txBox="1"/>
          <p:nvPr/>
        </p:nvSpPr>
        <p:spPr>
          <a:xfrm>
            <a:off x="2241698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Description</a:t>
            </a:r>
            <a:endParaRPr lang="en-GB" sz="800" b="1" noProof="0" dirty="0">
              <a:solidFill>
                <a:schemeClr val="tx2"/>
              </a:solidFill>
            </a:endParaRPr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702BD145-BB9B-8069-F9D3-30973AC2F4C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02404" y="1337631"/>
            <a:ext cx="2346736" cy="161089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</p:txBody>
      </p:sp>
      <p:cxnSp>
        <p:nvCxnSpPr>
          <p:cNvPr id="16" name="Gerader Verbinder 12">
            <a:extLst>
              <a:ext uri="{FF2B5EF4-FFF2-40B4-BE49-F238E27FC236}">
                <a16:creationId xmlns:a16="http://schemas.microsoft.com/office/drawing/2014/main" id="{03D72849-8110-83DE-942C-99611BE18C0F}"/>
              </a:ext>
            </a:extLst>
          </p:cNvPr>
          <p:cNvCxnSpPr>
            <a:cxnSpLocks/>
          </p:cNvCxnSpPr>
          <p:nvPr/>
        </p:nvCxnSpPr>
        <p:spPr bwMode="auto">
          <a:xfrm>
            <a:off x="4771170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94F076-73DC-F5CF-BE42-70AA0668170D}"/>
              </a:ext>
            </a:extLst>
          </p:cNvPr>
          <p:cNvSpPr txBox="1"/>
          <p:nvPr/>
        </p:nvSpPr>
        <p:spPr>
          <a:xfrm>
            <a:off x="4753741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Product Portfolio</a:t>
            </a:r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3BF8F5E6-003E-2D32-1868-285E752D2F7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190361" y="3058088"/>
            <a:ext cx="2346736" cy="16012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5BA7B05A-E0AF-69C3-2782-7EB436BF7E0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723022" y="3302440"/>
            <a:ext cx="383253" cy="148019"/>
          </a:xfrm>
          <a:prstGeom prst="rect">
            <a:avLst/>
          </a:prstGeom>
          <a:noFill/>
          <a:ln w="6350">
            <a:noFill/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 marL="0" indent="4763">
              <a:lnSpc>
                <a:spcPct val="100000"/>
              </a:lnSpc>
              <a:buNone/>
            </a:pPr>
            <a:r>
              <a:rPr lang="en-GB" sz="600" i="1" dirty="0"/>
              <a:t>in EURm</a:t>
            </a:r>
            <a:endParaRPr lang="en-GB" sz="800" i="1" noProof="0" dirty="0"/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AF7CD646-7C39-9E22-CD5A-373E77056EFE}"/>
              </a:ext>
            </a:extLst>
          </p:cNvPr>
          <p:cNvCxnSpPr>
            <a:cxnSpLocks/>
          </p:cNvCxnSpPr>
          <p:nvPr/>
        </p:nvCxnSpPr>
        <p:spPr bwMode="auto">
          <a:xfrm>
            <a:off x="2259127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437F3F-9CD4-5607-3F14-034195F5AE17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Revenue Split</a:t>
            </a:r>
          </a:p>
        </p:txBody>
      </p:sp>
      <p:graphicFrame>
        <p:nvGraphicFramePr>
          <p:cNvPr id="1396" name="Chart 1395">
            <a:extLst>
              <a:ext uri="{FF2B5EF4-FFF2-40B4-BE49-F238E27FC236}">
                <a16:creationId xmlns:a16="http://schemas.microsoft.com/office/drawing/2014/main" id="{3D192A74-3138-7BC9-9F60-B9D502FAE47A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173604052"/>
              </p:ext>
            </p:extLst>
          </p:nvPr>
        </p:nvGraphicFramePr>
        <p:xfrm>
          <a:off x="1974850" y="3179763"/>
          <a:ext cx="1776413" cy="159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0"/>
          </a:graphicData>
        </a:graphic>
      </p:graphicFrame>
      <p:sp>
        <p:nvSpPr>
          <p:cNvPr id="189" name="Rectangle 188">
            <a:extLst>
              <a:ext uri="{FF2B5EF4-FFF2-40B4-BE49-F238E27FC236}">
                <a16:creationId xmlns:a16="http://schemas.microsoft.com/office/drawing/2014/main" id="{6FD3C709-67CF-0587-8F38-4EAAE9048736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500438" y="3435350"/>
            <a:ext cx="142875" cy="106363"/>
          </a:xfrm>
          <a:prstGeom prst="rect">
            <a:avLst/>
          </a:prstGeom>
          <a:solidFill>
            <a:srgbClr val="364D6E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CA4FB32-C729-985C-8829-82621FFA4EA0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3500438" y="3608388"/>
            <a:ext cx="142875" cy="106363"/>
          </a:xfrm>
          <a:prstGeom prst="rect">
            <a:avLst/>
          </a:prstGeom>
          <a:solidFill>
            <a:srgbClr val="4C6C9C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97" name="Rectangle 1396">
            <a:extLst>
              <a:ext uri="{FF2B5EF4-FFF2-40B4-BE49-F238E27FC236}">
                <a16:creationId xmlns:a16="http://schemas.microsoft.com/office/drawing/2014/main" id="{032F0666-C6B0-E726-CA82-84FA456F5A3B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500438" y="3781425"/>
            <a:ext cx="142875" cy="106363"/>
          </a:xfrm>
          <a:prstGeom prst="rect">
            <a:avLst/>
          </a:prstGeom>
          <a:solidFill>
            <a:schemeClr val="accent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87AB5DF-002B-F64D-76F8-1CB62ED0D24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94113" y="3430588"/>
            <a:ext cx="295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15010DA-1A9E-4BCE-B95B-D4145AF3A87B}" type="datetime'''Ka''''''''''rt''''''''''''i''''''''n''''''''''''''''g'">
              <a:rPr lang="en-GB" altLang="en-US" sz="800" smtClean="0">
                <a:solidFill>
                  <a:schemeClr val="tx1"/>
                </a:solidFill>
              </a:rPr>
              <a:pPr/>
              <a:t>Karting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78C134D-3178-C9D3-0786-18FAA4557CAA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694113" y="3603625"/>
            <a:ext cx="331788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957BEDA-C0BF-4E7B-81B5-59EEA6042B39}" type="datetime'''''B''''''o''''''''''''''''w''''''''l''''''ing'''''">
              <a:rPr lang="en-GB" altLang="en-US" sz="800" smtClean="0">
                <a:solidFill>
                  <a:schemeClr val="tx1"/>
                </a:solidFill>
              </a:rPr>
              <a:pPr/>
              <a:t>Bowling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DFF42FFD-D823-CC95-085B-91E1337DB240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3694113" y="3776663"/>
            <a:ext cx="609600" cy="366713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005B5E61-F9A3-46D5-8ECF-19B7D1A04EB9}" type="datetime'O''''''t''''''''her ''''&#10;(main''ly lu''x''ury &#10;vehicle sales)'">
              <a:rPr lang="en-GB" altLang="en-US" sz="800" smtClean="0">
                <a:solidFill>
                  <a:schemeClr val="tx1"/>
                </a:solidFill>
              </a:rPr>
              <a:pPr/>
              <a:t>Other 
(mainly luxury 
vehicle sales)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66FCA101-66E6-6D2D-E628-09F48E24EAD4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2716213" y="3819525"/>
            <a:ext cx="292100" cy="31432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4925" rIns="1588" bIns="34925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b="1" dirty="0">
                <a:solidFill>
                  <a:schemeClr val="tx1"/>
                </a:solidFill>
                <a:effectLst/>
              </a:rPr>
              <a:t>EUR </a:t>
            </a:r>
            <a:r>
              <a:rPr lang="en-GB" sz="800" b="1" dirty="0">
                <a:solidFill>
                  <a:schemeClr val="tx1"/>
                </a:solidFill>
              </a:rPr>
              <a:t>4.3</a:t>
            </a:r>
            <a:r>
              <a:rPr lang="en-GB" sz="800" b="1" dirty="0">
                <a:solidFill>
                  <a:schemeClr val="tx1"/>
                </a:solidFill>
                <a:effectLst/>
              </a:rPr>
              <a:t>m</a:t>
            </a:r>
            <a:endParaRPr lang="en-GB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1389" name="Chart 1388">
            <a:extLst>
              <a:ext uri="{FF2B5EF4-FFF2-40B4-BE49-F238E27FC236}">
                <a16:creationId xmlns:a16="http://schemas.microsoft.com/office/drawing/2014/main" id="{2BF5546F-4439-0DDC-F814-11042C5673FF}"/>
              </a:ext>
            </a:extLst>
          </p:cNvPr>
          <p:cNvGraphicFramePr/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534132005"/>
              </p:ext>
            </p:extLst>
          </p:nvPr>
        </p:nvGraphicFramePr>
        <p:xfrm>
          <a:off x="4886325" y="3486150"/>
          <a:ext cx="2168525" cy="101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1"/>
          </a:graphicData>
        </a:graphic>
      </p:graphicFrame>
      <p:cxnSp>
        <p:nvCxnSpPr>
          <p:cNvPr id="1321" name="Straight Connector 1320">
            <a:extLst>
              <a:ext uri="{FF2B5EF4-FFF2-40B4-BE49-F238E27FC236}">
                <a16:creationId xmlns:a16="http://schemas.microsoft.com/office/drawing/2014/main" id="{7DF18762-6C22-3622-BA72-15AB5B858FD0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 flipV="1">
            <a:off x="5075238" y="3613150"/>
            <a:ext cx="668338" cy="762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5" name="Straight Connector 1334">
            <a:extLst>
              <a:ext uri="{FF2B5EF4-FFF2-40B4-BE49-F238E27FC236}">
                <a16:creationId xmlns:a16="http://schemas.microsoft.com/office/drawing/2014/main" id="{E88268F3-F488-AE3D-699F-3588B4967E04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 bwMode="auto">
          <a:xfrm flipV="1">
            <a:off x="5743575" y="3351212"/>
            <a:ext cx="1001713" cy="2619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2" name="Straight Connector 1361">
            <a:extLst>
              <a:ext uri="{FF2B5EF4-FFF2-40B4-BE49-F238E27FC236}">
                <a16:creationId xmlns:a16="http://schemas.microsoft.com/office/drawing/2014/main" id="{74E6DDF0-C919-8060-4ACE-D568E99283E6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5222875" y="4230688"/>
            <a:ext cx="0" cy="571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2" name="Straight Connector 1371">
            <a:extLst>
              <a:ext uri="{FF2B5EF4-FFF2-40B4-BE49-F238E27FC236}">
                <a16:creationId xmlns:a16="http://schemas.microsoft.com/office/drawing/2014/main" id="{FDB9A5F4-F55E-D619-B70A-91166BC7A163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5580063" y="4200525"/>
            <a:ext cx="0" cy="714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3" name="Straight Connector 1372">
            <a:extLst>
              <a:ext uri="{FF2B5EF4-FFF2-40B4-BE49-F238E27FC236}">
                <a16:creationId xmlns:a16="http://schemas.microsoft.com/office/drawing/2014/main" id="{9DD273CA-E518-351A-3070-19BE3772F663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5468938" y="4114800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197" name="Rectangle 1196">
            <a:extLst>
              <a:ext uri="{FF2B5EF4-FFF2-40B4-BE49-F238E27FC236}">
                <a16:creationId xmlns:a16="http://schemas.microsoft.com/office/drawing/2014/main" id="{3A810DC2-B4DD-8811-0E02-87BA6A66D487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4995863" y="408940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EF4458B-4AE8-4F66-9880-EB78D29B7972}" type="datetime'''''''''''''''''''''''''''''''2''''''''''''''''''8''''''%'">
              <a:rPr lang="en-GB" altLang="en-US" sz="8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28%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8A362824-2D9D-3DF4-61E4-6DAFCC038CC7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048250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7B4B083-934A-43AA-A97D-54D1AB5C3356}" type="datetime'''''''''23''''''''''''''''''A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23A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98" name="Rectangle 1197">
            <a:extLst>
              <a:ext uri="{FF2B5EF4-FFF2-40B4-BE49-F238E27FC236}">
                <a16:creationId xmlns:a16="http://schemas.microsoft.com/office/drawing/2014/main" id="{5EC13D14-E003-9FA4-675E-8CEFB15D052F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5367338" y="4005263"/>
            <a:ext cx="203200" cy="109538"/>
          </a:xfrm>
          <a:prstGeom prst="rect">
            <a:avLst/>
          </a:prstGeom>
          <a:solidFill>
            <a:srgbClr val="364D6E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3E52D02-BE57-44D8-B85F-AFF0028949BF}" type="datetime'''''3''''''''''4''''''''''''''''''''''''''%'">
              <a:rPr lang="en-GB" altLang="en-US" sz="8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34%</a:t>
            </a:fld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4E783A5F-B7C1-2C40-C0D8-C9CC8FA18E4C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381625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FDF300F-FEF1-4B27-95C1-A81495CCC75C}" type="datetime'''''''''''''''''''''''2''4''''''''''''''''''''''''A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24A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199" name="Rectangle 1198">
            <a:extLst>
              <a:ext uri="{FF2B5EF4-FFF2-40B4-BE49-F238E27FC236}">
                <a16:creationId xmlns:a16="http://schemas.microsoft.com/office/drawing/2014/main" id="{1F361337-C8F1-2DB1-8C5D-3B1A13CDEFB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5770563" y="4000500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B6F68EE-CFD3-46D7-9657-AEE0AA1DE3CA}" type="datetime'''''''''''''''''''''''4''''''''7''''''''''''''''''''%'''">
              <a:rPr lang="en-GB" altLang="en-US" sz="8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47%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0103D70-5F06-EECD-5D6F-9237695C9E47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5716588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10FE4A4-FFB5-45E7-B5B6-54F9849C62E2}" type="datetime'''''25''''''''''''''''''''''A'''''''''''''''''''''">
              <a:rPr lang="en-GB" altLang="en-US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25A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200" name="Rectangle 1199">
            <a:extLst>
              <a:ext uri="{FF2B5EF4-FFF2-40B4-BE49-F238E27FC236}">
                <a16:creationId xmlns:a16="http://schemas.microsoft.com/office/drawing/2014/main" id="{E384BBBC-50C7-381E-0716-E4D7E67D2116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6059488" y="3932238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2C5D89D-C22F-4221-A17E-4B46BE1F989F}" type="datetime'5''''''''''''''''''''''7''''''''''''''''''''''''''%'''''''''">
              <a:rPr lang="en-GB" altLang="en-US" sz="8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57%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E266CC5A-D05A-179A-9945-C010CD7F7177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053138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425AAD2-0E1D-471D-936B-0B803E71AE92}" type="datetime'2''''''''6''P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26P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201" name="Rectangle 1200">
            <a:extLst>
              <a:ext uri="{FF2B5EF4-FFF2-40B4-BE49-F238E27FC236}">
                <a16:creationId xmlns:a16="http://schemas.microsoft.com/office/drawing/2014/main" id="{2F9F2D15-E2A0-3262-0314-EDFDC6F5EE65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6423025" y="3889375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13FE2ED-15CC-42D8-B261-3808F089811A}" type="datetime'''''''''''''''5''7''''''''''''''''%'''''''''''''''">
              <a:rPr lang="en-GB" altLang="en-US" sz="800" smtClean="0">
                <a:solidFill>
                  <a:schemeClr val="tx1"/>
                </a:solidFill>
                <a:effectLst/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57%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57CB699F-4E19-C6FD-962F-F69B90661166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386513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D23C7C0-BC73-4947-B355-2239D90B3253}" type="datetime'''''''''''2''7''''''''''''''''''''''''''P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27P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202" name="Rectangle 1201">
            <a:extLst>
              <a:ext uri="{FF2B5EF4-FFF2-40B4-BE49-F238E27FC236}">
                <a16:creationId xmlns:a16="http://schemas.microsoft.com/office/drawing/2014/main" id="{B65941A2-E322-9690-2DBF-93E0CCBEC2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796088" y="3819525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390BF32-8C22-4433-B24C-15210B7EF084}" type="datetime'''''''''''''''5''''''''''''''''''''''''8%'''''''''''''''''''">
              <a:rPr lang="en-GB" altLang="en-US" sz="800" smtClean="0">
                <a:solidFill>
                  <a:schemeClr val="tx1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58%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24DE8E61-3BAC-A1EE-7E6D-9C31A567843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721475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41AE6A-2A5A-41B8-A861-127B4F6976CB}" type="datetime'''2''''''''''''''''8P''''''''''''''''''''''''''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28P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B3193F6-0D67-4F75-965A-B2EA1C2E3BBB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5191125" y="4121150"/>
            <a:ext cx="155575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D559972-8D43-4BDF-A747-624ED86BB0EB}" type="datetime'''''''''''''''0''''''.''''''''''''''9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0.9</a:t>
            </a:fld>
            <a:endParaRPr lang="en-GB" sz="800">
              <a:solidFill>
                <a:schemeClr val="tx1"/>
              </a:solidFill>
            </a:endParaRPr>
          </a:p>
        </p:txBody>
      </p:sp>
      <p:sp useBgFill="1">
        <p:nvSpPr>
          <p:cNvPr id="1344" name="Rectangle 1343">
            <a:extLst>
              <a:ext uri="{FF2B5EF4-FFF2-40B4-BE49-F238E27FC236}">
                <a16:creationId xmlns:a16="http://schemas.microsoft.com/office/drawing/2014/main" id="{05A1AE89-3D8D-19D7-6FA3-36BC635F5F11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5572125" y="4090988"/>
            <a:ext cx="155575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AB6007A-639C-4736-B354-C5240F3431B9}" type="datetime'1''''''''''''''.''''''''''3''''''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1.3</a:t>
            </a:fld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91ACB537-21EE-B6A6-E93B-4786EC8A6685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5784850" y="4194175"/>
            <a:ext cx="155575" cy="10953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10E2BF-0748-45C4-9942-C060DD86D424}" type="datetime'''''''''''''''''''''''2''''''''''''''''''''''''''''.''0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2.0</a:t>
            </a:fld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A03B7B33-77D9-2EAC-D2A7-3CD292F399B8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6118225" y="4132263"/>
            <a:ext cx="155575" cy="10953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39E099E-102D-4960-AD39-247BEEBC44DF}" type="datetime'''''''''''''''''''''''''''''3''''''''.''''''8''''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3.8</a:t>
            </a:fld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1AD8A1A1-B8CB-0EB3-8E53-CE018AE2848C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6453188" y="4117975"/>
            <a:ext cx="155575" cy="10953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5403252-C726-4334-B2E7-BF84A7A141A1}" type="datetime'''''''''''''4''''''''''''''.''''''''''''''''''''''''''2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4.2</a:t>
            </a:fld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19945A2B-78E8-CA36-C7CD-3C230CFDD549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6786563" y="4102100"/>
            <a:ext cx="155575" cy="10953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553336-4276-4CE0-916A-047887EB6497}" type="datetime'''''''''''''''''''4.''''''7''''''''''''''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4.7</a:t>
            </a:fld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20" name="Oval 1319">
            <a:extLst>
              <a:ext uri="{FF2B5EF4-FFF2-40B4-BE49-F238E27FC236}">
                <a16:creationId xmlns:a16="http://schemas.microsoft.com/office/drawing/2014/main" id="{516279A6-EE94-F329-EC82-930967C603D5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5248275" y="3565525"/>
            <a:ext cx="322263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39D5C68-AD4F-4621-9E16-46E99ACAD506}" type="datetime'''''+''''''''''''''''''''''''1''5''%'">
              <a:rPr lang="en-GB" altLang="en-US" sz="8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+15%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333" name="Oval 1332">
            <a:extLst>
              <a:ext uri="{FF2B5EF4-FFF2-40B4-BE49-F238E27FC236}">
                <a16:creationId xmlns:a16="http://schemas.microsoft.com/office/drawing/2014/main" id="{A57702F2-5751-21F5-8DBE-59CABBD826B0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6083300" y="3395663"/>
            <a:ext cx="322263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2683453-E4DC-414B-8010-17702A15522A}" type="datetime'''''''''''''''''''''+''''''23''%'''''''''''''''''''''''''">
              <a:rPr lang="en-GB" altLang="en-US" sz="8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+23%</a:t>
            </a:fld>
            <a:endParaRPr lang="en-GB" sz="800" b="1" dirty="0">
              <a:solidFill>
                <a:schemeClr val="tx1"/>
              </a:solidFill>
            </a:endParaRPr>
          </a:p>
        </p:txBody>
      </p:sp>
      <p:cxnSp>
        <p:nvCxnSpPr>
          <p:cNvPr id="1409" name="Gerader Verbinder 17">
            <a:extLst>
              <a:ext uri="{FF2B5EF4-FFF2-40B4-BE49-F238E27FC236}">
                <a16:creationId xmlns:a16="http://schemas.microsoft.com/office/drawing/2014/main" id="{57DA56E0-0F47-7CBD-D6E9-204F3EBDD0BD}"/>
              </a:ext>
            </a:extLst>
          </p:cNvPr>
          <p:cNvCxnSpPr>
            <a:cxnSpLocks/>
          </p:cNvCxnSpPr>
          <p:nvPr/>
        </p:nvCxnSpPr>
        <p:spPr bwMode="auto">
          <a:xfrm>
            <a:off x="7255650" y="3771259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10" name="TextBox 1409">
            <a:extLst>
              <a:ext uri="{FF2B5EF4-FFF2-40B4-BE49-F238E27FC236}">
                <a16:creationId xmlns:a16="http://schemas.microsoft.com/office/drawing/2014/main" id="{55E006B6-6103-0576-37D9-73BE110ABD48}"/>
              </a:ext>
            </a:extLst>
          </p:cNvPr>
          <p:cNvSpPr txBox="1"/>
          <p:nvPr/>
        </p:nvSpPr>
        <p:spPr>
          <a:xfrm>
            <a:off x="7260432" y="3571234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Acquisition Strategy</a:t>
            </a:r>
          </a:p>
        </p:txBody>
      </p:sp>
      <p:cxnSp>
        <p:nvCxnSpPr>
          <p:cNvPr id="30" name="Gerader Verbinder 17">
            <a:extLst>
              <a:ext uri="{FF2B5EF4-FFF2-40B4-BE49-F238E27FC236}">
                <a16:creationId xmlns:a16="http://schemas.microsoft.com/office/drawing/2014/main" id="{4A14B837-1E09-2346-F6BE-A9A05D2338C0}"/>
              </a:ext>
            </a:extLst>
          </p:cNvPr>
          <p:cNvCxnSpPr>
            <a:cxnSpLocks/>
          </p:cNvCxnSpPr>
          <p:nvPr/>
        </p:nvCxnSpPr>
        <p:spPr bwMode="auto">
          <a:xfrm>
            <a:off x="7255650" y="27965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FB60E3A-A357-6ED3-0F80-05BB2EF41E36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7267575" y="34686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A36C62-E7CE-F576-6301-2904B7B3215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7267575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683C62-171C-DA9A-9F61-C61BD9133F1D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7267575" y="31670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1C18BA-C116-E70E-94C9-6836166D947D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267575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4BF872-EB6C-60FF-E77C-3C4046B0F1BD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7265988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C318BD-D89C-C408-EBDD-695395CDF488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8178800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60C579-6973-466D-6EA9-5A36EDAFE18C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8178800" y="31670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CEA023-20D7-75B7-C7EA-32CE1164BFB0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8178800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5CCA83-B1AB-A365-7545-CF5FF3EC8445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8178800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B84A3530-595E-764E-1592-E74E9521E997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7367587" y="2862263"/>
            <a:ext cx="777582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(EUR 1.0m)</a:t>
            </a:r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091AFB1E-16B5-B8B7-777A-97BA61A0246B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7367588" y="3011488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margin (10%)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5234A1C5-5DCD-AECB-8870-F69507339223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7367588" y="3160713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Digitization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615398AB-6D13-C771-7AF6-67BAE41E4C3E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7367588" y="3308350"/>
            <a:ext cx="777582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Buy &amp; Build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A31E3EA6-87E5-A3E3-ECD2-B1E7DFB3988A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7367587" y="3460750"/>
            <a:ext cx="1201738" cy="87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hu-HU" sz="700" dirty="0">
                <a:solidFill>
                  <a:schemeClr val="tx1"/>
                </a:solidFill>
              </a:rPr>
              <a:t>Market</a:t>
            </a:r>
            <a:r>
              <a:rPr lang="en-GB" sz="700" dirty="0">
                <a:solidFill>
                  <a:schemeClr val="tx1"/>
                </a:solidFill>
              </a:rPr>
              <a:t> fragmentation</a:t>
            </a:r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653A1FF3-B57A-D45D-8166-DC7B9F703EB4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8277225" y="2862263"/>
            <a:ext cx="555625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DACH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B53A7488-E23C-13AD-2CEA-EC2EC106E60B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8277225" y="3011488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Majority stake</a:t>
            </a:r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6A3C5BA7-4DE0-6D31-3031-906AE41088F5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8277225" y="316071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Asset light</a:t>
            </a:r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ABD1326F-FC7E-0CAB-57CE-8ECCA0A6BC36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8277225" y="3308350"/>
            <a:ext cx="555625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ESG</a:t>
            </a:r>
          </a:p>
        </p:txBody>
      </p:sp>
      <p:sp>
        <p:nvSpPr>
          <p:cNvPr id="1363" name="Rectangle 1362">
            <a:extLst>
              <a:ext uri="{FF2B5EF4-FFF2-40B4-BE49-F238E27FC236}">
                <a16:creationId xmlns:a16="http://schemas.microsoft.com/office/drawing/2014/main" id="{1C3129D2-B7E3-D544-6098-BDD0CA46118D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7267575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364" name="Rectangle 1363">
            <a:extLst>
              <a:ext uri="{FF2B5EF4-FFF2-40B4-BE49-F238E27FC236}">
                <a16:creationId xmlns:a16="http://schemas.microsoft.com/office/drawing/2014/main" id="{EE43CB1D-9EBF-51F7-A87A-24085546B17F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8178800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BD496183-CF87-EBA0-F7DC-6B2C80690B41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7367589" y="3827463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Vertical</a:t>
            </a:r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D9C6C656-ADB4-CE63-2DC8-FB00B96092A2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8277225" y="382746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Horizontal</a:t>
            </a:r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E3ABDCBF-FD5B-DA63-A208-3589C83A15C2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7267575" y="39592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A25894FD-5589-A74C-25C4-F93ABED3C1C8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7367588" y="3952875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Geographical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F25C50-CC74-9CF7-D319-4A015653A035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4159621" y="4734539"/>
            <a:ext cx="108000" cy="72000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B76DAAA-FA7D-2ED4-E9DB-28DAFF0DEBA6}"/>
              </a:ext>
            </a:extLst>
          </p:cNvPr>
          <p:cNvSpPr>
            <a:spLocks noGrp="1"/>
          </p:cNvSpPr>
          <p:nvPr>
            <p:custDataLst>
              <p:tags r:id="rId74"/>
            </p:custDataLst>
          </p:nvPr>
        </p:nvSpPr>
        <p:spPr bwMode="auto">
          <a:xfrm>
            <a:off x="4293919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hu-HU" sz="600" noProof="0" dirty="0">
                <a:solidFill>
                  <a:srgbClr val="000000"/>
                </a:solidFill>
                <a:sym typeface="CKNord Book" panose="020B0604020101010102"/>
              </a:rPr>
              <a:t>Revenue</a:t>
            </a:r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CE8151A8-9737-4BA0-C752-6616FDA67EFD}"/>
              </a:ext>
            </a:extLst>
          </p:cNvPr>
          <p:cNvSpPr txBox="1"/>
          <p:nvPr/>
        </p:nvSpPr>
        <p:spPr>
          <a:xfrm>
            <a:off x="4735609" y="4494343"/>
            <a:ext cx="2547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800" dirty="0"/>
              <a:t>D&amp;A</a:t>
            </a:r>
            <a:endParaRPr lang="en-GB" sz="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754A23-9706-31A4-7FE6-BC3B5251E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23"/>
          <a:stretch>
            <a:fillRect/>
          </a:stretch>
        </p:blipFill>
        <p:spPr bwMode="auto">
          <a:xfrm>
            <a:off x="1026559" y="276591"/>
            <a:ext cx="539102" cy="18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18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5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91813596403010055980E+00&quot;&gt;&lt;m_msothmcolidx val=&quot;0&quot;/&gt;&lt;m_rgb r=&quot;00&quot; g=&quot;B0&quot; b=&quot;50&quot;/&gt;&lt;/elem&gt;&lt;elem m_fUsage=&quot;2.19510000000000005116E+00&quot;&gt;&lt;m_msothmcolidx val=&quot;0&quot;/&gt;&lt;m_rgb r=&quot;70&quot; g=&quot;30&quot; b=&quot;A0&quot;/&gt;&lt;/elem&gt;&lt;elem m_fUsage=&quot;7.36098929100000076708E-01&quot;&gt;&lt;m_msothmcolidx val=&quot;0&quot;/&gt;&lt;m_rgb r=&quot;F5&quot; g=&quot;62&quot; b=&quot;1B&quot;/&gt;&lt;/elem&gt;&lt;elem m_fUsage=&quot;6.88845639477159155106E-01&quot;&gt;&lt;m_msothmcolidx val=&quot;0&quot;/&gt;&lt;m_rgb r=&quot;BC&quot; g=&quot;CC&quot; b=&quot;EA&quot;/&gt;&lt;/elem&gt;&lt;elem m_fUsage=&quot;4.78296900000000135833E-01&quot;&gt;&lt;m_msothmcolidx val=&quot;0&quot;/&gt;&lt;m_rgb r=&quot;44&quot; g=&quot;62&quot; b=&quot;EE&quot;/&gt;&lt;/elem&gt;&lt;elem m_fUsage=&quot;4.49566585619359360138E-01&quot;&gt;&lt;m_msothmcolidx val=&quot;0&quot;/&gt;&lt;m_rgb r=&quot;B9&quot; g=&quot;DF&quot; b=&quot;EE&quot;/&gt;&lt;/elem&gt;&lt;elem m_fUsage=&quot;2.18502814219955432407E-01&quot;&gt;&lt;m_msothmcolidx val=&quot;0&quot;/&gt;&lt;m_rgb r=&quot;25&quot; g=&quot;3F&quot; b=&quot;6A&quot;/&gt;&lt;/elem&gt;&lt;elem m_fUsage=&quot;9.47961491495192820622E-02&quot;&gt;&lt;m_msothmcolidx val=&quot;0&quot;/&gt;&lt;m_rgb r=&quot;C4&quot; g=&quot;DB&quot; b=&quot;F0&quot;/&gt;&lt;/elem&gt;&lt;elem m_fUsage=&quot;8.49031351270367468098E-02&quot;&gt;&lt;m_msothmcolidx val=&quot;0&quot;/&gt;&lt;m_rgb r=&quot;DC&quot; g=&quot;EE&quot; b=&quot;F5&quot;/&gt;&lt;/elem&gt;&lt;elem m_fUsage=&quot;4.53142882543358035963E-02&quot;&gt;&lt;m_msothmcolidx val=&quot;0&quot;/&gt;&lt;m_rgb r=&quot;41&quot; g=&quot;41&quot; b=&quot;41&quot;/&gt;&lt;/elem&gt;&lt;elem m_fUsage=&quot;1.33027946472911492298E-02&quot;&gt;&lt;m_msothmcolidx val=&quot;0&quot;/&gt;&lt;m_rgb r=&quot;F4&quot; g=&quot;F3&quot; b=&quot;E8&quot;/&gt;&lt;/elem&gt;&lt;elem m_fUsage=&quot;1.07752636643058292976E-02&quot;&gt;&lt;m_msothmcolidx val=&quot;0&quot;/&gt;&lt;m_rgb r=&quot;EF&quot; g=&quot;ED&quot; b=&quot;DA&quot;/&gt;&lt;/elem&gt;&lt;elem m_fUsage=&quot;9.69773729787524844947E-03&quot;&gt;&lt;m_msothmcolidx val=&quot;0&quot;/&gt;&lt;m_rgb r=&quot;D1&quot; g=&quot;EA&quot; b=&quot;F3&quot;/&gt;&lt;/elem&gt;&lt;elem m_fUsage=&quot;8.72796356808772273717E-03&quot;&gt;&lt;m_msothmcolidx val=&quot;0&quot;/&gt;&lt;m_rgb r=&quot;E8&quot; g=&quot;E4&quot; b=&quot;CA&quot;/&gt;&lt;/elem&gt;&lt;elem m_fUsage=&quot;8.46534434697576373963E-03&quot;&gt;&lt;m_msothmcolidx val=&quot;0&quot;/&gt;&lt;m_rgb r=&quot;59&quot; g=&quot;59&quot; b=&quot;59&quot;/&gt;&lt;/elem&gt;&lt;elem m_fUsage=&quot;4.63839768658810824853E-03&quot;&gt;&lt;m_msothmcolidx val=&quot;0&quot;/&gt;&lt;m_rgb r=&quot;D8&quot; g=&quot;E7&quot; b=&quot;F5&quot;/&gt;&lt;/elem&gt;&lt;elem m_fUsage=&quot;3.79368841093047142951E-03&quot;&gt;&lt;m_msothmcolidx val=&quot;0&quot;/&gt;&lt;m_rgb r=&quot;50&quot; g=&quot;25&quot; b=&quot;FA&quot;/&gt;&lt;/elem&gt;&lt;elem m_fUsage=&quot;3.75710212613636785478E-03&quot;&gt;&lt;m_msothmcolidx val=&quot;0&quot;/&gt;&lt;m_rgb r=&quot;AC&quot; g=&quot;F4&quot; b=&quot;FB&quot;/&gt;&lt;/elem&gt;&lt;elem m_fUsage=&quot;3.38139191352273020194E-03&quot;&gt;&lt;m_msothmcolidx val=&quot;0&quot;/&gt;&lt;m_rgb r=&quot;EB&quot; g=&quot;F3&quot; b=&quot;FA&quot;/&gt;&lt;/elem&gt;&lt;elem m_fUsage=&quot;3.04325272217045731185E-03&quot;&gt;&lt;m_msothmcolidx val=&quot;0&quot;/&gt;&lt;m_rgb r=&quot;AC&quot; g=&quot;A8&quot; b=&quot;A8&quot;/&gt;&lt;/elem&gt;&lt;elem m_fUsage=&quot;2.46503470495807114685E-03&quot;&gt;&lt;m_msothmcolidx val=&quot;0&quot;/&gt;&lt;m_rgb r=&quot;69&quot; g=&quot;88&quot; b=&quot;B6&quot;/&gt;&lt;/elem&gt;&lt;elem m_fUsage=&quot;2.21853123446226355511E-03&quot;&gt;&lt;m_msothmcolidx val=&quot;0&quot;/&gt;&lt;m_rgb r=&quot;17&quot; g=&quot;2C&quot; b=&quot;4A&quot;/&gt;&lt;/elem&gt;&lt;elem m_fUsage=&quot;1.61730926992299014339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  <p:tag name="THINKCELLSHAPEDONOTDELETE" val="pfDYr2t8jNIypJBq4bknX4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jm06wZVgw.7eP7ysSST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M9nolBmLv879M3gU3X0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ZjXS3MRw.d21ANPuFz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kqQIVKaHCuXwV6bjzps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j1nYGjFaQ45SCoUsdzP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elo3co9.BShPXriX.aF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reDvxA187F3_F27zMmL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5Uz9Vo8mdnLkVipfQNh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Zsys01yS1svRFPT1H3e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QeP50dlptPHo1T5ZozY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cBs3T9lXyK6l7o1LgQf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ZsmpJ5pfvCrOYcw59mE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_Lq9Fe5vEQo7ZGk11wm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JWKZ1lao064H9o4WboV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_J3SkED16.zVJ9CYWwO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QAGEo1lXatEsqnnmrNz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qf_A2U4kldoZ.x9T0Lv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aD3BTxDfxGTzB4UVg2b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EqsKCaficwTxbfLgiaP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oqiINGPf9gQy43dA.rB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z1IV7gepf7sMekpyDLO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ng_7kAnxuQzeI0O_Pn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f_lZieJNH9ewDxuxTlx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2feBZzdU.xVJfNvKxHM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z5CSgGuWxT5KMdRVAmP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kBE_DOEnZxb.Lc9L3PBx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18ZEDo6sBtu96hi.8VQ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BbDJM4Tr0dEkwSqAds5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g77BHoaOArHAyuxhtPt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pe48VjdOIoOB9DSdRTT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OJUb3kFk9oRD2qVdOm_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zYRxipFRYyR.0CaYWhh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i6urI0WpwtWLyeypra5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UDizBwou6FaaTdC.wOP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1XZs2vyiPDIDFjPD4cFO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UlmCEF5ogDoyv7GAJ2n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K7SR5lskVWXZ0L3.JOC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jHv88tkUrm9DdEIzSns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9suJRTpz.BBNTv4hp9Y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Xar4jx2z4Gm1df8.Yka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LjwOL9lI.LGikRVcT0c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7TPEhLoJa1NGN_4k3x.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LIuY85I0LZtqSv2vNsx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magkM0pMOxOpRKhZB8dW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4rjK2pMFPjpyc6VmMYZV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3X75uqju6ZlUUXe3XTHK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xxQ.wZ5dMEIb9k8DAGX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3HmWlQoj98YrH9IZ99W7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562Zc_0YAI9Ns7f72GZp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3OlY51L0cDp7.8PNuFM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nexWDeCaoW2ExnbqfyC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i0pi2CMIAgymG1PdMeBo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P.adES.2vEiaGyM3nNh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ULuixfS8gAS3Uc9Sxvj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RQDMgkTc5iPfm7xshH0z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VC3BrXsHzz_5wxaM3DM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Af6_cHsWnGy3spbgmqw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K71JMBj0QzIpRljgfzW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4CA7C6-6EF8-493D-B2CC-2C62053374D6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4cabe56c-7e26-4c02-8d85-b4fad8b06d2c"/>
    <ds:schemaRef ds:uri="http://purl.org/dc/dcmitype/"/>
    <ds:schemaRef ds:uri="2a11dabe-1bed-4248-9727-f03e5cc57e90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367</Words>
  <Application>Microsoft Office PowerPoint</Application>
  <PresentationFormat>On-screen Show (16:9)</PresentationFormat>
  <Paragraphs>136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Apercu</vt:lpstr>
      <vt:lpstr>Arial</vt:lpstr>
      <vt:lpstr>Calibri</vt:lpstr>
      <vt:lpstr>CKNord Book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Tobias Wieser</cp:lastModifiedBy>
  <cp:revision>1265</cp:revision>
  <cp:lastPrinted>2023-04-14T12:16:15Z</cp:lastPrinted>
  <dcterms:created xsi:type="dcterms:W3CDTF">2017-10-02T06:30:19Z</dcterms:created>
  <dcterms:modified xsi:type="dcterms:W3CDTF">2026-03-03T07:26:40Z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