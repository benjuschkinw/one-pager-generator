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</p:sldMasterIdLst>
  <p:notesMasterIdLst>
    <p:notesMasterId r:id="rId9"/>
  </p:notesMasterIdLst>
  <p:handoutMasterIdLst>
    <p:handoutMasterId r:id="rId10"/>
  </p:handoutMasterIdLst>
  <p:sldIdLst>
    <p:sldId id="2147377613" r:id="rId6"/>
    <p:sldId id="2147377614" r:id="rId7"/>
    <p:sldId id="2147377615" r:id="rId8"/>
  </p:sldIdLst>
  <p:sldSz cx="9144000" cy="5143500" type="screen16x9"/>
  <p:notesSz cx="7010400" cy="9296400"/>
  <p:custDataLst>
    <p:tags r:id="rId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06699353-3A2F-4446-8C95-63D4AFDEF5DF}">
          <p14:sldIdLst>
            <p14:sldId id="2147377613"/>
            <p14:sldId id="2147377614"/>
            <p14:sldId id="2147377615"/>
          </p14:sldIdLst>
        </p14:section>
      </p14:sectionLst>
    </p:ext>
    <p:ext uri="{EFAFB233-063F-42B5-8137-9DF3F51BA10A}">
      <p15:sldGuideLst xmlns:p15="http://schemas.microsoft.com/office/powerpoint/2012/main">
        <p15:guide id="3" pos="2767" userDrawn="1">
          <p15:clr>
            <a:srgbClr val="A4A3A4"/>
          </p15:clr>
        </p15:guide>
        <p15:guide id="4" orient="horz" pos="259" userDrawn="1">
          <p15:clr>
            <a:srgbClr val="A4A3A4"/>
          </p15:clr>
        </p15:guide>
        <p15:guide id="6" pos="204" userDrawn="1">
          <p15:clr>
            <a:srgbClr val="A4A3A4"/>
          </p15:clr>
        </p15:guide>
        <p15:guide id="7" pos="3742" userDrawn="1">
          <p15:clr>
            <a:srgbClr val="A4A3A4"/>
          </p15:clr>
        </p15:guide>
        <p15:guide id="8" pos="2018" userDrawn="1">
          <p15:clr>
            <a:srgbClr val="A4A3A4"/>
          </p15:clr>
        </p15:guide>
        <p15:guide id="10" orient="horz" pos="2958" userDrawn="1">
          <p15:clr>
            <a:srgbClr val="A4A3A4"/>
          </p15:clr>
        </p15:guide>
        <p15:guide id="12" pos="5556" userDrawn="1">
          <p15:clr>
            <a:srgbClr val="A4A3A4"/>
          </p15:clr>
        </p15:guide>
        <p15:guide id="14" pos="2993" userDrawn="1">
          <p15:clr>
            <a:srgbClr val="A4A3A4"/>
          </p15:clr>
        </p15:guide>
        <p15:guide id="15" orient="horz" pos="191" userDrawn="1">
          <p15:clr>
            <a:srgbClr val="A4A3A4"/>
          </p15:clr>
        </p15:guide>
        <p15:guide id="17" orient="horz" pos="3049" userDrawn="1">
          <p15:clr>
            <a:srgbClr val="A4A3A4"/>
          </p15:clr>
        </p15:guide>
        <p15:guide id="18" orient="horz" pos="2935" userDrawn="1">
          <p15:clr>
            <a:srgbClr val="A4A3A4"/>
          </p15:clr>
        </p15:guide>
        <p15:guide id="23" orient="horz" pos="1733" userDrawn="1">
          <p15:clr>
            <a:srgbClr val="A4A3A4"/>
          </p15:clr>
        </p15:guide>
        <p15:guide id="24" orient="horz" pos="1847" userDrawn="1">
          <p15:clr>
            <a:srgbClr val="A4A3A4"/>
          </p15:clr>
        </p15:guide>
        <p15:guide id="31" orient="horz" pos="327" userDrawn="1">
          <p15:clr>
            <a:srgbClr val="A4A3A4"/>
          </p15:clr>
        </p15:guide>
        <p15:guide id="33" pos="2880" userDrawn="1">
          <p15:clr>
            <a:srgbClr val="A4A3A4"/>
          </p15:clr>
        </p15:guide>
        <p15:guide id="34" orient="horz" pos="418" userDrawn="1">
          <p15:clr>
            <a:srgbClr val="A4A3A4"/>
          </p15:clr>
        </p15:guide>
        <p15:guide id="37" pos="1927" userDrawn="1">
          <p15:clr>
            <a:srgbClr val="A4A3A4"/>
          </p15:clr>
        </p15:guide>
        <p15:guide id="40" pos="38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72" userDrawn="1">
          <p15:clr>
            <a:srgbClr val="A4A3A4"/>
          </p15:clr>
        </p15:guide>
        <p15:guide id="2" pos="218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13604D-951F-F98C-ADD8-F2D53F50562A}" name="Jan Oeschger" initials="JO" userId="d2299cbd914f24eb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eresa Dick" initials="TD" lastIdx="2" clrIdx="0"/>
  <p:cmAuthor id="2" name="Claudius Stammbach" initials="CS" lastIdx="1" clrIdx="1">
    <p:extLst>
      <p:ext uri="{19B8F6BF-5375-455C-9EA6-DF929625EA0E}">
        <p15:presenceInfo xmlns:p15="http://schemas.microsoft.com/office/powerpoint/2012/main" userId="2fe753960fb41129" providerId="Windows Live"/>
      </p:ext>
    </p:extLst>
  </p:cmAuthor>
  <p:cmAuthor id="3" name="David Fürsich" initials="DF" lastIdx="1" clrIdx="2">
    <p:extLst>
      <p:ext uri="{19B8F6BF-5375-455C-9EA6-DF929625EA0E}">
        <p15:presenceInfo xmlns:p15="http://schemas.microsoft.com/office/powerpoint/2012/main" userId="S::david.fuersich@uzh.ch::8a974e71-c146-4c53-8538-34bd4a20bc8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BBEF"/>
    <a:srgbClr val="FFFFFF"/>
    <a:srgbClr val="364D6E"/>
    <a:srgbClr val="9DC3E6"/>
    <a:srgbClr val="AAAAAA"/>
    <a:srgbClr val="F4C500"/>
    <a:srgbClr val="8FAADC"/>
    <a:srgbClr val="D0CECE"/>
    <a:srgbClr val="BFBFBF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7307" autoAdjust="0"/>
  </p:normalViewPr>
  <p:slideViewPr>
    <p:cSldViewPr snapToGrid="0">
      <p:cViewPr varScale="1">
        <p:scale>
          <a:sx n="56" d="100"/>
          <a:sy n="56" d="100"/>
        </p:scale>
        <p:origin x="28" y="596"/>
      </p:cViewPr>
      <p:guideLst>
        <p:guide pos="2767"/>
        <p:guide orient="horz" pos="259"/>
        <p:guide pos="204"/>
        <p:guide pos="3742"/>
        <p:guide pos="2018"/>
        <p:guide orient="horz" pos="2958"/>
        <p:guide pos="5556"/>
        <p:guide pos="2993"/>
        <p:guide orient="horz" pos="191"/>
        <p:guide orient="horz" pos="3049"/>
        <p:guide orient="horz" pos="2935"/>
        <p:guide orient="horz" pos="1733"/>
        <p:guide orient="horz" pos="1847"/>
        <p:guide orient="horz" pos="327"/>
        <p:guide pos="2880"/>
        <p:guide orient="horz" pos="418"/>
        <p:guide pos="1927"/>
        <p:guide pos="383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5592" y="2034"/>
      </p:cViewPr>
      <p:guideLst>
        <p:guide orient="horz" pos="3172"/>
        <p:guide pos="218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gs" Target="tags/tag1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6353887399463807"/>
          <c:y val="0.16832669322709162"/>
          <c:w val="0.6720285969615728"/>
          <c:h val="0.6633466135458167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CD1-4989-97CA-33251750532F}"/>
              </c:ext>
            </c:extLst>
          </c:dPt>
          <c:dPt>
            <c:idx val="1"/>
            <c:bubble3D val="0"/>
            <c:spPr>
              <a:solidFill>
                <a:srgbClr val="4C6C9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CD1-4989-97CA-33251750532F}"/>
              </c:ext>
            </c:extLst>
          </c:dPt>
          <c:dPt>
            <c:idx val="2"/>
            <c:bubble3D val="0"/>
            <c:spPr>
              <a:solidFill>
                <a:srgbClr val="6F8DB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4CD1-4989-97CA-33251750532F}"/>
              </c:ext>
            </c:extLst>
          </c:dPt>
          <c:dPt>
            <c:idx val="3"/>
            <c:bubble3D val="0"/>
            <c:spPr>
              <a:solidFill>
                <a:srgbClr val="9DB1C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CD1-4989-97CA-33251750532F}"/>
              </c:ext>
            </c:extLst>
          </c:dPt>
          <c:dPt>
            <c:idx val="4"/>
            <c:bubble3D val="0"/>
            <c:spPr>
              <a:solidFill>
                <a:srgbClr val="C3CFE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4CD1-4989-97CA-33251750532F}"/>
              </c:ext>
            </c:extLst>
          </c:dPt>
          <c:dLbls>
            <c:dLbl>
              <c:idx val="0"/>
              <c:layout>
                <c:manualLayout>
                  <c:x val="8.0428954423592495E-3"/>
                  <c:y val="-6.9721115537848604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CD1-4989-97CA-33251750532F}"/>
                </c:ext>
              </c:extLst>
            </c:dLbl>
            <c:dLbl>
              <c:idx val="1"/>
              <c:layout>
                <c:manualLayout>
                  <c:x val="7.1492403932082215E-3"/>
                  <c:y val="5.9760956175298804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CD1-4989-97CA-33251750532F}"/>
                </c:ext>
              </c:extLst>
            </c:dLbl>
            <c:dLbl>
              <c:idx val="4"/>
              <c:layout>
                <c:manualLayout>
                  <c:x val="-1.4298480786416443E-2"/>
                  <c:y val="-2.988047808764940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CD1-4989-97CA-33251750532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Sheet1!$A$1:$A$5</c:f>
              <c:numCache>
                <c:formatCode>General</c:formatCode>
                <c:ptCount val="5"/>
                <c:pt idx="0">
                  <c:v>32</c:v>
                </c:pt>
                <c:pt idx="1">
                  <c:v>11</c:v>
                </c:pt>
                <c:pt idx="2">
                  <c:v>4</c:v>
                </c:pt>
                <c:pt idx="3">
                  <c:v>5</c:v>
                </c:pt>
                <c:pt idx="4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CD1-4989-97CA-3325175053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2816901408450703E-2"/>
          <c:y val="0.29597197898423816"/>
          <c:w val="0.88873239436619722"/>
          <c:h val="0.4991243432574430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4.4366197183098595E-2"/>
                  <c:y val="-7.0052539404553416E-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4B-478C-BC28-E968B480179F}"/>
                </c:ext>
              </c:extLst>
            </c:dLbl>
            <c:dLbl>
              <c:idx val="1"/>
              <c:layout>
                <c:manualLayout>
                  <c:x val="-4.0140845070422537E-2"/>
                  <c:y val="-1.9264448336252189E-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4B-478C-BC28-E968B480179F}"/>
                </c:ext>
              </c:extLst>
            </c:dLbl>
            <c:dLbl>
              <c:idx val="2"/>
              <c:layout>
                <c:manualLayout>
                  <c:x val="-1.6197183098591549E-2"/>
                  <c:y val="-0.1401050788091068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74B-478C-BC28-E968B480179F}"/>
                </c:ext>
              </c:extLst>
            </c:dLbl>
            <c:dLbl>
              <c:idx val="3"/>
              <c:layout>
                <c:manualLayout>
                  <c:x val="-2.0422535211267606E-2"/>
                  <c:y val="-0.2609457092819614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4B-478C-BC28-E968B480179F}"/>
                </c:ext>
              </c:extLst>
            </c:dLbl>
            <c:dLbl>
              <c:idx val="4"/>
              <c:layout>
                <c:manualLayout>
                  <c:x val="0"/>
                  <c:y val="-0.3047285464098073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4B-478C-BC28-E968B480179F}"/>
                </c:ext>
              </c:extLst>
            </c:dLbl>
            <c:dLbl>
              <c:idx val="5"/>
              <c:layout>
                <c:manualLayout>
                  <c:x val="0"/>
                  <c:y val="-0.2714535901926444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474B-478C-BC28-E968B480179F}"/>
                </c:ext>
              </c:extLst>
            </c:dLbl>
            <c:dLbl>
              <c:idx val="6"/>
              <c:layout>
                <c:manualLayout>
                  <c:x val="0"/>
                  <c:y val="-0.3432574430823117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474B-478C-BC28-E968B480179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2.9849999999999999</c:v>
                </c:pt>
                <c:pt idx="1">
                  <c:v>3.742</c:v>
                </c:pt>
                <c:pt idx="2">
                  <c:v>4</c:v>
                </c:pt>
                <c:pt idx="3">
                  <c:v>7.7549999999999999</c:v>
                </c:pt>
                <c:pt idx="4">
                  <c:v>14.75</c:v>
                </c:pt>
                <c:pt idx="5">
                  <c:v>22.3</c:v>
                </c:pt>
                <c:pt idx="6">
                  <c:v>30.95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74B-478C-BC28-E968B480179F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0.14360770577933449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474B-478C-BC28-E968B480179F}"/>
                </c:ext>
              </c:extLst>
            </c:dLbl>
            <c:dLbl>
              <c:idx val="3"/>
              <c:layout>
                <c:manualLayout>
                  <c:x val="9.8591549295774655E-3"/>
                  <c:y val="-0.178633975481611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474B-478C-BC28-E968B480179F}"/>
                </c:ext>
              </c:extLst>
            </c:dLbl>
            <c:dLbl>
              <c:idx val="4"/>
              <c:layout>
                <c:manualLayout>
                  <c:x val="9.8591549295774655E-3"/>
                  <c:y val="-0.1838879159369527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474B-478C-BC28-E968B480179F}"/>
                </c:ext>
              </c:extLst>
            </c:dLbl>
            <c:dLbl>
              <c:idx val="6"/>
              <c:layout>
                <c:manualLayout>
                  <c:x val="5.0704225352112678E-2"/>
                  <c:y val="-6.4798598949211902E-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474B-478C-BC28-E968B480179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Sheet1!$A$2:$G$2</c:f>
              <c:numCache>
                <c:formatCode>General</c:formatCode>
                <c:ptCount val="7"/>
                <c:pt idx="0">
                  <c:v>0.124</c:v>
                </c:pt>
                <c:pt idx="1">
                  <c:v>0.23400000000000001</c:v>
                </c:pt>
                <c:pt idx="2">
                  <c:v>0</c:v>
                </c:pt>
                <c:pt idx="3">
                  <c:v>1.903</c:v>
                </c:pt>
                <c:pt idx="4">
                  <c:v>2.3780000000000001</c:v>
                </c:pt>
                <c:pt idx="5">
                  <c:v>4.048</c:v>
                </c:pt>
                <c:pt idx="6">
                  <c:v>6.52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74B-478C-BC28-E968B48017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395875280"/>
        <c:axId val="1"/>
      </c:barChart>
      <c:barChart>
        <c:barDir val="col"/>
        <c:grouping val="clustered"/>
        <c:varyColors val="0"/>
        <c:ser>
          <c:idx val="3"/>
          <c:order val="3"/>
          <c:invertIfNegative val="0"/>
          <c:extLst>
            <c:ext xmlns:c16="http://schemas.microsoft.com/office/drawing/2014/chart" uri="{C3380CC4-5D6E-409C-BE32-E72D297353CC}">
              <c16:uniqueId val="{00000015-474B-478C-BC28-E968B48017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lineChart>
        <c:grouping val="standard"/>
        <c:varyColors val="0"/>
        <c:ser>
          <c:idx val="2"/>
          <c:order val="2"/>
          <c:spPr>
            <a:ln w="19050" cmpd="sng" algn="ctr">
              <a:solidFill>
                <a:schemeClr val="accent6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474B-478C-BC28-E968B480179F}"/>
              </c:ext>
            </c:extLst>
          </c:dPt>
          <c:dPt>
            <c:idx val="1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474B-478C-BC28-E968B480179F}"/>
              </c:ext>
            </c:extLst>
          </c:dPt>
          <c:dPt>
            <c:idx val="2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474B-478C-BC28-E968B480179F}"/>
              </c:ext>
            </c:extLst>
          </c:dPt>
          <c:dPt>
            <c:idx val="3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474B-478C-BC28-E968B480179F}"/>
              </c:ext>
            </c:extLst>
          </c:dPt>
          <c:dPt>
            <c:idx val="4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1-474B-478C-BC28-E968B480179F}"/>
              </c:ext>
            </c:extLst>
          </c:dPt>
          <c:dPt>
            <c:idx val="5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2-474B-478C-BC28-E968B480179F}"/>
              </c:ext>
            </c:extLst>
          </c:dPt>
          <c:dPt>
            <c:idx val="6"/>
            <c:marker>
              <c:symbol val="diamond"/>
              <c:size val="4"/>
              <c:spPr>
                <a:solidFill>
                  <a:schemeClr val="accent6"/>
                </a:solidFill>
                <a:ln w="9525" cmpd="sng" algn="ctr">
                  <a:solidFill>
                    <a:schemeClr val="accent6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3-474B-478C-BC28-E968B480179F}"/>
              </c:ext>
            </c:extLst>
          </c:dPt>
          <c:val>
            <c:numRef>
              <c:f>Sheet1!$A$3:$G$3</c:f>
              <c:numCache>
                <c:formatCode>General</c:formatCode>
                <c:ptCount val="7"/>
                <c:pt idx="0">
                  <c:v>0.12915108877721942</c:v>
                </c:pt>
                <c:pt idx="1">
                  <c:v>0.2486328166755746</c:v>
                </c:pt>
                <c:pt idx="2">
                  <c:v>0</c:v>
                </c:pt>
                <c:pt idx="3">
                  <c:v>2.369977304964539</c:v>
                </c:pt>
                <c:pt idx="4">
                  <c:v>2.7613819661016952</c:v>
                </c:pt>
                <c:pt idx="5">
                  <c:v>4.7828118385650225</c:v>
                </c:pt>
                <c:pt idx="6">
                  <c:v>7.8935185783521806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4-474B-478C-BC28-E968B48017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5875280"/>
        <c:axId val="1"/>
      </c:lineChart>
      <c:catAx>
        <c:axId val="13958752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.9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1395875280"/>
        <c:crosses val="min"/>
        <c:crossBetween val="between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.1000000000000001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2"/>
        <c:crosses val="max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6C526B2-3BB1-4109-9747-9F43A6241E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010253" cy="505169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4D3DF9-2175-4A73-AF72-F7B3C5B83B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3616" y="1"/>
            <a:ext cx="3010253" cy="505169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D7BC3E50-0BA3-4064-AC93-A2BB1F6C970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51B6A70-DF5E-45D1-9B5F-2DCF24A43D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9565932"/>
            <a:ext cx="3010253" cy="505168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E67EDA-D7CF-4709-9B20-44776F5861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3616" y="9565932"/>
            <a:ext cx="3010253" cy="505168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DF76C5B6-3087-4253-8452-0518541DE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9939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09712" cy="505304"/>
          </a:xfrm>
          <a:prstGeom prst="rect">
            <a:avLst/>
          </a:prstGeom>
        </p:spPr>
        <p:txBody>
          <a:bodyPr vert="horz" lIns="91421" tIns="45710" rIns="91421" bIns="45710" rtlCol="0"/>
          <a:lstStyle>
            <a:lvl1pPr algn="l" rtl="0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4173" y="0"/>
            <a:ext cx="3009712" cy="505304"/>
          </a:xfrm>
          <a:prstGeom prst="rect">
            <a:avLst/>
          </a:prstGeom>
        </p:spPr>
        <p:txBody>
          <a:bodyPr vert="horz" lIns="91421" tIns="45710" rIns="91421" bIns="45710" rtlCol="0"/>
          <a:lstStyle>
            <a:lvl1pPr algn="r" rtl="0">
              <a:defRPr sz="1200"/>
            </a:lvl1pPr>
          </a:lstStyle>
          <a:p>
            <a:fld id="{77552CD5-DB5B-46F3-833F-DFE2EF9956CA}" type="datetimeFigureOut">
              <a:rPr lang="en-GB" smtClean="0"/>
              <a:pPr/>
              <a:t>27/02/2026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58888"/>
            <a:ext cx="6042025" cy="33988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1" tIns="45710" rIns="91421" bIns="4571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4550" y="4846716"/>
            <a:ext cx="5556391" cy="3965496"/>
          </a:xfrm>
          <a:prstGeom prst="rect">
            <a:avLst/>
          </a:prstGeom>
        </p:spPr>
        <p:txBody>
          <a:bodyPr vert="horz" lIns="91421" tIns="45710" rIns="91421" bIns="45710" rtlCol="0"/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65798"/>
            <a:ext cx="3009712" cy="505303"/>
          </a:xfrm>
          <a:prstGeom prst="rect">
            <a:avLst/>
          </a:prstGeom>
        </p:spPr>
        <p:txBody>
          <a:bodyPr vert="horz" lIns="91421" tIns="45710" rIns="91421" bIns="45710" rtlCol="0" anchor="b"/>
          <a:lstStyle>
            <a:lvl1pPr algn="l" rtl="0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4173" y="9565798"/>
            <a:ext cx="3009712" cy="505303"/>
          </a:xfrm>
          <a:prstGeom prst="rect">
            <a:avLst/>
          </a:prstGeom>
        </p:spPr>
        <p:txBody>
          <a:bodyPr vert="horz" lIns="91421" tIns="45710" rIns="91421" bIns="45710" rtlCol="0" anchor="b"/>
          <a:lstStyle>
            <a:lvl1pPr algn="r" rtl="0">
              <a:defRPr sz="1200"/>
            </a:lvl1pPr>
          </a:lstStyle>
          <a:p>
            <a:fld id="{B39E50BF-321C-41EB-A04D-89790E5D4E0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7524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0B33-301B-2A03-F6B8-869CC41FA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EDB9F3-01B8-C287-18EF-0B3047A3B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14EA8-C9AE-545D-D61C-AFBDB0278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AB248-57E0-1EBA-C84B-9A04D4FA2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9E50BF-321C-41EB-A04D-89790E5D4E0E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5081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oleObject" Target="../embeddings/oleObject4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oleObject" Target="../embeddings/oleObject5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oleObject" Target="../embeddings/oleObject6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oleObject" Target="../embeddings/oleObject7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oleObject" Target="../embeddings/oleObject8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oleObject" Target="../embeddings/oleObject9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oleObject" Target="../embeddings/oleObject1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oleObject" Target="../embeddings/oleObject11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oleObject" Target="../embeddings/oleObject12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oleObject" Target="../embeddings/oleObject13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oleObject" Target="../embeddings/oleObject8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oleObject" Target="../embeddings/oleObject14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oleObject" Target="../embeddings/oleObject15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oleObject" Target="../embeddings/oleObject16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oleObject" Target="../embeddings/oleObject1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197881D-8918-C775-716D-504199AEAB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24194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D326D55-2195-6F43-30AD-801D3AF8DEC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5265" y="1852000"/>
            <a:ext cx="84963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2400" b="1" cap="all" baseline="0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01D1B8A-8A41-09B0-7E35-0CC6735BE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2939" y="2138354"/>
            <a:ext cx="8485080" cy="180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 cap="none" baseline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4ADFD49-95F7-80F6-AEFE-B3216BE40E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0623" y="1220788"/>
            <a:ext cx="1776413" cy="2714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buNone/>
              <a:defRPr sz="900" i="1"/>
            </a:lvl1pPr>
            <a:lvl2pPr marL="493713" indent="0">
              <a:buNone/>
              <a:defRPr/>
            </a:lvl2pPr>
            <a:lvl3pPr marL="842962" indent="0">
              <a:buNone/>
              <a:defRPr/>
            </a:lvl3pPr>
            <a:lvl4pPr marL="1266060" indent="0">
              <a:buNone/>
              <a:defRPr/>
            </a:lvl4pPr>
            <a:lvl5pPr marL="1688082" indent="0">
              <a:buNone/>
              <a:defRPr/>
            </a:lvl5pPr>
          </a:lstStyle>
          <a:p>
            <a:pPr lvl="0"/>
            <a:r>
              <a:rPr lang="en-GB" dirty="0"/>
              <a:t>Click to edit Master</a:t>
            </a:r>
          </a:p>
        </p:txBody>
      </p:sp>
      <p:sp>
        <p:nvSpPr>
          <p:cNvPr id="8" name="Picture Placeholder 18">
            <a:extLst>
              <a:ext uri="{FF2B5EF4-FFF2-40B4-BE49-F238E27FC236}">
                <a16:creationId xmlns:a16="http://schemas.microsoft.com/office/drawing/2014/main" id="{169389F3-C80B-12A0-BEBF-29CECB50D26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8492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9" name="Picture Placeholder 18">
            <a:extLst>
              <a:ext uri="{FF2B5EF4-FFF2-40B4-BE49-F238E27FC236}">
                <a16:creationId xmlns:a16="http://schemas.microsoft.com/office/drawing/2014/main" id="{9BFE5C34-DBA0-5D49-91AF-9F555F519D5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511295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8B6D6F96-F0E6-4B7E-28B5-C130CFE96C3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694098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3A9C7694-ECE3-2790-6678-02A06101ED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76901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85104EFF-3519-D684-2B80-9FFFF618421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0623" y="582103"/>
            <a:ext cx="1216025" cy="576262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3D4DD5E-1D96-1647-E8E9-6A7D83D65AB5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6" name="Footer Placeholder 14">
            <a:extLst>
              <a:ext uri="{FF2B5EF4-FFF2-40B4-BE49-F238E27FC236}">
                <a16:creationId xmlns:a16="http://schemas.microsoft.com/office/drawing/2014/main" id="{94C02E6F-63B2-083F-642C-8B1F445E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82158" y="4885139"/>
            <a:ext cx="1579685" cy="180000"/>
          </a:xfrm>
        </p:spPr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4" name="Slide Number Placeholder 15">
            <a:extLst>
              <a:ext uri="{FF2B5EF4-FFF2-40B4-BE49-F238E27FC236}">
                <a16:creationId xmlns:a16="http://schemas.microsoft.com/office/drawing/2014/main" id="{F28FAFE6-9AFA-66FA-4823-21272A3D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3242" y="4885139"/>
            <a:ext cx="422266" cy="180000"/>
          </a:xfrm>
        </p:spPr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8782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B01325C-F6E0-5196-931B-A1B01CEE6C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98127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122BFCF-C366-74D8-A4C9-F9C21651B58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0" y="854416"/>
            <a:ext cx="9144000" cy="3803650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</p:spPr>
        <p:txBody>
          <a:bodyPr/>
          <a:lstStyle>
            <a:lvl1pPr rtl="0">
              <a:defRPr>
                <a:solidFill>
                  <a:srgbClr val="3D3D3D"/>
                </a:solidFill>
              </a:defRPr>
            </a:lvl1pPr>
            <a:lvl2pPr rtl="0">
              <a:defRPr>
                <a:solidFill>
                  <a:srgbClr val="3D3D3D"/>
                </a:solidFill>
              </a:defRPr>
            </a:lvl2pPr>
            <a:lvl3pPr rtl="0">
              <a:defRPr>
                <a:solidFill>
                  <a:srgbClr val="3D3D3D"/>
                </a:solidFill>
              </a:defRPr>
            </a:lvl3pPr>
            <a:lvl4pPr rtl="0">
              <a:defRPr>
                <a:solidFill>
                  <a:srgbClr val="3D3D3D"/>
                </a:solidFill>
              </a:defRPr>
            </a:lvl4pPr>
            <a:lvl5pPr rtl="0">
              <a:defRPr>
                <a:solidFill>
                  <a:srgbClr val="3D3D3D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Picture Placeholder 48">
            <a:extLst>
              <a:ext uri="{FF2B5EF4-FFF2-40B4-BE49-F238E27FC236}">
                <a16:creationId xmlns:a16="http://schemas.microsoft.com/office/drawing/2014/main" id="{76B350E4-262C-3E8F-1846-C531E4F4E11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50" y="854416"/>
            <a:ext cx="9144000" cy="38064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D3D3D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5C5EA24-6E97-5361-8311-23AF3AC81F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7241" y="99446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1FC61E5-D144-2242-BF45-37C95813DF0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4616" y="99446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2BF5378-90EB-4E83-E32D-7FE3FDAAD45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96002" y="99446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A1FE1E8-09BC-F168-C97F-B3B3636D348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7241" y="137980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3024907-E3FC-DB97-3D68-9673A4BFE34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24616" y="137980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1875939-1564-A563-E1B1-28C7FCAF317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96002" y="137980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559B74B-2A78-AD77-D6B0-81FC5A178D2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7241" y="176513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1CFDDBB6-5D9D-088B-807B-740F795C88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24616" y="176513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F61922F-810E-CE54-FDE5-256A402ACDD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96002" y="176513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F7E069F-B93D-0828-2228-B59D5A728BC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27241" y="215047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645F426C-F783-9C4F-5DC0-9261791073F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4616" y="215047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680E0419-0FAE-AE9C-C845-DE167ABDFCF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96002" y="215047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393012A-0302-1EA7-5687-6BD37E1CDBF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27241" y="253580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B522191-38FA-D2C3-B0A0-8FD372F1632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24616" y="253580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EB2C0169-A407-6649-0101-9F3D7C9F049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396002" y="253580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6C4C7EE-12B8-E805-9A3F-09EAFA0251A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7241" y="292114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76401FC-0A8D-D819-0C91-8812551A25C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24616" y="292114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78FCB58C-7411-015C-1882-B9F2434CB0B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396002" y="292114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3BA6765-3480-C4C6-4405-C8E0899B65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91658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58F6906-75FC-6374-D76F-C994509A6890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25" name="Slide Number Placeholder 15">
            <a:extLst>
              <a:ext uri="{FF2B5EF4-FFF2-40B4-BE49-F238E27FC236}">
                <a16:creationId xmlns:a16="http://schemas.microsoft.com/office/drawing/2014/main" id="{454D0225-0606-0EDA-3721-1903ABF8B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3242" y="4885139"/>
            <a:ext cx="422266" cy="180000"/>
          </a:xfrm>
        </p:spPr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7" name="Footer Placeholder 14">
            <a:extLst>
              <a:ext uri="{FF2B5EF4-FFF2-40B4-BE49-F238E27FC236}">
                <a16:creationId xmlns:a16="http://schemas.microsoft.com/office/drawing/2014/main" id="{410CE8EB-870D-171D-4D12-687A3D832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82158" y="4885139"/>
            <a:ext cx="1579685" cy="180000"/>
          </a:xfrm>
        </p:spPr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669540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7" userDrawn="1">
          <p15:clr>
            <a:srgbClr val="FBAE40"/>
          </p15:clr>
        </p15:guide>
        <p15:guide id="2" orient="horz" pos="41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833EEB4-718C-DF24-AD79-7C6B4D3496F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192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5" progId="TCLayout.ActiveDocument.1">
                  <p:embed/>
                </p:oleObj>
              </mc:Choice>
              <mc:Fallback>
                <p:oleObj name="think-cell Slide" r:id="rId5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6A7EACC-4B95-4072-5C50-D113157841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2361" y="1330773"/>
            <a:ext cx="9144000" cy="2805113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</p:spPr>
        <p:txBody>
          <a:bodyPr/>
          <a:lstStyle>
            <a:lvl1pPr marL="0" indent="0" rtl="0">
              <a:buNone/>
              <a:defRPr>
                <a:solidFill>
                  <a:srgbClr val="3D3D3D"/>
                </a:solidFill>
              </a:defRPr>
            </a:lvl1pPr>
            <a:lvl2pPr>
              <a:defRPr>
                <a:solidFill>
                  <a:srgbClr val="3D3D3D"/>
                </a:solidFill>
              </a:defRPr>
            </a:lvl2pPr>
            <a:lvl3pPr>
              <a:defRPr>
                <a:solidFill>
                  <a:srgbClr val="3D3D3D"/>
                </a:solidFill>
              </a:defRPr>
            </a:lvl3pPr>
            <a:lvl4pPr>
              <a:defRPr>
                <a:solidFill>
                  <a:srgbClr val="3D3D3D"/>
                </a:solidFill>
              </a:defRPr>
            </a:lvl4pPr>
            <a:lvl5pPr marL="1688082" indent="0" rtl="0">
              <a:buNone/>
              <a:defRPr>
                <a:solidFill>
                  <a:srgbClr val="3D3D3D"/>
                </a:solidFill>
              </a:defRPr>
            </a:lvl5pPr>
          </a:lstStyle>
          <a:p>
            <a:pPr lvl="0"/>
            <a:r>
              <a:rPr lang="en-GB" dirty="0"/>
              <a:t>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E6C3FF-00A7-FE8C-C105-70DC9EC76A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361" y="1336095"/>
            <a:ext cx="9146361" cy="2805113"/>
          </a:xfrm>
          <a:prstGeom prst="rect">
            <a:avLst/>
          </a:prstGeom>
          <a:solidFill>
            <a:srgbClr val="3D3D3D"/>
          </a:solidFill>
        </p:spPr>
        <p:txBody>
          <a:bodyPr/>
          <a:lstStyle>
            <a:lvl1pPr marL="0" indent="0">
              <a:buNone/>
              <a:defRPr>
                <a:solidFill>
                  <a:srgbClr val="3D3D3D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7A097E4-D9B3-7FF4-7DD5-2881DB3112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113" y="3408363"/>
            <a:ext cx="4433887" cy="411162"/>
          </a:xfrm>
          <a:prstGeom prst="rect">
            <a:avLst/>
          </a:prstGeom>
        </p:spPr>
        <p:txBody>
          <a:bodyPr/>
          <a:lstStyle>
            <a:lvl1pPr marL="0" indent="0" rtl="0">
              <a:buFontTx/>
              <a:buNone/>
              <a:defRPr sz="2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600" b="1">
                <a:solidFill>
                  <a:schemeClr val="bg1"/>
                </a:solidFill>
              </a:defRPr>
            </a:lvl2pPr>
            <a:lvl3pPr marL="914400" indent="0">
              <a:buNone/>
              <a:defRPr sz="2600" b="1">
                <a:solidFill>
                  <a:schemeClr val="bg1"/>
                </a:solidFill>
              </a:defRPr>
            </a:lvl3pPr>
            <a:lvl4pPr marL="1371600" indent="0">
              <a:buNone/>
              <a:defRPr sz="2600" b="1">
                <a:solidFill>
                  <a:schemeClr val="bg1"/>
                </a:solidFill>
              </a:defRPr>
            </a:lvl4pPr>
            <a:lvl5pPr>
              <a:defRPr sz="2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856155ED-769D-AB8F-77A7-EE26CD3FB6E3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5" name="Fußzeilenplatzhalter 6">
            <a:extLst>
              <a:ext uri="{FF2B5EF4-FFF2-40B4-BE49-F238E27FC236}">
                <a16:creationId xmlns:a16="http://schemas.microsoft.com/office/drawing/2014/main" id="{83B0F7F6-EA27-9BF9-BED3-62958AE7AD8A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 bwMode="auto">
          <a:xfrm>
            <a:off x="3782158" y="4885139"/>
            <a:ext cx="1579685" cy="180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rtl="0">
              <a:defRPr sz="9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93A36832-5332-3665-9ECF-B0337459C44B}"/>
              </a:ext>
            </a:extLst>
          </p:cNvPr>
          <p:cNvSpPr txBox="1">
            <a:spLocks/>
          </p:cNvSpPr>
          <p:nvPr userDrawn="1"/>
        </p:nvSpPr>
        <p:spPr>
          <a:xfrm>
            <a:off x="8393242" y="4885139"/>
            <a:ext cx="422266" cy="180000"/>
          </a:xfrm>
          <a:prstGeom prst="rect">
            <a:avLst/>
          </a:prstGeom>
          <a:ln/>
        </p:spPr>
        <p:txBody>
          <a:bodyPr lIns="0" tIns="0" rIns="0" bIns="0" anchor="t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4709C5-D592-4784-B331-5CC8F77FAAFB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95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8328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85883B-728C-1796-C126-6B8D62988D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92771B8D-156C-518E-4576-7231EBF2D9C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8782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4415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92619880-DA56-2A20-F6A3-C69132B15E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8487016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F22AB65-2EA0-F431-B8DB-1563EB3A21F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8491658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6D59254-1EBB-4CD3-49CD-2104E201C9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AECDE67-E01B-9178-88C8-D838BAC5E0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8024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29676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C84BCC25-37B2-A8A8-4A62-BF24E679E7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F22AB65-2EA0-F431-B8DB-1563EB3A21F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8491658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92619880-DA56-2A20-F6A3-C69132B15E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8487016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13545F3-C130-0DC7-4F06-80AD1C3C0D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91694BE-596B-36FA-A233-A33BE79723B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3443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70804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6B8517-9C5F-B3A7-5742-8082D6DB237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62A1C91-4A34-7D1A-619E-FB551D67EAA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1389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11DA4587-EE17-4073-80FA-0B0DE283B66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51389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D266DA-EF3F-C340-40ED-EE28A0226FE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1501971-B8B9-8484-0787-44320AF02CE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597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9711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62A1C91-4A34-7D1A-619E-FB551D67EAA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1389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11DA4587-EE17-4073-80FA-0B0DE283B66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51389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cxnSp>
        <p:nvCxnSpPr>
          <p:cNvPr id="19" name="Gerader Verbinder 2">
            <a:extLst>
              <a:ext uri="{FF2B5EF4-FFF2-40B4-BE49-F238E27FC236}">
                <a16:creationId xmlns:a16="http://schemas.microsoft.com/office/drawing/2014/main" id="{4C493647-95DB-582E-C88A-D3BFEBB16AA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51389" y="1069809"/>
            <a:ext cx="40687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C5CD8-7BAF-118B-0257-4E7A04EBB3B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23850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10" name="Gerader Verbinder 2">
            <a:extLst>
              <a:ext uri="{FF2B5EF4-FFF2-40B4-BE49-F238E27FC236}">
                <a16:creationId xmlns:a16="http://schemas.microsoft.com/office/drawing/2014/main" id="{33F0510F-E570-0292-738B-40FE158FB84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40687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CF6D5A8-F414-748D-BABA-5ECDCCD307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19055F7-5CF0-022F-E8ED-520A87BC1E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462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69929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3" y="1178881"/>
            <a:ext cx="2721382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656D2CF-FEBC-457A-BBE4-EAD28CBF098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04024" y="846912"/>
            <a:ext cx="273595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DE70A22-C355-1235-78A2-CEB9D1C7277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9A6374F-FEC8-E43D-A482-CD3376919E9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A30D6717-18EF-AB6F-A3A7-5E8261BF249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98955" y="1178881"/>
            <a:ext cx="2741469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6169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58298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3" y="1178881"/>
            <a:ext cx="2721382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36" name="Gerader Verbinder 2">
            <a:extLst>
              <a:ext uri="{FF2B5EF4-FFF2-40B4-BE49-F238E27FC236}">
                <a16:creationId xmlns:a16="http://schemas.microsoft.com/office/drawing/2014/main" id="{B4DD0D50-E58D-526C-033A-73A71AE0384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04472" y="1069809"/>
            <a:ext cx="273595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84888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3D8EE8B-AE43-468A-AF30-B7F8CDA1E7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295D2C4-085A-74F3-112E-39B177747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003F3D5F-62E4-8700-9056-F72505F5251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98955" y="1178881"/>
            <a:ext cx="2741469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CB666C4-0DA7-6214-B151-008102DC94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04024" y="846912"/>
            <a:ext cx="273595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8652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6820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5616575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5B0DF8F-0485-352D-C1B9-A61FB7B157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61CFFC1-1E1C-78FC-CE5C-0236517A3D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3573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88381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5616575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5616575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84888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99D20A6-E4A9-3510-1CCD-D538CE9F77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D33DAEE-ECA3-EE96-AC58-63405FAA7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6598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74261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03575" y="846912"/>
            <a:ext cx="561731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27306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03575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5D4F436-70D7-3002-8CD6-0DA229FB163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60DEC2AF-327D-95E5-BB45-6978C30CBEA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0835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5102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27352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27306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03575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03575" y="1069809"/>
            <a:ext cx="561731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03575" y="846912"/>
            <a:ext cx="561731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EBD9D15-264F-3B12-89B7-B460569C72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2DDD7C4-C08D-679B-3C58-22E1479D90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3182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1558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848237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CC31E426-0731-AD94-45D7-2088C929B9D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8482372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48A64B7-0EF4-DC35-647D-53514AF46CE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972814A-E3F6-DB3E-EBAD-847C978B3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FAD413A-221F-7730-8870-8D480238059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3398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  <p15:guide id="8" orient="horz" pos="18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9166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848237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CC31E426-0731-AD94-45D7-2088C929B9D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8482372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cxnSp>
        <p:nvCxnSpPr>
          <p:cNvPr id="19" name="Gerader Verbinder 2">
            <a:extLst>
              <a:ext uri="{FF2B5EF4-FFF2-40B4-BE49-F238E27FC236}">
                <a16:creationId xmlns:a16="http://schemas.microsoft.com/office/drawing/2014/main" id="{6281F47A-28DB-96BB-FA47-C6FCD011A4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C7E5674-F10F-E69F-8667-31DB99952B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22" name="Gerader Verbinder 2">
            <a:extLst>
              <a:ext uri="{FF2B5EF4-FFF2-40B4-BE49-F238E27FC236}">
                <a16:creationId xmlns:a16="http://schemas.microsoft.com/office/drawing/2014/main" id="{6F70B8C4-BF85-937E-BB11-31FB3A86E96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3009646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6D061AB-D45F-200B-3A3A-77917E3077C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B28B3D62-3C7D-5ED6-1450-4A87EA7BBD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21D2FFA-F2C4-6403-0FE2-15414B0E92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4367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  <p15:guide id="8" orient="horz" pos="189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27600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70FB309-0B92-86DB-5507-2DB98CCBB59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751388" y="2791789"/>
            <a:ext cx="406412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AB218703-0B16-DEBD-98D1-AEA911445C4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751388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0866A207-2478-81B4-5289-3AB9613E946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51388" y="3128151"/>
            <a:ext cx="406876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4053921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364CA5B2-5CB2-6704-A7DB-AD4005C0E47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756029" y="1178879"/>
            <a:ext cx="4064120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48F69E-8369-653A-41A4-1B3286C832D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E50BEB16-5A21-3CCE-3796-2132129D2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4064121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3595AED-4416-DC0B-380B-DE04C3B79C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B3B4F99-110E-A37A-BE18-1A38E7C173E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115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7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18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15733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7166092-C41E-F76C-06D0-1F7CE64AE61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FC502E1-17FE-312E-A97A-D4FF33D2C57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0866A207-2478-81B4-5289-3AB9613E946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51388" y="3128151"/>
            <a:ext cx="406876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70FB309-0B92-86DB-5507-2DB98CCBB59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751388" y="2791789"/>
            <a:ext cx="406412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22" name="Gerader Verbinder 2">
            <a:extLst>
              <a:ext uri="{FF2B5EF4-FFF2-40B4-BE49-F238E27FC236}">
                <a16:creationId xmlns:a16="http://schemas.microsoft.com/office/drawing/2014/main" id="{28B7C4A1-867F-7A4F-41FB-67FC22715E4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46746" y="3008862"/>
            <a:ext cx="4068762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4053921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cxnSp>
        <p:nvCxnSpPr>
          <p:cNvPr id="32" name="Gerader Verbinder 2">
            <a:extLst>
              <a:ext uri="{FF2B5EF4-FFF2-40B4-BE49-F238E27FC236}">
                <a16:creationId xmlns:a16="http://schemas.microsoft.com/office/drawing/2014/main" id="{5F217ED3-806D-9B90-F2ED-8C8B9AF6A59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33135" y="3008862"/>
            <a:ext cx="4068762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Gerader Verbinder 2">
            <a:extLst>
              <a:ext uri="{FF2B5EF4-FFF2-40B4-BE49-F238E27FC236}">
                <a16:creationId xmlns:a16="http://schemas.microsoft.com/office/drawing/2014/main" id="{F43D3543-727B-9785-3969-7695938977A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4063206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cxnSp>
        <p:nvCxnSpPr>
          <p:cNvPr id="39" name="Gerader Verbinder 2">
            <a:extLst>
              <a:ext uri="{FF2B5EF4-FFF2-40B4-BE49-F238E27FC236}">
                <a16:creationId xmlns:a16="http://schemas.microsoft.com/office/drawing/2014/main" id="{6469EC4A-5367-7A8D-B2A5-63414C4C62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56944" y="1069809"/>
            <a:ext cx="4063206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AB218703-0B16-DEBD-98D1-AEA911445C4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751388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364CA5B2-5CB2-6704-A7DB-AD4005C0E47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756029" y="1178879"/>
            <a:ext cx="4064120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AA7E144-E201-1016-685E-4F87E28CD5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AB76AE7B-5DC4-9A14-19D2-AF43E233B9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4064121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4451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7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189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835FDF6-69F1-4D07-88E9-E7A15A68ED3D}"/>
              </a:ext>
            </a:extLst>
          </p:cNvPr>
          <p:cNvGraphicFramePr>
            <a:graphicFrameLocks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1263055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84" imgH="486" progId="TCLayout.ActiveDocument.1">
                  <p:embed/>
                </p:oleObj>
              </mc:Choice>
              <mc:Fallback>
                <p:oleObj name="think-cell Slide" r:id="rId25" imgW="484" imgH="4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835FDF6-69F1-4D07-88E9-E7A15A68ED3D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Gerade Verbindung 18"/>
          <p:cNvCxnSpPr>
            <a:cxnSpLocks/>
          </p:cNvCxnSpPr>
          <p:nvPr userDrawn="1">
            <p:custDataLst>
              <p:tags r:id="rId21"/>
            </p:custDataLst>
          </p:nvPr>
        </p:nvCxnSpPr>
        <p:spPr>
          <a:xfrm>
            <a:off x="323850" y="4837540"/>
            <a:ext cx="8496300" cy="0"/>
          </a:xfrm>
          <a:prstGeom prst="line">
            <a:avLst/>
          </a:prstGeom>
          <a:ln w="6350">
            <a:solidFill>
              <a:srgbClr val="263F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4">
            <a:extLst>
              <a:ext uri="{FF2B5EF4-FFF2-40B4-BE49-F238E27FC236}">
                <a16:creationId xmlns:a16="http://schemas.microsoft.com/office/drawing/2014/main" id="{EED79411-0D9F-4E34-B20E-B15E099E1FFB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E2F54366-387C-4966-A835-2F1B1AE00373}"/>
              </a:ext>
            </a:extLst>
          </p:cNvPr>
          <p:cNvSpPr>
            <a:spLocks noGrp="1" noChangeArrowheads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393242" y="4885139"/>
            <a:ext cx="422266" cy="180000"/>
          </a:xfrm>
          <a:prstGeom prst="rect">
            <a:avLst/>
          </a:prstGeom>
          <a:ln/>
        </p:spPr>
        <p:txBody>
          <a:bodyPr lIns="0" tIns="0" rIns="0" bIns="0" anchor="t"/>
          <a:lstStyle>
            <a:lvl1pPr algn="r"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3" name="Fußzeilenplatzhalter 6">
            <a:extLst>
              <a:ext uri="{FF2B5EF4-FFF2-40B4-BE49-F238E27FC236}">
                <a16:creationId xmlns:a16="http://schemas.microsoft.com/office/drawing/2014/main" id="{B183A919-F06C-4079-B189-E31D2D5F08AA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 bwMode="auto">
          <a:xfrm>
            <a:off x="3782158" y="4885139"/>
            <a:ext cx="1579685" cy="180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rtl="0">
              <a:defRPr sz="9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pic>
        <p:nvPicPr>
          <p:cNvPr id="4" name="Grafik 12">
            <a:extLst>
              <a:ext uri="{FF2B5EF4-FFF2-40B4-BE49-F238E27FC236}">
                <a16:creationId xmlns:a16="http://schemas.microsoft.com/office/drawing/2014/main" id="{2C2A8472-B2A0-3A42-A5D5-3467F5A0408F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3122" y="219924"/>
            <a:ext cx="1057028" cy="51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3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673" r:id="rId4"/>
    <p:sldLayoutId id="2147483761" r:id="rId5"/>
    <p:sldLayoutId id="2147483738" r:id="rId6"/>
    <p:sldLayoutId id="2147483762" r:id="rId7"/>
    <p:sldLayoutId id="2147483734" r:id="rId8"/>
    <p:sldLayoutId id="2147483763" r:id="rId9"/>
    <p:sldLayoutId id="2147483733" r:id="rId10"/>
    <p:sldLayoutId id="2147483764" r:id="rId11"/>
    <p:sldLayoutId id="2147483739" r:id="rId12"/>
    <p:sldLayoutId id="2147483765" r:id="rId13"/>
    <p:sldLayoutId id="2147483740" r:id="rId14"/>
    <p:sldLayoutId id="2147483767" r:id="rId15"/>
    <p:sldLayoutId id="2147483741" r:id="rId16"/>
    <p:sldLayoutId id="2147483766" r:id="rId17"/>
    <p:sldLayoutId id="2147483732" r:id="rId18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263F6A"/>
          </a:solidFill>
          <a:latin typeface="Calibri" pitchFamily="34" charset="0"/>
          <a:ea typeface="+mj-ea"/>
          <a:cs typeface="Calibri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5pPr>
      <a:lvl6pPr marL="422020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6pPr>
      <a:lvl7pPr marL="844041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7pPr>
      <a:lvl8pPr marL="1266061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8pPr>
      <a:lvl9pPr marL="1688080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9pPr>
    </p:titleStyle>
    <p:bodyStyle>
      <a:lvl1pPr marL="180975" indent="-180975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263F6A"/>
        </a:buClr>
        <a:buSzPct val="105000"/>
        <a:buFont typeface="Wingdings" pitchFamily="2" charset="2"/>
        <a:buChar char="§"/>
        <a:defRPr sz="1292">
          <a:solidFill>
            <a:srgbClr val="000000"/>
          </a:solidFill>
          <a:latin typeface="Calibri" pitchFamily="34" charset="0"/>
          <a:ea typeface="+mn-ea"/>
          <a:cs typeface="Calibri" panose="020F0502020204030204" pitchFamily="34" charset="0"/>
        </a:defRPr>
      </a:lvl1pPr>
      <a:lvl2pPr marL="719138" indent="-225425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263F6A"/>
        </a:buClr>
        <a:buSzPct val="110000"/>
        <a:buFont typeface="Symbol" panose="05050102010706020507" pitchFamily="18" charset="2"/>
        <a:buChar char="-"/>
        <a:defRPr sz="1292">
          <a:solidFill>
            <a:srgbClr val="000000"/>
          </a:solidFill>
          <a:latin typeface="Calibri" pitchFamily="34" charset="0"/>
          <a:cs typeface="Calibri" panose="020F0502020204030204" pitchFamily="34" charset="0"/>
        </a:defRPr>
      </a:lvl2pPr>
      <a:lvl3pPr marL="987425" indent="-144463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sz="1292">
          <a:solidFill>
            <a:srgbClr val="000000"/>
          </a:solidFill>
          <a:latin typeface="Calibri" pitchFamily="34" charset="0"/>
        </a:defRPr>
      </a:lvl3pPr>
      <a:lvl4pPr marL="1393546" indent="-127486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 sz="1292">
          <a:solidFill>
            <a:srgbClr val="000000"/>
          </a:solidFill>
          <a:latin typeface="Calibri" pitchFamily="34" charset="0"/>
        </a:defRPr>
      </a:lvl4pPr>
      <a:lvl5pPr marL="1809706" indent="-121624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 sz="1292">
          <a:solidFill>
            <a:srgbClr val="000000"/>
          </a:solidFill>
          <a:latin typeface="Calibri" pitchFamily="34" charset="0"/>
        </a:defRPr>
      </a:lvl5pPr>
      <a:lvl6pPr marL="2231725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6pPr>
      <a:lvl7pPr marL="2653745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7pPr>
      <a:lvl8pPr marL="3075766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8pPr>
      <a:lvl9pPr marL="3497786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2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4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06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08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10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12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14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162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5556" userDrawn="1">
          <p15:clr>
            <a:srgbClr val="F26B43"/>
          </p15:clr>
        </p15:guide>
        <p15:guide id="3" pos="2880" userDrawn="1">
          <p15:clr>
            <a:srgbClr val="F26B43"/>
          </p15:clr>
        </p15:guide>
        <p15:guide id="4" pos="204" userDrawn="1">
          <p15:clr>
            <a:srgbClr val="F26B43"/>
          </p15:clr>
        </p15:guide>
        <p15:guide id="5" pos="3742" userDrawn="1">
          <p15:clr>
            <a:srgbClr val="F26B43"/>
          </p15:clr>
        </p15:guide>
        <p15:guide id="6" orient="horz" pos="418" userDrawn="1">
          <p15:clr>
            <a:srgbClr val="F26B43"/>
          </p15:clr>
        </p15:guide>
        <p15:guide id="7" orient="horz" pos="327" userDrawn="1">
          <p15:clr>
            <a:srgbClr val="F26B43"/>
          </p15:clr>
        </p15:guide>
        <p15:guide id="8" orient="horz" pos="191" userDrawn="1">
          <p15:clr>
            <a:srgbClr val="F26B43"/>
          </p15:clr>
        </p15:guide>
        <p15:guide id="9" orient="horz" pos="259" userDrawn="1">
          <p15:clr>
            <a:srgbClr val="F26B43"/>
          </p15:clr>
        </p15:guide>
        <p15:guide id="10" pos="2993" userDrawn="1">
          <p15:clr>
            <a:srgbClr val="F26B43"/>
          </p15:clr>
        </p15:guide>
        <p15:guide id="11" pos="2767" userDrawn="1">
          <p15:clr>
            <a:srgbClr val="F26B43"/>
          </p15:clr>
        </p15:guide>
        <p15:guide id="12" pos="2018" userDrawn="1">
          <p15:clr>
            <a:srgbClr val="F26B43"/>
          </p15:clr>
        </p15:guide>
        <p15:guide id="13" pos="3833" userDrawn="1">
          <p15:clr>
            <a:srgbClr val="F26B43"/>
          </p15:clr>
        </p15:guide>
        <p15:guide id="14" pos="1927" userDrawn="1">
          <p15:clr>
            <a:srgbClr val="F26B43"/>
          </p15:clr>
        </p15:guide>
        <p15:guide id="15" orient="horz" pos="2935" userDrawn="1">
          <p15:clr>
            <a:srgbClr val="F26B43"/>
          </p15:clr>
        </p15:guide>
        <p15:guide id="16" orient="horz" pos="2958" userDrawn="1">
          <p15:clr>
            <a:srgbClr val="F26B43"/>
          </p15:clr>
        </p15:guide>
        <p15:guide id="17" orient="horz" pos="531" userDrawn="1">
          <p15:clr>
            <a:srgbClr val="F26B43"/>
          </p15:clr>
        </p15:guide>
        <p15:guide id="18" orient="horz" pos="1733" userDrawn="1">
          <p15:clr>
            <a:srgbClr val="F26B43"/>
          </p15:clr>
        </p15:guide>
        <p15:guide id="19" orient="horz" pos="1847" userDrawn="1">
          <p15:clr>
            <a:srgbClr val="F26B43"/>
          </p15:clr>
        </p15:guide>
        <p15:guide id="20" orient="horz" pos="30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69.xml"/><Relationship Id="rId21" Type="http://schemas.openxmlformats.org/officeDocument/2006/relationships/tags" Target="../tags/tag64.xml"/><Relationship Id="rId42" Type="http://schemas.openxmlformats.org/officeDocument/2006/relationships/tags" Target="../tags/tag85.xml"/><Relationship Id="rId47" Type="http://schemas.openxmlformats.org/officeDocument/2006/relationships/tags" Target="../tags/tag90.xml"/><Relationship Id="rId63" Type="http://schemas.openxmlformats.org/officeDocument/2006/relationships/tags" Target="../tags/tag106.xml"/><Relationship Id="rId68" Type="http://schemas.openxmlformats.org/officeDocument/2006/relationships/tags" Target="../tags/tag111.xml"/><Relationship Id="rId84" Type="http://schemas.openxmlformats.org/officeDocument/2006/relationships/tags" Target="../tags/tag127.xml"/><Relationship Id="rId89" Type="http://schemas.openxmlformats.org/officeDocument/2006/relationships/tags" Target="../tags/tag132.xml"/><Relationship Id="rId16" Type="http://schemas.openxmlformats.org/officeDocument/2006/relationships/tags" Target="../tags/tag59.xml"/><Relationship Id="rId11" Type="http://schemas.openxmlformats.org/officeDocument/2006/relationships/tags" Target="../tags/tag54.xml"/><Relationship Id="rId32" Type="http://schemas.openxmlformats.org/officeDocument/2006/relationships/tags" Target="../tags/tag75.xml"/><Relationship Id="rId37" Type="http://schemas.openxmlformats.org/officeDocument/2006/relationships/tags" Target="../tags/tag80.xml"/><Relationship Id="rId53" Type="http://schemas.openxmlformats.org/officeDocument/2006/relationships/tags" Target="../tags/tag96.xml"/><Relationship Id="rId58" Type="http://schemas.openxmlformats.org/officeDocument/2006/relationships/tags" Target="../tags/tag101.xml"/><Relationship Id="rId74" Type="http://schemas.openxmlformats.org/officeDocument/2006/relationships/tags" Target="../tags/tag117.xml"/><Relationship Id="rId79" Type="http://schemas.openxmlformats.org/officeDocument/2006/relationships/tags" Target="../tags/tag122.xml"/><Relationship Id="rId102" Type="http://schemas.openxmlformats.org/officeDocument/2006/relationships/image" Target="../media/image6.png"/><Relationship Id="rId5" Type="http://schemas.openxmlformats.org/officeDocument/2006/relationships/tags" Target="../tags/tag48.xml"/><Relationship Id="rId90" Type="http://schemas.openxmlformats.org/officeDocument/2006/relationships/tags" Target="../tags/tag133.xml"/><Relationship Id="rId95" Type="http://schemas.openxmlformats.org/officeDocument/2006/relationships/hyperlink" Target="https://evodrop.com/?_gl=1*e3ib8h*_up*MQ..*_gs*MQ..&amp;gclid=CjwKCAiA-__MBhAKEiwASBmsBBzCtDD3VCPJjf2Cbmyj9YJL78PxKNMogfKfa0H4B2ImAuvAj2okhxoC4SwQAvD_BwE&amp;gbraid=0AAAAACS2hNI9hj-HHrvOi_a1v_Tu1a05n" TargetMode="External"/><Relationship Id="rId22" Type="http://schemas.openxmlformats.org/officeDocument/2006/relationships/tags" Target="../tags/tag65.xml"/><Relationship Id="rId27" Type="http://schemas.openxmlformats.org/officeDocument/2006/relationships/tags" Target="../tags/tag70.xml"/><Relationship Id="rId43" Type="http://schemas.openxmlformats.org/officeDocument/2006/relationships/tags" Target="../tags/tag86.xml"/><Relationship Id="rId48" Type="http://schemas.openxmlformats.org/officeDocument/2006/relationships/tags" Target="../tags/tag91.xml"/><Relationship Id="rId64" Type="http://schemas.openxmlformats.org/officeDocument/2006/relationships/tags" Target="../tags/tag107.xml"/><Relationship Id="rId69" Type="http://schemas.openxmlformats.org/officeDocument/2006/relationships/tags" Target="../tags/tag112.xml"/><Relationship Id="rId80" Type="http://schemas.openxmlformats.org/officeDocument/2006/relationships/tags" Target="../tags/tag123.xml"/><Relationship Id="rId85" Type="http://schemas.openxmlformats.org/officeDocument/2006/relationships/tags" Target="../tags/tag128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5" Type="http://schemas.openxmlformats.org/officeDocument/2006/relationships/tags" Target="../tags/tag68.xml"/><Relationship Id="rId33" Type="http://schemas.openxmlformats.org/officeDocument/2006/relationships/tags" Target="../tags/tag76.xml"/><Relationship Id="rId38" Type="http://schemas.openxmlformats.org/officeDocument/2006/relationships/tags" Target="../tags/tag81.xml"/><Relationship Id="rId46" Type="http://schemas.openxmlformats.org/officeDocument/2006/relationships/tags" Target="../tags/tag89.xml"/><Relationship Id="rId59" Type="http://schemas.openxmlformats.org/officeDocument/2006/relationships/tags" Target="../tags/tag102.xml"/><Relationship Id="rId67" Type="http://schemas.openxmlformats.org/officeDocument/2006/relationships/tags" Target="../tags/tag110.xml"/><Relationship Id="rId20" Type="http://schemas.openxmlformats.org/officeDocument/2006/relationships/tags" Target="../tags/tag63.xml"/><Relationship Id="rId41" Type="http://schemas.openxmlformats.org/officeDocument/2006/relationships/tags" Target="../tags/tag84.xml"/><Relationship Id="rId54" Type="http://schemas.openxmlformats.org/officeDocument/2006/relationships/tags" Target="../tags/tag97.xml"/><Relationship Id="rId62" Type="http://schemas.openxmlformats.org/officeDocument/2006/relationships/tags" Target="../tags/tag105.xml"/><Relationship Id="rId70" Type="http://schemas.openxmlformats.org/officeDocument/2006/relationships/tags" Target="../tags/tag113.xml"/><Relationship Id="rId75" Type="http://schemas.openxmlformats.org/officeDocument/2006/relationships/tags" Target="../tags/tag118.xml"/><Relationship Id="rId83" Type="http://schemas.openxmlformats.org/officeDocument/2006/relationships/tags" Target="../tags/tag126.xml"/><Relationship Id="rId88" Type="http://schemas.openxmlformats.org/officeDocument/2006/relationships/tags" Target="../tags/tag131.xml"/><Relationship Id="rId91" Type="http://schemas.openxmlformats.org/officeDocument/2006/relationships/tags" Target="../tags/tag134.xml"/><Relationship Id="rId96" Type="http://schemas.openxmlformats.org/officeDocument/2006/relationships/chart" Target="../charts/chart1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5" Type="http://schemas.openxmlformats.org/officeDocument/2006/relationships/tags" Target="../tags/tag58.xml"/><Relationship Id="rId23" Type="http://schemas.openxmlformats.org/officeDocument/2006/relationships/tags" Target="../tags/tag66.xml"/><Relationship Id="rId28" Type="http://schemas.openxmlformats.org/officeDocument/2006/relationships/tags" Target="../tags/tag71.xml"/><Relationship Id="rId36" Type="http://schemas.openxmlformats.org/officeDocument/2006/relationships/tags" Target="../tags/tag79.xml"/><Relationship Id="rId49" Type="http://schemas.openxmlformats.org/officeDocument/2006/relationships/tags" Target="../tags/tag92.xml"/><Relationship Id="rId57" Type="http://schemas.openxmlformats.org/officeDocument/2006/relationships/tags" Target="../tags/tag100.xml"/><Relationship Id="rId10" Type="http://schemas.openxmlformats.org/officeDocument/2006/relationships/tags" Target="../tags/tag53.xml"/><Relationship Id="rId31" Type="http://schemas.openxmlformats.org/officeDocument/2006/relationships/tags" Target="../tags/tag74.xml"/><Relationship Id="rId44" Type="http://schemas.openxmlformats.org/officeDocument/2006/relationships/tags" Target="../tags/tag87.xml"/><Relationship Id="rId52" Type="http://schemas.openxmlformats.org/officeDocument/2006/relationships/tags" Target="../tags/tag95.xml"/><Relationship Id="rId60" Type="http://schemas.openxmlformats.org/officeDocument/2006/relationships/tags" Target="../tags/tag103.xml"/><Relationship Id="rId65" Type="http://schemas.openxmlformats.org/officeDocument/2006/relationships/tags" Target="../tags/tag108.xml"/><Relationship Id="rId73" Type="http://schemas.openxmlformats.org/officeDocument/2006/relationships/tags" Target="../tags/tag116.xml"/><Relationship Id="rId78" Type="http://schemas.openxmlformats.org/officeDocument/2006/relationships/tags" Target="../tags/tag121.xml"/><Relationship Id="rId81" Type="http://schemas.openxmlformats.org/officeDocument/2006/relationships/tags" Target="../tags/tag124.xml"/><Relationship Id="rId86" Type="http://schemas.openxmlformats.org/officeDocument/2006/relationships/tags" Target="../tags/tag129.xml"/><Relationship Id="rId94" Type="http://schemas.openxmlformats.org/officeDocument/2006/relationships/oleObject" Target="../embeddings/oleObject18.bin"/><Relationship Id="rId99" Type="http://schemas.openxmlformats.org/officeDocument/2006/relationships/image" Target="../media/image3.jpeg"/><Relationship Id="rId101" Type="http://schemas.openxmlformats.org/officeDocument/2006/relationships/image" Target="../media/image5.png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3" Type="http://schemas.openxmlformats.org/officeDocument/2006/relationships/tags" Target="../tags/tag56.xml"/><Relationship Id="rId18" Type="http://schemas.openxmlformats.org/officeDocument/2006/relationships/tags" Target="../tags/tag61.xml"/><Relationship Id="rId39" Type="http://schemas.openxmlformats.org/officeDocument/2006/relationships/tags" Target="../tags/tag82.xml"/><Relationship Id="rId34" Type="http://schemas.openxmlformats.org/officeDocument/2006/relationships/tags" Target="../tags/tag77.xml"/><Relationship Id="rId50" Type="http://schemas.openxmlformats.org/officeDocument/2006/relationships/tags" Target="../tags/tag93.xml"/><Relationship Id="rId55" Type="http://schemas.openxmlformats.org/officeDocument/2006/relationships/tags" Target="../tags/tag98.xml"/><Relationship Id="rId76" Type="http://schemas.openxmlformats.org/officeDocument/2006/relationships/tags" Target="../tags/tag119.xml"/><Relationship Id="rId97" Type="http://schemas.openxmlformats.org/officeDocument/2006/relationships/chart" Target="../charts/chart2.xml"/><Relationship Id="rId7" Type="http://schemas.openxmlformats.org/officeDocument/2006/relationships/tags" Target="../tags/tag50.xml"/><Relationship Id="rId71" Type="http://schemas.openxmlformats.org/officeDocument/2006/relationships/tags" Target="../tags/tag114.xml"/><Relationship Id="rId92" Type="http://schemas.openxmlformats.org/officeDocument/2006/relationships/slideLayout" Target="../slideLayouts/slideLayout4.xml"/><Relationship Id="rId2" Type="http://schemas.openxmlformats.org/officeDocument/2006/relationships/tags" Target="../tags/tag45.xml"/><Relationship Id="rId29" Type="http://schemas.openxmlformats.org/officeDocument/2006/relationships/tags" Target="../tags/tag72.xml"/><Relationship Id="rId24" Type="http://schemas.openxmlformats.org/officeDocument/2006/relationships/tags" Target="../tags/tag67.xml"/><Relationship Id="rId40" Type="http://schemas.openxmlformats.org/officeDocument/2006/relationships/tags" Target="../tags/tag83.xml"/><Relationship Id="rId45" Type="http://schemas.openxmlformats.org/officeDocument/2006/relationships/tags" Target="../tags/tag88.xml"/><Relationship Id="rId66" Type="http://schemas.openxmlformats.org/officeDocument/2006/relationships/tags" Target="../tags/tag109.xml"/><Relationship Id="rId87" Type="http://schemas.openxmlformats.org/officeDocument/2006/relationships/tags" Target="../tags/tag130.xml"/><Relationship Id="rId61" Type="http://schemas.openxmlformats.org/officeDocument/2006/relationships/tags" Target="../tags/tag104.xml"/><Relationship Id="rId82" Type="http://schemas.openxmlformats.org/officeDocument/2006/relationships/tags" Target="../tags/tag125.xml"/><Relationship Id="rId19" Type="http://schemas.openxmlformats.org/officeDocument/2006/relationships/tags" Target="../tags/tag62.xml"/><Relationship Id="rId14" Type="http://schemas.openxmlformats.org/officeDocument/2006/relationships/tags" Target="../tags/tag57.xml"/><Relationship Id="rId30" Type="http://schemas.openxmlformats.org/officeDocument/2006/relationships/tags" Target="../tags/tag73.xml"/><Relationship Id="rId35" Type="http://schemas.openxmlformats.org/officeDocument/2006/relationships/tags" Target="../tags/tag78.xml"/><Relationship Id="rId56" Type="http://schemas.openxmlformats.org/officeDocument/2006/relationships/tags" Target="../tags/tag99.xml"/><Relationship Id="rId77" Type="http://schemas.openxmlformats.org/officeDocument/2006/relationships/tags" Target="../tags/tag120.xml"/><Relationship Id="rId100" Type="http://schemas.openxmlformats.org/officeDocument/2006/relationships/image" Target="../media/image4.png"/><Relationship Id="rId8" Type="http://schemas.openxmlformats.org/officeDocument/2006/relationships/tags" Target="../tags/tag51.xml"/><Relationship Id="rId51" Type="http://schemas.openxmlformats.org/officeDocument/2006/relationships/tags" Target="../tags/tag94.xml"/><Relationship Id="rId72" Type="http://schemas.openxmlformats.org/officeDocument/2006/relationships/tags" Target="../tags/tag115.xml"/><Relationship Id="rId93" Type="http://schemas.openxmlformats.org/officeDocument/2006/relationships/notesSlide" Target="../notesSlides/notesSlide1.xml"/><Relationship Id="rId98" Type="http://schemas.openxmlformats.org/officeDocument/2006/relationships/image" Target="../media/image2.png"/><Relationship Id="rId3" Type="http://schemas.openxmlformats.org/officeDocument/2006/relationships/tags" Target="../tags/tag4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17748-C471-C978-FD50-E79E067C9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think-cell data - do not delete" hidden="1">
            <a:extLst>
              <a:ext uri="{FF2B5EF4-FFF2-40B4-BE49-F238E27FC236}">
                <a16:creationId xmlns:a16="http://schemas.microsoft.com/office/drawing/2014/main" id="{A2C24867-33F7-8653-0CDC-DC4F54D98C4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9795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4" imgW="404" imgH="405" progId="TCLayout.ActiveDocument.1">
                  <p:embed/>
                </p:oleObj>
              </mc:Choice>
              <mc:Fallback>
                <p:oleObj name="think-cell Slide" r:id="rId94" imgW="404" imgH="405" progId="TCLayout.ActiveDocument.1">
                  <p:embed/>
                  <p:pic>
                    <p:nvPicPr>
                      <p:cNvPr id="8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0C65EC-D2F5-C3E6-90CF-322BE0E8BE90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5">
            <a:extLst>
              <a:ext uri="{FF2B5EF4-FFF2-40B4-BE49-F238E27FC236}">
                <a16:creationId xmlns:a16="http://schemas.microsoft.com/office/drawing/2014/main" id="{717BFB5F-1DE8-F062-A2A4-DAB5764EEE5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702404" y="3058088"/>
            <a:ext cx="2346736" cy="160122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900" i="1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900" i="1" noProof="0" dirty="0"/>
          </a:p>
        </p:txBody>
      </p:sp>
      <p:cxnSp>
        <p:nvCxnSpPr>
          <p:cNvPr id="11" name="Gerader Verbinder 12">
            <a:extLst>
              <a:ext uri="{FF2B5EF4-FFF2-40B4-BE49-F238E27FC236}">
                <a16:creationId xmlns:a16="http://schemas.microsoft.com/office/drawing/2014/main" id="{AEC0949F-A57D-D5E5-510A-11E94B3F8FCC}"/>
              </a:ext>
            </a:extLst>
          </p:cNvPr>
          <p:cNvCxnSpPr>
            <a:cxnSpLocks/>
          </p:cNvCxnSpPr>
          <p:nvPr/>
        </p:nvCxnSpPr>
        <p:spPr bwMode="auto">
          <a:xfrm>
            <a:off x="4771170" y="3302769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00167B4-DFF1-BBC5-F2AF-C6534D6DE064}"/>
              </a:ext>
            </a:extLst>
          </p:cNvPr>
          <p:cNvSpPr txBox="1"/>
          <p:nvPr/>
        </p:nvSpPr>
        <p:spPr>
          <a:xfrm>
            <a:off x="4753741" y="3095392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Key Financials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3837A3-8476-6F8F-4DA6-DA3E79B942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4419" y="4913018"/>
            <a:ext cx="1800506" cy="180000"/>
          </a:xfrm>
        </p:spPr>
        <p:txBody>
          <a:bodyPr/>
          <a:lstStyle/>
          <a:p>
            <a:pPr>
              <a:defRPr/>
            </a:pPr>
            <a:r>
              <a:rPr lang="en-GB" noProof="0" dirty="0"/>
              <a:t>CONSTELLATION CAPITAL AG</a:t>
            </a:r>
            <a:endParaRPr lang="en-GB" noProof="0" dirty="0">
              <a:ea typeface="ＭＳ Ｐゴシック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4A4AD5-A346-F256-04BF-D78686FC9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>
                <a:ea typeface="ＭＳ Ｐゴシック"/>
              </a:rPr>
              <a:t>Strictly 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0E351-8280-3C1A-BC1B-681F1782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709C5-D592-4784-B331-5CC8F77FAAFB}" type="slidenum">
              <a:rPr lang="en-GB" noProof="0" smtClean="0"/>
              <a:pPr>
                <a:defRPr/>
              </a:pPr>
              <a:t>1</a:t>
            </a:fld>
            <a:endParaRPr lang="en-GB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5DCC96-A822-E338-42A6-512751EA0F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noProof="0" dirty="0"/>
              <a:t>One Pager </a:t>
            </a:r>
            <a:r>
              <a:rPr lang="en-GB" b="1" i="0" noProof="0" dirty="0">
                <a:solidFill>
                  <a:srgbClr val="10162F"/>
                </a:solidFill>
                <a:effectLst/>
                <a:latin typeface="Apercu"/>
              </a:rPr>
              <a:t>|</a:t>
            </a:r>
            <a:endParaRPr lang="en-GB" b="1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A51F02-72EB-A4ED-1B23-75A3A858EDC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</p:spPr>
        <p:txBody>
          <a:bodyPr/>
          <a:lstStyle/>
          <a:p>
            <a:r>
              <a:rPr lang="en-US" dirty="0"/>
              <a:t> Swiss water filtration company with award-winning products for both B2B and B2C markets</a:t>
            </a:r>
            <a:endParaRPr lang="en-GB" noProof="0" dirty="0"/>
          </a:p>
        </p:txBody>
      </p:sp>
      <p:sp>
        <p:nvSpPr>
          <p:cNvPr id="9" name="Rechteck 10">
            <a:extLst>
              <a:ext uri="{FF2B5EF4-FFF2-40B4-BE49-F238E27FC236}">
                <a16:creationId xmlns:a16="http://schemas.microsoft.com/office/drawing/2014/main" id="{57768E33-8FB7-0264-C758-DC74141D23B4}"/>
              </a:ext>
            </a:extLst>
          </p:cNvPr>
          <p:cNvSpPr/>
          <p:nvPr/>
        </p:nvSpPr>
        <p:spPr>
          <a:xfrm>
            <a:off x="7189750" y="1337631"/>
            <a:ext cx="1624051" cy="275704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91440" tIns="3600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endParaRPr lang="en-GB" sz="500" b="1" noProof="0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GB" sz="500" b="1" noProof="0" dirty="0">
              <a:solidFill>
                <a:schemeClr val="tx2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GB" sz="500" b="1" noProof="0" dirty="0">
              <a:solidFill>
                <a:schemeClr val="tx2"/>
              </a:solidFill>
              <a:latin typeface="+mn-lt"/>
            </a:endParaRPr>
          </a:p>
          <a:p>
            <a:pPr marL="88900" indent="-88900">
              <a:spcAft>
                <a:spcPts val="100"/>
              </a:spcAft>
              <a:buClr>
                <a:srgbClr val="00B050"/>
              </a:buClr>
              <a:buFont typeface="Symbol" panose="05050102010706020507" pitchFamily="18" charset="2"/>
              <a:buChar char=""/>
            </a:pPr>
            <a:r>
              <a:rPr lang="en-US" sz="800" noProof="0" dirty="0"/>
              <a:t>Experienced and Motivated Founder / Management Team</a:t>
            </a:r>
          </a:p>
          <a:p>
            <a:pPr marL="88900" indent="-88900">
              <a:spcAft>
                <a:spcPts val="100"/>
              </a:spcAft>
              <a:buClr>
                <a:srgbClr val="00B050"/>
              </a:buClr>
              <a:buFont typeface="Symbol" panose="05050102010706020507" pitchFamily="18" charset="2"/>
              <a:buChar char=""/>
            </a:pPr>
            <a:r>
              <a:rPr lang="de-CH" sz="800" noProof="0" dirty="0"/>
              <a:t>Innovation, Patents and </a:t>
            </a:r>
            <a:r>
              <a:rPr lang="de-CH" sz="800" noProof="0" dirty="0" err="1"/>
              <a:t>growing</a:t>
            </a:r>
            <a:r>
              <a:rPr lang="de-CH" sz="800" noProof="0" dirty="0"/>
              <a:t> </a:t>
            </a:r>
            <a:r>
              <a:rPr lang="de-CH" sz="800" noProof="0" dirty="0" err="1"/>
              <a:t>market</a:t>
            </a:r>
            <a:r>
              <a:rPr lang="de-CH" sz="800" noProof="0" dirty="0"/>
              <a:t> </a:t>
            </a:r>
            <a:r>
              <a:rPr lang="de-CH" sz="800" noProof="0" dirty="0" err="1"/>
              <a:t>of</a:t>
            </a:r>
            <a:r>
              <a:rPr lang="de-CH" sz="800" noProof="0" dirty="0"/>
              <a:t> CHF 100bn</a:t>
            </a:r>
            <a:endParaRPr lang="en-GB" sz="800" noProof="0" dirty="0"/>
          </a:p>
          <a:p>
            <a:pPr marL="88900" indent="-88900">
              <a:spcAft>
                <a:spcPts val="100"/>
              </a:spcAft>
              <a:buClr>
                <a:srgbClr val="F4C500"/>
              </a:buClr>
              <a:buFont typeface="Calibri" panose="020F0502020204030204" pitchFamily="34" charset="0"/>
              <a:buChar char="?"/>
              <a:defRPr/>
            </a:pPr>
            <a:r>
              <a:rPr lang="de-CH" sz="800" dirty="0" err="1"/>
              <a:t>Majority</a:t>
            </a:r>
            <a:r>
              <a:rPr lang="de-CH" sz="800" dirty="0"/>
              <a:t> Investment</a:t>
            </a:r>
            <a:endParaRPr lang="hu-HU" sz="800" dirty="0"/>
          </a:p>
          <a:p>
            <a:pPr marL="88900" indent="-88900">
              <a:spcAft>
                <a:spcPts val="100"/>
              </a:spcAft>
              <a:buClr>
                <a:srgbClr val="F4C500"/>
              </a:buClr>
              <a:buFont typeface="Calibri" panose="020F0502020204030204" pitchFamily="34" charset="0"/>
              <a:buChar char="?"/>
              <a:defRPr/>
            </a:pPr>
            <a:r>
              <a:rPr lang="en-GB" sz="800" dirty="0">
                <a:solidFill>
                  <a:srgbClr val="000000"/>
                </a:solidFill>
              </a:rPr>
              <a:t>Planning assembly &amp; production subsidiary in East Asian country</a:t>
            </a:r>
          </a:p>
          <a:p>
            <a:pPr marL="88900" indent="-88900">
              <a:spcAft>
                <a:spcPts val="100"/>
              </a:spcAft>
              <a:buClr>
                <a:schemeClr val="accent5"/>
              </a:buClr>
              <a:buFont typeface="Symbol" panose="05050102010706020507" pitchFamily="18" charset="2"/>
              <a:buChar char="-"/>
              <a:defRPr/>
            </a:pPr>
            <a:r>
              <a:rPr lang="de-CH" sz="800" dirty="0">
                <a:solidFill>
                  <a:srgbClr val="000000"/>
                </a:solidFill>
              </a:rPr>
              <a:t>Start-Up Character</a:t>
            </a:r>
            <a:endParaRPr lang="en-GB" sz="800" dirty="0">
              <a:solidFill>
                <a:srgbClr val="000000"/>
              </a:solidFill>
            </a:endParaRPr>
          </a:p>
        </p:txBody>
      </p:sp>
      <p:cxnSp>
        <p:nvCxnSpPr>
          <p:cNvPr id="13" name="Gerader Verbinder 17">
            <a:extLst>
              <a:ext uri="{FF2B5EF4-FFF2-40B4-BE49-F238E27FC236}">
                <a16:creationId xmlns:a16="http://schemas.microsoft.com/office/drawing/2014/main" id="{44FAE096-C3F4-E44E-E106-F110AA571B72}"/>
              </a:ext>
            </a:extLst>
          </p:cNvPr>
          <p:cNvCxnSpPr>
            <a:cxnSpLocks/>
          </p:cNvCxnSpPr>
          <p:nvPr/>
        </p:nvCxnSpPr>
        <p:spPr bwMode="auto">
          <a:xfrm>
            <a:off x="7255650" y="1559131"/>
            <a:ext cx="14922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feld 11">
            <a:extLst>
              <a:ext uri="{FF2B5EF4-FFF2-40B4-BE49-F238E27FC236}">
                <a16:creationId xmlns:a16="http://schemas.microsoft.com/office/drawing/2014/main" id="{747D04C9-7BBC-4320-5DA8-7C5B0A4160D0}"/>
              </a:ext>
            </a:extLst>
          </p:cNvPr>
          <p:cNvSpPr txBox="1"/>
          <p:nvPr/>
        </p:nvSpPr>
        <p:spPr>
          <a:xfrm>
            <a:off x="328492" y="842963"/>
            <a:ext cx="8487015" cy="41751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sx="1000" sy="1000"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90000" tIns="45720" rIns="108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  <a:lvl1pPr algn="ctr">
              <a:lnSpc>
                <a:spcPct val="100000"/>
              </a:lnSpc>
              <a:spcBef>
                <a:spcPts val="0"/>
              </a:spcBef>
              <a:defRPr>
                <a:latin typeface="+mn-lt"/>
              </a:defRPr>
            </a:lvl1pPr>
          </a:lstStyle>
          <a:p>
            <a:pPr algn="l"/>
            <a:r>
              <a:rPr lang="en-GB" sz="1200" b="1" noProof="0" dirty="0">
                <a:solidFill>
                  <a:schemeClr val="accent1"/>
                </a:solidFill>
              </a:rPr>
              <a:t>Investment-Thesis: </a:t>
            </a:r>
            <a:r>
              <a:rPr lang="en-US" sz="1200" b="1" dirty="0">
                <a:solidFill>
                  <a:schemeClr val="dk1"/>
                </a:solidFill>
              </a:rPr>
              <a:t> Founders seeking up to CHF 4m for a minority stake, with openness to a majority deal (up to 51%)</a:t>
            </a:r>
            <a:endParaRPr lang="en-GB" sz="1400" b="1" noProof="0" dirty="0">
              <a:solidFill>
                <a:schemeClr val="dk1"/>
              </a:solidFill>
            </a:endParaRPr>
          </a:p>
        </p:txBody>
      </p:sp>
      <p:sp>
        <p:nvSpPr>
          <p:cNvPr id="22" name="Textfeld 15">
            <a:extLst>
              <a:ext uri="{FF2B5EF4-FFF2-40B4-BE49-F238E27FC236}">
                <a16:creationId xmlns:a16="http://schemas.microsoft.com/office/drawing/2014/main" id="{C93816DC-0F06-9234-DC66-3C1F276100F7}"/>
              </a:ext>
            </a:extLst>
          </p:cNvPr>
          <p:cNvSpPr txBox="1"/>
          <p:nvPr/>
        </p:nvSpPr>
        <p:spPr>
          <a:xfrm>
            <a:off x="7196138" y="4249738"/>
            <a:ext cx="1617663" cy="40957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72000" tIns="36000" rIns="36000" bIns="36000" rtlCol="0" anchor="t" anchorCtr="0">
            <a:noAutofit/>
          </a:bodyPr>
          <a:lstStyle>
            <a:defPPr>
              <a:defRPr lang="en-GB"/>
            </a:defPPr>
            <a:lvl1pPr>
              <a:lnSpc>
                <a:spcPct val="100000"/>
              </a:lnSpc>
              <a:spcBef>
                <a:spcPts val="0"/>
              </a:spcBef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 sz="1100" noProof="0" dirty="0"/>
              <a:t>Status:</a:t>
            </a:r>
          </a:p>
          <a:p>
            <a:r>
              <a:rPr lang="en-GB" sz="800" b="0" noProof="0" dirty="0">
                <a:solidFill>
                  <a:schemeClr val="dk1"/>
                </a:solidFill>
              </a:rPr>
              <a:t>Internal discussion </a:t>
            </a:r>
            <a:r>
              <a:rPr lang="en-GB" sz="800" b="0" noProof="0" dirty="0">
                <a:solidFill>
                  <a:schemeClr val="tx1"/>
                </a:solidFill>
              </a:rPr>
              <a:t>– </a:t>
            </a:r>
            <a:r>
              <a:rPr lang="en-GB" sz="800" b="0" dirty="0">
                <a:solidFill>
                  <a:schemeClr val="tx1"/>
                </a:solidFill>
              </a:rPr>
              <a:t> 03</a:t>
            </a:r>
            <a:r>
              <a:rPr lang="en-GB" sz="800" b="0" noProof="0" dirty="0">
                <a:solidFill>
                  <a:schemeClr val="tx1"/>
                </a:solidFill>
              </a:rPr>
              <a:t>.0</a:t>
            </a:r>
            <a:r>
              <a:rPr lang="en-GB" sz="800" b="0" dirty="0">
                <a:solidFill>
                  <a:schemeClr val="tx1"/>
                </a:solidFill>
              </a:rPr>
              <a:t>3</a:t>
            </a:r>
            <a:r>
              <a:rPr lang="en-GB" sz="800" b="0" noProof="0" dirty="0">
                <a:solidFill>
                  <a:schemeClr val="tx1"/>
                </a:solidFill>
              </a:rPr>
              <a:t>.26</a:t>
            </a:r>
          </a:p>
        </p:txBody>
      </p:sp>
      <p:sp>
        <p:nvSpPr>
          <p:cNvPr id="23" name="Gleichschenkliges Dreieck 48">
            <a:extLst>
              <a:ext uri="{FF2B5EF4-FFF2-40B4-BE49-F238E27FC236}">
                <a16:creationId xmlns:a16="http://schemas.microsoft.com/office/drawing/2014/main" id="{554E2CDD-6EB4-F04B-FFCB-AF03C564FE43}"/>
              </a:ext>
            </a:extLst>
          </p:cNvPr>
          <p:cNvSpPr/>
          <p:nvPr/>
        </p:nvSpPr>
        <p:spPr>
          <a:xfrm flipV="1">
            <a:off x="7205663" y="4123790"/>
            <a:ext cx="1608138" cy="96838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  <a:ln w="6350">
            <a:noFill/>
          </a:ln>
          <a:effectLst>
            <a:outerShdw sx="1000" sy="1000"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GB" noProof="0" dirty="0">
              <a:latin typeface="+mn-lt"/>
            </a:endParaRPr>
          </a:p>
        </p:txBody>
      </p:sp>
      <p:sp>
        <p:nvSpPr>
          <p:cNvPr id="37" name="TextBox 4">
            <a:extLst>
              <a:ext uri="{FF2B5EF4-FFF2-40B4-BE49-F238E27FC236}">
                <a16:creationId xmlns:a16="http://schemas.microsoft.com/office/drawing/2014/main" id="{082C9BF6-8868-B442-53BF-121FCDA9AD10}"/>
              </a:ext>
            </a:extLst>
          </p:cNvPr>
          <p:cNvSpPr txBox="1"/>
          <p:nvPr/>
        </p:nvSpPr>
        <p:spPr>
          <a:xfrm>
            <a:off x="328492" y="4726408"/>
            <a:ext cx="8485309" cy="1101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GB" sz="600" noProof="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656F25-61FD-4F3F-A8FC-D1998D5CFA89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4646335" y="4734539"/>
            <a:ext cx="10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00" noProof="0" dirty="0">
              <a:solidFill>
                <a:schemeClr val="tx1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4ED065C-6D75-14CB-7285-1E2BBB441E4E}"/>
              </a:ext>
            </a:extLst>
          </p:cNvPr>
          <p:cNvGrpSpPr/>
          <p:nvPr/>
        </p:nvGrpSpPr>
        <p:grpSpPr>
          <a:xfrm>
            <a:off x="5080446" y="4745139"/>
            <a:ext cx="184150" cy="50800"/>
            <a:chOff x="6181306" y="3315549"/>
            <a:chExt cx="184150" cy="50800"/>
          </a:xfrm>
          <a:solidFill>
            <a:schemeClr val="accent6"/>
          </a:solidFill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37FB074-85CC-EC27-C11D-EE677115BFB6}"/>
                </a:ext>
              </a:extLst>
            </p:cNvPr>
            <p:cNvCxnSpPr/>
            <p:nvPr>
              <p:custDataLst>
                <p:tags r:id="rId90"/>
              </p:custDataLst>
            </p:nvPr>
          </p:nvCxnSpPr>
          <p:spPr bwMode="gray">
            <a:xfrm>
              <a:off x="6181306" y="3340949"/>
              <a:ext cx="184150" cy="0"/>
            </a:xfrm>
            <a:prstGeom prst="line">
              <a:avLst/>
            </a:prstGeom>
            <a:grpFill/>
            <a:ln w="19050" cap="rnd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Diamond 42">
              <a:extLst>
                <a:ext uri="{FF2B5EF4-FFF2-40B4-BE49-F238E27FC236}">
                  <a16:creationId xmlns:a16="http://schemas.microsoft.com/office/drawing/2014/main" id="{D73ABBD9-55A2-9E5B-BAC9-9D515170322A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 bwMode="auto">
            <a:xfrm>
              <a:off x="6247981" y="3315549"/>
              <a:ext cx="50800" cy="50800"/>
            </a:xfrm>
            <a:prstGeom prst="diamond">
              <a:avLst/>
            </a:prstGeom>
            <a:grpFill/>
            <a:ln w="9525" algn="ctr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6" name="Textplatzhalter 2">
            <a:extLst>
              <a:ext uri="{FF2B5EF4-FFF2-40B4-BE49-F238E27FC236}">
                <a16:creationId xmlns:a16="http://schemas.microsoft.com/office/drawing/2014/main" id="{191F85D6-325A-B06B-CAB4-96F96A259799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4780633" y="4714502"/>
            <a:ext cx="257465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2E93527E-F925-42B7-9AF0-F8DE52962105}" type="datetime'E''''''''''''B''''''''''''''''''''''I''T''''''D''A'''''''''">
              <a:rPr lang="en-GB" sz="600" noProof="0" smtClean="0">
                <a:solidFill>
                  <a:srgbClr val="000000"/>
                </a:solidFill>
                <a:sym typeface="CKNord Book" panose="020B060402010101010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EBITDA</a:t>
            </a:fld>
            <a:endParaRPr lang="en-GB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sp>
        <p:nvSpPr>
          <p:cNvPr id="47" name="Textplatzhalter 2">
            <a:extLst>
              <a:ext uri="{FF2B5EF4-FFF2-40B4-BE49-F238E27FC236}">
                <a16:creationId xmlns:a16="http://schemas.microsoft.com/office/drawing/2014/main" id="{9FFCD94E-313C-6E1E-6E4D-98B9AD718E3B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5302521" y="4709420"/>
            <a:ext cx="497604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3608428A-8830-4F49-98F1-C45F6784252C}" type="datetime'''''EBI''''TDA ''''''''''''''''ma''''''r''g''i''n'">
              <a:rPr lang="en-GB" sz="600" noProof="0" smtClean="0">
                <a:solidFill>
                  <a:srgbClr val="000000"/>
                </a:solidFill>
                <a:sym typeface="CKNord Book" panose="020B060402010101010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EBITDA margin</a:t>
            </a:fld>
            <a:endParaRPr lang="en-GB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C4C016A-9CB9-FB32-7C11-6445501ED351}"/>
              </a:ext>
            </a:extLst>
          </p:cNvPr>
          <p:cNvGrpSpPr/>
          <p:nvPr/>
        </p:nvGrpSpPr>
        <p:grpSpPr>
          <a:xfrm flipV="1">
            <a:off x="6966800" y="4706239"/>
            <a:ext cx="126131" cy="119027"/>
            <a:chOff x="8376540" y="743817"/>
            <a:chExt cx="413396" cy="373698"/>
          </a:xfrm>
          <a:effectLst/>
        </p:grpSpPr>
        <p:sp>
          <p:nvSpPr>
            <p:cNvPr id="58" name="Rechteck 98">
              <a:extLst>
                <a:ext uri="{FF2B5EF4-FFF2-40B4-BE49-F238E27FC236}">
                  <a16:creationId xmlns:a16="http://schemas.microsoft.com/office/drawing/2014/main" id="{EBDF054D-ECBA-22C5-1373-47BEFA2A6685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59" name="Ellipse 99">
              <a:extLst>
                <a:ext uri="{FF2B5EF4-FFF2-40B4-BE49-F238E27FC236}">
                  <a16:creationId xmlns:a16="http://schemas.microsoft.com/office/drawing/2014/main" id="{B13BFA9F-538B-6FCC-E9B4-CF4D3F7B9348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F4C50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EC7CB4A-38C1-0D57-6489-B488DC26CD46}"/>
              </a:ext>
            </a:extLst>
          </p:cNvPr>
          <p:cNvGrpSpPr/>
          <p:nvPr/>
        </p:nvGrpSpPr>
        <p:grpSpPr>
          <a:xfrm flipV="1">
            <a:off x="7993779" y="4706239"/>
            <a:ext cx="126131" cy="119027"/>
            <a:chOff x="8376540" y="743817"/>
            <a:chExt cx="413396" cy="373698"/>
          </a:xfrm>
          <a:effectLst/>
        </p:grpSpPr>
        <p:sp>
          <p:nvSpPr>
            <p:cNvPr id="61" name="Rechteck 98">
              <a:extLst>
                <a:ext uri="{FF2B5EF4-FFF2-40B4-BE49-F238E27FC236}">
                  <a16:creationId xmlns:a16="http://schemas.microsoft.com/office/drawing/2014/main" id="{1E941001-763D-BD4B-D2BA-498821BFA4DB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62" name="Ellipse 99">
              <a:extLst>
                <a:ext uri="{FF2B5EF4-FFF2-40B4-BE49-F238E27FC236}">
                  <a16:creationId xmlns:a16="http://schemas.microsoft.com/office/drawing/2014/main" id="{0F81246D-BEC9-694A-B577-78272B5C2457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C0000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DDB7EC2-3AC2-A295-2AF1-E4B18A9124F3}"/>
              </a:ext>
            </a:extLst>
          </p:cNvPr>
          <p:cNvGrpSpPr/>
          <p:nvPr/>
        </p:nvGrpSpPr>
        <p:grpSpPr>
          <a:xfrm>
            <a:off x="5906229" y="4706239"/>
            <a:ext cx="126131" cy="119027"/>
            <a:chOff x="6209554" y="4914192"/>
            <a:chExt cx="126131" cy="119027"/>
          </a:xfrm>
        </p:grpSpPr>
        <p:sp>
          <p:nvSpPr>
            <p:cNvPr id="64" name="Rechteck 98">
              <a:extLst>
                <a:ext uri="{FF2B5EF4-FFF2-40B4-BE49-F238E27FC236}">
                  <a16:creationId xmlns:a16="http://schemas.microsoft.com/office/drawing/2014/main" id="{DFFDC361-8337-95E1-A5EE-76CB22180981}"/>
                </a:ext>
              </a:extLst>
            </p:cNvPr>
            <p:cNvSpPr/>
            <p:nvPr/>
          </p:nvSpPr>
          <p:spPr>
            <a:xfrm flipV="1">
              <a:off x="6209554" y="4914192"/>
              <a:ext cx="126131" cy="11902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65" name="Ellipse 99">
              <a:extLst>
                <a:ext uri="{FF2B5EF4-FFF2-40B4-BE49-F238E27FC236}">
                  <a16:creationId xmlns:a16="http://schemas.microsoft.com/office/drawing/2014/main" id="{748FB74C-0A73-3104-AD11-519285509119}"/>
                </a:ext>
              </a:extLst>
            </p:cNvPr>
            <p:cNvSpPr/>
            <p:nvPr/>
          </p:nvSpPr>
          <p:spPr bwMode="gray">
            <a:xfrm flipV="1">
              <a:off x="6228684" y="4927835"/>
              <a:ext cx="87872" cy="91741"/>
            </a:xfrm>
            <a:prstGeom prst="ellipse">
              <a:avLst/>
            </a:prstGeom>
            <a:solidFill>
              <a:srgbClr val="00B05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sp>
        <p:nvSpPr>
          <p:cNvPr id="66" name="Textplatzhalter 2">
            <a:extLst>
              <a:ext uri="{FF2B5EF4-FFF2-40B4-BE49-F238E27FC236}">
                <a16:creationId xmlns:a16="http://schemas.microsoft.com/office/drawing/2014/main" id="{E2D51ADF-58B1-F889-6D1D-076FF5158D49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8145170" y="4709715"/>
            <a:ext cx="683605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600" noProof="0" dirty="0">
                <a:solidFill>
                  <a:srgbClr val="000000"/>
                </a:solidFill>
                <a:sym typeface="CKNord Book" panose="020B0604020101010102"/>
              </a:rPr>
              <a:t>Not of interest to CCA</a:t>
            </a:r>
          </a:p>
        </p:txBody>
      </p:sp>
      <p:sp>
        <p:nvSpPr>
          <p:cNvPr id="67" name="Textplatzhalter 2">
            <a:extLst>
              <a:ext uri="{FF2B5EF4-FFF2-40B4-BE49-F238E27FC236}">
                <a16:creationId xmlns:a16="http://schemas.microsoft.com/office/drawing/2014/main" id="{ADEF6EDF-ED6E-FCA7-99FD-F47ABD1B5F8F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6059135" y="4709715"/>
            <a:ext cx="884478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600" noProof="0" dirty="0">
                <a:solidFill>
                  <a:srgbClr val="000000"/>
                </a:solidFill>
                <a:sym typeface="CKNord Book" panose="020B0604020101010102"/>
              </a:rPr>
              <a:t>Investment criteria fulfilled</a:t>
            </a:r>
          </a:p>
        </p:txBody>
      </p:sp>
      <p:sp>
        <p:nvSpPr>
          <p:cNvPr id="68" name="Textplatzhalter 2">
            <a:extLst>
              <a:ext uri="{FF2B5EF4-FFF2-40B4-BE49-F238E27FC236}">
                <a16:creationId xmlns:a16="http://schemas.microsoft.com/office/drawing/2014/main" id="{AB3A817D-FF06-4BD9-63F5-FBF08EF0BC32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7118546" y="4709715"/>
            <a:ext cx="826153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600" noProof="0" dirty="0">
                <a:solidFill>
                  <a:srgbClr val="000000"/>
                </a:solidFill>
                <a:sym typeface="CKNord Book" panose="020B0604020101010102"/>
              </a:rPr>
              <a:t>Questions to be answered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F1C3827-B5E7-B496-D375-6BA849742BC2}"/>
              </a:ext>
            </a:extLst>
          </p:cNvPr>
          <p:cNvGrpSpPr>
            <a:grpSpLocks/>
          </p:cNvGrpSpPr>
          <p:nvPr/>
        </p:nvGrpSpPr>
        <p:grpSpPr>
          <a:xfrm>
            <a:off x="8613546" y="758439"/>
            <a:ext cx="268707" cy="242904"/>
            <a:chOff x="8376540" y="743817"/>
            <a:chExt cx="413396" cy="373698"/>
          </a:xfrm>
        </p:grpSpPr>
        <p:sp>
          <p:nvSpPr>
            <p:cNvPr id="89" name="Rechteck 98">
              <a:extLst>
                <a:ext uri="{FF2B5EF4-FFF2-40B4-BE49-F238E27FC236}">
                  <a16:creationId xmlns:a16="http://schemas.microsoft.com/office/drawing/2014/main" id="{8B9B2F23-2125-D045-C163-9E6E4B4BA13A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90" name="Ellipse 99">
              <a:extLst>
                <a:ext uri="{FF2B5EF4-FFF2-40B4-BE49-F238E27FC236}">
                  <a16:creationId xmlns:a16="http://schemas.microsoft.com/office/drawing/2014/main" id="{EDC30B9E-AB33-849C-B129-96971E080B4F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F4C500"/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15948AF-70C2-74BF-920E-1FE41F6474B5}"/>
              </a:ext>
            </a:extLst>
          </p:cNvPr>
          <p:cNvGrpSpPr>
            <a:grpSpLocks/>
          </p:cNvGrpSpPr>
          <p:nvPr/>
        </p:nvGrpSpPr>
        <p:grpSpPr>
          <a:xfrm>
            <a:off x="9333893" y="655622"/>
            <a:ext cx="268707" cy="242904"/>
            <a:chOff x="8376540" y="743817"/>
            <a:chExt cx="413396" cy="373698"/>
          </a:xfrm>
        </p:grpSpPr>
        <p:sp>
          <p:nvSpPr>
            <p:cNvPr id="92" name="Rechteck 98">
              <a:extLst>
                <a:ext uri="{FF2B5EF4-FFF2-40B4-BE49-F238E27FC236}">
                  <a16:creationId xmlns:a16="http://schemas.microsoft.com/office/drawing/2014/main" id="{77C8DA10-66D1-D813-715F-6271B726D755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93" name="Ellipse 99">
              <a:extLst>
                <a:ext uri="{FF2B5EF4-FFF2-40B4-BE49-F238E27FC236}">
                  <a16:creationId xmlns:a16="http://schemas.microsoft.com/office/drawing/2014/main" id="{6C1808DD-DF22-89F2-A4FB-41E29C9BC6DF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C00000"/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9AC47FB-EBF8-1039-7F42-CE512EE369B2}"/>
              </a:ext>
            </a:extLst>
          </p:cNvPr>
          <p:cNvGrpSpPr>
            <a:grpSpLocks/>
          </p:cNvGrpSpPr>
          <p:nvPr/>
        </p:nvGrpSpPr>
        <p:grpSpPr>
          <a:xfrm>
            <a:off x="9409354" y="998529"/>
            <a:ext cx="268288" cy="242491"/>
            <a:chOff x="8376540" y="743817"/>
            <a:chExt cx="413396" cy="373698"/>
          </a:xfrm>
        </p:grpSpPr>
        <p:sp>
          <p:nvSpPr>
            <p:cNvPr id="95" name="Rechteck 98">
              <a:extLst>
                <a:ext uri="{FF2B5EF4-FFF2-40B4-BE49-F238E27FC236}">
                  <a16:creationId xmlns:a16="http://schemas.microsoft.com/office/drawing/2014/main" id="{B13A2799-B3DF-C37B-B98C-10288627BCAA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  <p:sp>
          <p:nvSpPr>
            <p:cNvPr id="96" name="Ellipse 99">
              <a:extLst>
                <a:ext uri="{FF2B5EF4-FFF2-40B4-BE49-F238E27FC236}">
                  <a16:creationId xmlns:a16="http://schemas.microsoft.com/office/drawing/2014/main" id="{27F3956B-1F28-5A06-04D5-271294491C9A}"/>
                </a:ext>
              </a:extLst>
            </p:cNvPr>
            <p:cNvSpPr/>
            <p:nvPr/>
          </p:nvSpPr>
          <p:spPr bwMode="gray">
            <a:xfrm>
              <a:off x="8449022" y="786650"/>
              <a:ext cx="288000" cy="28803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GB" noProof="0" dirty="0">
                <a:latin typeface="+mn-lt"/>
              </a:endParaRPr>
            </a:p>
          </p:txBody>
        </p:sp>
      </p:grpSp>
      <p:sp>
        <p:nvSpPr>
          <p:cNvPr id="10" name="Rechteck 5">
            <a:extLst>
              <a:ext uri="{FF2B5EF4-FFF2-40B4-BE49-F238E27FC236}">
                <a16:creationId xmlns:a16="http://schemas.microsoft.com/office/drawing/2014/main" id="{AB249EB8-2B4F-C82C-804A-298F0CA1111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24419" y="1337632"/>
            <a:ext cx="1706564" cy="332168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500" b="1" noProof="0" dirty="0">
              <a:solidFill>
                <a:srgbClr val="27AA5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500" b="1" noProof="0" dirty="0">
              <a:solidFill>
                <a:srgbClr val="27AA5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500" b="1" noProof="0" dirty="0">
              <a:solidFill>
                <a:srgbClr val="27AA5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500" b="1" noProof="0" dirty="0">
              <a:solidFill>
                <a:srgbClr val="27AA50"/>
              </a:solidFill>
              <a:highlight>
                <a:srgbClr val="FFFF00"/>
              </a:highlight>
            </a:endParaRPr>
          </a:p>
          <a:p>
            <a:pPr marL="0" indent="47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>Founded: </a:t>
            </a:r>
            <a:r>
              <a:rPr lang="en-GB" sz="800" noProof="0" dirty="0">
                <a:solidFill>
                  <a:srgbClr val="000000"/>
                </a:solidFill>
                <a:latin typeface="Calibri"/>
              </a:rPr>
              <a:t>2019</a:t>
            </a:r>
            <a:endParaRPr lang="en-GB" sz="800" noProof="0" dirty="0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>HQ:</a:t>
            </a:r>
            <a:r>
              <a:rPr lang="en-GB" sz="800" noProof="0" dirty="0">
                <a:solidFill>
                  <a:schemeClr val="dk1"/>
                </a:solidFill>
              </a:rPr>
              <a:t> </a:t>
            </a:r>
            <a:r>
              <a:rPr lang="en-GB" sz="800" dirty="0">
                <a:solidFill>
                  <a:srgbClr val="000000"/>
                </a:solidFill>
                <a:latin typeface="Calibri"/>
              </a:rPr>
              <a:t>Wangen-</a:t>
            </a:r>
            <a:r>
              <a:rPr lang="en-GB" sz="800" dirty="0" err="1">
                <a:solidFill>
                  <a:srgbClr val="000000"/>
                </a:solidFill>
                <a:latin typeface="Calibri"/>
              </a:rPr>
              <a:t>Brüttisellen</a:t>
            </a:r>
            <a:r>
              <a:rPr lang="en-GB" sz="800" dirty="0">
                <a:solidFill>
                  <a:srgbClr val="000000"/>
                </a:solidFill>
                <a:latin typeface="Calibri"/>
              </a:rPr>
              <a:t>, Switzerland</a:t>
            </a:r>
            <a:endParaRPr lang="en-GB" sz="800" noProof="0" dirty="0">
              <a:solidFill>
                <a:srgbClr val="000000"/>
              </a:solidFill>
              <a:latin typeface="Calibri"/>
            </a:endParaRPr>
          </a:p>
          <a:p>
            <a:pPr marL="0" indent="4763">
              <a:spcAft>
                <a:spcPts val="600"/>
              </a:spcAft>
              <a:buNone/>
            </a:pPr>
            <a:r>
              <a:rPr lang="en-GB" sz="800" b="1" noProof="0" dirty="0"/>
              <a:t>Website</a:t>
            </a:r>
            <a:r>
              <a:rPr lang="en-GB" sz="800" noProof="0" dirty="0">
                <a:latin typeface="Calibri"/>
              </a:rPr>
              <a:t>:</a:t>
            </a:r>
            <a:r>
              <a:rPr lang="en-GB" sz="800" dirty="0"/>
              <a:t> </a:t>
            </a:r>
            <a:r>
              <a:rPr lang="en-GB" sz="800" dirty="0">
                <a:hlinkClick r:id="rId95"/>
              </a:rPr>
              <a:t>https://evodrop.com</a:t>
            </a:r>
            <a:endParaRPr lang="en-GB" sz="800" noProof="0" dirty="0">
              <a:latin typeface="Calibri"/>
            </a:endParaRPr>
          </a:p>
          <a:p>
            <a:pPr>
              <a:spcAft>
                <a:spcPts val="600"/>
              </a:spcAft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>Industry: </a:t>
            </a:r>
            <a:r>
              <a:rPr lang="en-GB" sz="800" noProof="0" dirty="0">
                <a:solidFill>
                  <a:schemeClr val="dk1"/>
                </a:solidFill>
              </a:rPr>
              <a:t>Industrial</a:t>
            </a:r>
          </a:p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800" b="1" noProof="0" dirty="0"/>
              <a:t>Niche</a:t>
            </a:r>
            <a:r>
              <a:rPr lang="en-GB" sz="800" noProof="0" dirty="0">
                <a:solidFill>
                  <a:schemeClr val="dk1"/>
                </a:solidFill>
              </a:rPr>
              <a:t>: </a:t>
            </a:r>
            <a:r>
              <a:rPr lang="en-GB" sz="800" dirty="0">
                <a:solidFill>
                  <a:schemeClr val="dk1"/>
                </a:solidFill>
              </a:rPr>
              <a:t>Water Filtration</a:t>
            </a:r>
            <a:endParaRPr lang="en-GB" sz="800" noProof="0" dirty="0">
              <a:solidFill>
                <a:schemeClr val="dk1"/>
              </a:solidFill>
            </a:endParaRPr>
          </a:p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>Revenue (2025</a:t>
            </a:r>
            <a:r>
              <a:rPr lang="hu-HU" sz="800" b="1" noProof="0" dirty="0">
                <a:solidFill>
                  <a:schemeClr val="dk1"/>
                </a:solidFill>
              </a:rPr>
              <a:t>A</a:t>
            </a:r>
            <a:r>
              <a:rPr lang="en-GB" sz="800" b="1" noProof="0" dirty="0">
                <a:solidFill>
                  <a:schemeClr val="dk1"/>
                </a:solidFill>
              </a:rPr>
              <a:t>): </a:t>
            </a:r>
            <a:r>
              <a:rPr lang="en-GB" sz="800" noProof="0" dirty="0">
                <a:solidFill>
                  <a:schemeClr val="dk1"/>
                </a:solidFill>
              </a:rPr>
              <a:t>CHF 7</a:t>
            </a:r>
            <a:r>
              <a:rPr lang="en-GB" sz="800" dirty="0">
                <a:solidFill>
                  <a:schemeClr val="dk1"/>
                </a:solidFill>
              </a:rPr>
              <a:t>.8</a:t>
            </a:r>
            <a:r>
              <a:rPr lang="en-GB" sz="800" noProof="0" dirty="0">
                <a:solidFill>
                  <a:schemeClr val="dk1"/>
                </a:solidFill>
              </a:rPr>
              <a:t>m</a:t>
            </a:r>
          </a:p>
          <a:p>
            <a:pPr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800" b="1" noProof="0" dirty="0" err="1">
                <a:solidFill>
                  <a:schemeClr val="dk1"/>
                </a:solidFill>
              </a:rPr>
              <a:t>Adj</a:t>
            </a:r>
            <a:r>
              <a:rPr lang="hu-HU" sz="800" b="1" noProof="0" dirty="0">
                <a:solidFill>
                  <a:schemeClr val="dk1"/>
                </a:solidFill>
              </a:rPr>
              <a:t>.</a:t>
            </a:r>
            <a:r>
              <a:rPr lang="en-GB" sz="800" b="1" noProof="0" dirty="0">
                <a:solidFill>
                  <a:schemeClr val="dk1"/>
                </a:solidFill>
              </a:rPr>
              <a:t> EBITDA (2025</a:t>
            </a:r>
            <a:r>
              <a:rPr lang="hu-HU" sz="800" b="1" noProof="0" dirty="0">
                <a:solidFill>
                  <a:schemeClr val="dk1"/>
                </a:solidFill>
              </a:rPr>
              <a:t>A</a:t>
            </a:r>
            <a:r>
              <a:rPr lang="en-GB" sz="800" b="1" noProof="0" dirty="0">
                <a:solidFill>
                  <a:schemeClr val="dk1"/>
                </a:solidFill>
              </a:rPr>
              <a:t>): </a:t>
            </a:r>
            <a:r>
              <a:rPr lang="en-GB" sz="800" noProof="0" dirty="0">
                <a:solidFill>
                  <a:schemeClr val="dk1"/>
                </a:solidFill>
              </a:rPr>
              <a:t>EUR 1</a:t>
            </a:r>
            <a:r>
              <a:rPr lang="en-GB" sz="800" dirty="0">
                <a:solidFill>
                  <a:schemeClr val="dk1"/>
                </a:solidFill>
              </a:rPr>
              <a:t>.9</a:t>
            </a:r>
            <a:r>
              <a:rPr lang="en-GB" sz="800" noProof="0" dirty="0">
                <a:solidFill>
                  <a:schemeClr val="dk1"/>
                </a:solidFill>
              </a:rPr>
              <a:t>m</a:t>
            </a:r>
            <a:r>
              <a:rPr lang="hu-HU" sz="800" noProof="0" dirty="0">
                <a:solidFill>
                  <a:schemeClr val="dk1"/>
                </a:solidFill>
              </a:rPr>
              <a:t> </a:t>
            </a:r>
            <a:r>
              <a:rPr lang="en-GB" sz="800" noProof="0" dirty="0">
                <a:solidFill>
                  <a:schemeClr val="dk1"/>
                </a:solidFill>
              </a:rPr>
              <a:t>(25%)</a:t>
            </a: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>Owners:</a:t>
            </a:r>
          </a:p>
          <a:p>
            <a:pPr marL="88900" indent="-841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GB" sz="800" noProof="0" dirty="0">
                <a:solidFill>
                  <a:schemeClr val="dk1"/>
                </a:solidFill>
              </a:rPr>
              <a:t>Fabio </a:t>
            </a:r>
            <a:r>
              <a:rPr lang="en-GB" sz="800" noProof="0" dirty="0" err="1">
                <a:solidFill>
                  <a:schemeClr val="dk1"/>
                </a:solidFill>
              </a:rPr>
              <a:t>Hüther</a:t>
            </a:r>
            <a:r>
              <a:rPr lang="en-GB" sz="800" noProof="0" dirty="0">
                <a:solidFill>
                  <a:schemeClr val="dk1"/>
                </a:solidFill>
              </a:rPr>
              <a:t> (33%), Dino Novia (33%), Luciano Novia (33%)</a:t>
            </a:r>
          </a:p>
          <a:p>
            <a:pPr marL="476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None/>
            </a:pPr>
            <a:endParaRPr lang="en-GB" sz="800" noProof="0"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None/>
            </a:pPr>
            <a:r>
              <a:rPr lang="en-GB" sz="800" b="1" noProof="0" dirty="0">
                <a:solidFill>
                  <a:schemeClr val="dk1"/>
                </a:solidFill>
              </a:rPr>
              <a:t>Management Team:</a:t>
            </a:r>
          </a:p>
          <a:p>
            <a:pPr marL="88900" indent="-841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GB" sz="800" dirty="0">
                <a:solidFill>
                  <a:schemeClr val="dk1"/>
                </a:solidFill>
              </a:rPr>
              <a:t>Dino Novia </a:t>
            </a:r>
            <a:r>
              <a:rPr lang="en-GB" sz="800" noProof="0" dirty="0">
                <a:solidFill>
                  <a:schemeClr val="dk1"/>
                </a:solidFill>
              </a:rPr>
              <a:t>(CEO)</a:t>
            </a:r>
          </a:p>
          <a:p>
            <a:pPr marL="88900" indent="-841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GB" sz="800" dirty="0">
                <a:solidFill>
                  <a:schemeClr val="dk1"/>
                </a:solidFill>
              </a:rPr>
              <a:t>Fabio </a:t>
            </a:r>
            <a:r>
              <a:rPr lang="en-GB" sz="800" dirty="0" err="1">
                <a:solidFill>
                  <a:schemeClr val="dk1"/>
                </a:solidFill>
              </a:rPr>
              <a:t>Hüther</a:t>
            </a:r>
            <a:r>
              <a:rPr lang="en-GB" sz="800" dirty="0">
                <a:solidFill>
                  <a:schemeClr val="dk1"/>
                </a:solidFill>
              </a:rPr>
              <a:t> (CTO)</a:t>
            </a:r>
          </a:p>
          <a:p>
            <a:pPr marL="476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None/>
            </a:pPr>
            <a:endParaRPr lang="en-GB" sz="800" b="1" noProof="0" dirty="0">
              <a:highlight>
                <a:srgbClr val="FFFF00"/>
              </a:highlight>
            </a:endParaRPr>
          </a:p>
          <a:p>
            <a:pPr marL="476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None/>
            </a:pPr>
            <a:r>
              <a:rPr lang="en-GB" sz="800" b="1" noProof="0" dirty="0"/>
              <a:t>No of employees</a:t>
            </a:r>
            <a:r>
              <a:rPr lang="en-GB" sz="800" b="1" noProof="0" dirty="0">
                <a:solidFill>
                  <a:schemeClr val="dk1"/>
                </a:solidFill>
              </a:rPr>
              <a:t>: </a:t>
            </a:r>
            <a:r>
              <a:rPr lang="en-GB" sz="800" dirty="0">
                <a:solidFill>
                  <a:schemeClr val="dk1"/>
                </a:solidFill>
              </a:rPr>
              <a:t>15</a:t>
            </a:r>
            <a:r>
              <a:rPr lang="en-GB" sz="800" noProof="0" dirty="0">
                <a:solidFill>
                  <a:schemeClr val="dk1"/>
                </a:solidFill>
              </a:rPr>
              <a:t> (2025)</a:t>
            </a:r>
            <a:br>
              <a:rPr lang="en-GB" sz="800" noProof="0" dirty="0">
                <a:solidFill>
                  <a:schemeClr val="dk1"/>
                </a:solidFill>
                <a:highlight>
                  <a:srgbClr val="FFFF00"/>
                </a:highlight>
              </a:rPr>
            </a:br>
            <a:endParaRPr lang="en-GB" sz="800" b="1" noProof="0" dirty="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indent="4763">
              <a:lnSpc>
                <a:spcPct val="100000"/>
              </a:lnSpc>
              <a:buNone/>
            </a:pPr>
            <a:r>
              <a:rPr lang="en-GB" sz="800" b="1" noProof="0" dirty="0"/>
              <a:t>Source:</a:t>
            </a:r>
            <a:r>
              <a:rPr lang="en-GB" sz="800" noProof="0" dirty="0"/>
              <a:t> Ramus &amp; Company AG</a:t>
            </a:r>
          </a:p>
          <a:p>
            <a:pPr marL="0" indent="4763">
              <a:lnSpc>
                <a:spcPct val="100000"/>
              </a:lnSpc>
              <a:buNone/>
            </a:pPr>
            <a:r>
              <a:rPr lang="en-GB" sz="700" i="1" noProof="0" dirty="0"/>
              <a:t>received on:</a:t>
            </a:r>
            <a:r>
              <a:rPr lang="en-GB" sz="700" i="1" dirty="0"/>
              <a:t> 20.02.2026</a:t>
            </a:r>
            <a:endParaRPr lang="en-GB" sz="700" i="1" noProof="0" dirty="0"/>
          </a:p>
          <a:p>
            <a:pPr marL="0" indent="4763">
              <a:lnSpc>
                <a:spcPct val="100000"/>
              </a:lnSpc>
              <a:buNone/>
            </a:pPr>
            <a:r>
              <a:rPr lang="en-GB" sz="700" i="1" noProof="0" dirty="0"/>
              <a:t>Next steps: </a:t>
            </a:r>
            <a:r>
              <a:rPr lang="en-GB" sz="700" i="1" dirty="0"/>
              <a:t>N.A.</a:t>
            </a:r>
            <a:endParaRPr lang="en-GB" sz="900" i="1" noProof="0" dirty="0"/>
          </a:p>
        </p:txBody>
      </p:sp>
      <p:cxnSp>
        <p:nvCxnSpPr>
          <p:cNvPr id="12" name="Gerader Verbinder 12">
            <a:extLst>
              <a:ext uri="{FF2B5EF4-FFF2-40B4-BE49-F238E27FC236}">
                <a16:creationId xmlns:a16="http://schemas.microsoft.com/office/drawing/2014/main" id="{E66874C1-5F6E-5D4A-2FE8-46ADDF54820A}"/>
              </a:ext>
            </a:extLst>
          </p:cNvPr>
          <p:cNvCxnSpPr>
            <a:cxnSpLocks/>
          </p:cNvCxnSpPr>
          <p:nvPr/>
        </p:nvCxnSpPr>
        <p:spPr bwMode="auto">
          <a:xfrm>
            <a:off x="374426" y="1559131"/>
            <a:ext cx="16065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56E9C400-66D8-73CF-D8A4-250E7D6733F7}"/>
              </a:ext>
            </a:extLst>
          </p:cNvPr>
          <p:cNvSpPr txBox="1"/>
          <p:nvPr/>
        </p:nvSpPr>
        <p:spPr>
          <a:xfrm>
            <a:off x="374426" y="1367421"/>
            <a:ext cx="1606550" cy="1680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Key Facts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F545AAF-2B66-4CB4-8DFB-54C49AA6CE01}"/>
              </a:ext>
            </a:extLst>
          </p:cNvPr>
          <p:cNvSpPr txBox="1"/>
          <p:nvPr/>
        </p:nvSpPr>
        <p:spPr>
          <a:xfrm>
            <a:off x="7260432" y="1366791"/>
            <a:ext cx="148986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Investment Rationale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911D124-39F9-4AA6-ED34-872724C0B95D}"/>
              </a:ext>
            </a:extLst>
          </p:cNvPr>
          <p:cNvSpPr txBox="1"/>
          <p:nvPr/>
        </p:nvSpPr>
        <p:spPr>
          <a:xfrm>
            <a:off x="7260432" y="2617791"/>
            <a:ext cx="1489869" cy="1698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Investment Criteria</a:t>
            </a:r>
          </a:p>
        </p:txBody>
      </p:sp>
      <p:sp>
        <p:nvSpPr>
          <p:cNvPr id="138" name="Rechteck 5">
            <a:extLst>
              <a:ext uri="{FF2B5EF4-FFF2-40B4-BE49-F238E27FC236}">
                <a16:creationId xmlns:a16="http://schemas.microsoft.com/office/drawing/2014/main" id="{B5C93F76-02AB-7A28-5035-0CDD07CA6285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190361" y="1337631"/>
            <a:ext cx="2346736" cy="161089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108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i="1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i="1" noProof="0" dirty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 err="1"/>
              <a:t>Evodrop</a:t>
            </a:r>
            <a:r>
              <a:rPr lang="en-US" sz="800" dirty="0"/>
              <a:t> AG offers water treatment products based exclusively on biological technology, combining bio-based limescale protection through malic acid for B2B and B2C markets</a:t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3 founders and advisory board consisting of industry experts, + manuf. resources in Asia</a:t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Cartridge subscription service creating recurring revenues l (14% recurring revenues in 2025) </a:t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 7’000+ systems sold, 30’000+ users for products both at point of entry and point of use</a:t>
            </a:r>
          </a:p>
        </p:txBody>
      </p:sp>
      <p:cxnSp>
        <p:nvCxnSpPr>
          <p:cNvPr id="139" name="Gerader Verbinder 12">
            <a:extLst>
              <a:ext uri="{FF2B5EF4-FFF2-40B4-BE49-F238E27FC236}">
                <a16:creationId xmlns:a16="http://schemas.microsoft.com/office/drawing/2014/main" id="{88AC5BAC-2738-AB3E-F78D-EC6A856A0D14}"/>
              </a:ext>
            </a:extLst>
          </p:cNvPr>
          <p:cNvCxnSpPr>
            <a:cxnSpLocks/>
          </p:cNvCxnSpPr>
          <p:nvPr/>
        </p:nvCxnSpPr>
        <p:spPr bwMode="auto">
          <a:xfrm>
            <a:off x="2259127" y="1559131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AB5FF161-6DB9-7452-B772-5F6281672E4F}"/>
              </a:ext>
            </a:extLst>
          </p:cNvPr>
          <p:cNvSpPr txBox="1"/>
          <p:nvPr/>
        </p:nvSpPr>
        <p:spPr>
          <a:xfrm>
            <a:off x="2241698" y="1366791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Description</a:t>
            </a:r>
            <a:endParaRPr lang="en-GB" sz="800" b="1" noProof="0" dirty="0">
              <a:solidFill>
                <a:schemeClr val="tx2"/>
              </a:solidFill>
            </a:endParaRPr>
          </a:p>
        </p:txBody>
      </p:sp>
      <p:sp>
        <p:nvSpPr>
          <p:cNvPr id="15" name="Rechteck 5">
            <a:extLst>
              <a:ext uri="{FF2B5EF4-FFF2-40B4-BE49-F238E27FC236}">
                <a16:creationId xmlns:a16="http://schemas.microsoft.com/office/drawing/2014/main" id="{702BD145-BB9B-8069-F9D3-30973AC2F4C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702404" y="1337631"/>
            <a:ext cx="2346736" cy="161089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108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i="1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800" i="1" noProof="0" dirty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 dirty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 dirty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 dirty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 dirty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 dirty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 noProof="0" dirty="0"/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noProof="0" dirty="0"/>
              <a:t>Patented filtration technology without electricity consumption and/or wastewater </a:t>
            </a:r>
            <a:r>
              <a:rPr lang="en-US" sz="800" dirty="0"/>
              <a:t>production</a:t>
            </a:r>
          </a:p>
          <a:p>
            <a:pPr marL="88900" indent="-84138" algn="just">
              <a:spcAft>
                <a:spcPts val="2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Industry recognition: 12 awards in 2024/2025</a:t>
            </a:r>
            <a:endParaRPr lang="en-GB" sz="800" dirty="0"/>
          </a:p>
        </p:txBody>
      </p:sp>
      <p:cxnSp>
        <p:nvCxnSpPr>
          <p:cNvPr id="16" name="Gerader Verbinder 12">
            <a:extLst>
              <a:ext uri="{FF2B5EF4-FFF2-40B4-BE49-F238E27FC236}">
                <a16:creationId xmlns:a16="http://schemas.microsoft.com/office/drawing/2014/main" id="{03D72849-8110-83DE-942C-99611BE18C0F}"/>
              </a:ext>
            </a:extLst>
          </p:cNvPr>
          <p:cNvCxnSpPr>
            <a:cxnSpLocks/>
          </p:cNvCxnSpPr>
          <p:nvPr/>
        </p:nvCxnSpPr>
        <p:spPr bwMode="auto">
          <a:xfrm>
            <a:off x="4771170" y="1559131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594F076-73DC-F5CF-BE42-70AA0668170D}"/>
              </a:ext>
            </a:extLst>
          </p:cNvPr>
          <p:cNvSpPr txBox="1"/>
          <p:nvPr/>
        </p:nvSpPr>
        <p:spPr>
          <a:xfrm>
            <a:off x="4753741" y="1366791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Product Portfolio</a:t>
            </a:r>
          </a:p>
        </p:txBody>
      </p:sp>
      <p:sp>
        <p:nvSpPr>
          <p:cNvPr id="19" name="Rechteck 5">
            <a:extLst>
              <a:ext uri="{FF2B5EF4-FFF2-40B4-BE49-F238E27FC236}">
                <a16:creationId xmlns:a16="http://schemas.microsoft.com/office/drawing/2014/main" id="{3BF8F5E6-003E-2D32-1868-285E752D2F72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2190361" y="3058088"/>
            <a:ext cx="2346736" cy="16012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900" i="1" noProof="0" dirty="0"/>
          </a:p>
        </p:txBody>
      </p:sp>
      <p:sp>
        <p:nvSpPr>
          <p:cNvPr id="7" name="Rechteck 5">
            <a:extLst>
              <a:ext uri="{FF2B5EF4-FFF2-40B4-BE49-F238E27FC236}">
                <a16:creationId xmlns:a16="http://schemas.microsoft.com/office/drawing/2014/main" id="{5BA7B05A-E0AF-69C3-2782-7EB436BF7E0C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723022" y="3302440"/>
            <a:ext cx="383253" cy="148019"/>
          </a:xfrm>
          <a:prstGeom prst="rect">
            <a:avLst/>
          </a:prstGeom>
          <a:noFill/>
          <a:ln w="6350">
            <a:noFill/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 marL="0" indent="4763">
              <a:lnSpc>
                <a:spcPct val="100000"/>
              </a:lnSpc>
              <a:buNone/>
            </a:pPr>
            <a:r>
              <a:rPr lang="en-GB" sz="600" i="1" dirty="0"/>
              <a:t>in </a:t>
            </a:r>
            <a:r>
              <a:rPr lang="en-GB" sz="600" i="1" dirty="0" err="1"/>
              <a:t>CHFm</a:t>
            </a:r>
            <a:endParaRPr lang="en-GB" sz="800" i="1" noProof="0" dirty="0"/>
          </a:p>
        </p:txBody>
      </p:sp>
      <p:cxnSp>
        <p:nvCxnSpPr>
          <p:cNvPr id="20" name="Gerader Verbinder 12">
            <a:extLst>
              <a:ext uri="{FF2B5EF4-FFF2-40B4-BE49-F238E27FC236}">
                <a16:creationId xmlns:a16="http://schemas.microsoft.com/office/drawing/2014/main" id="{AF7CD646-7C39-9E22-CD5A-373E77056EFE}"/>
              </a:ext>
            </a:extLst>
          </p:cNvPr>
          <p:cNvCxnSpPr>
            <a:cxnSpLocks/>
          </p:cNvCxnSpPr>
          <p:nvPr/>
        </p:nvCxnSpPr>
        <p:spPr bwMode="auto">
          <a:xfrm>
            <a:off x="2259127" y="3302769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3437F3F-9CD4-5607-3F14-034195F5AE17}"/>
              </a:ext>
            </a:extLst>
          </p:cNvPr>
          <p:cNvSpPr txBox="1"/>
          <p:nvPr/>
        </p:nvSpPr>
        <p:spPr>
          <a:xfrm>
            <a:off x="2241698" y="3095392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Customer Structure</a:t>
            </a:r>
          </a:p>
        </p:txBody>
      </p:sp>
      <p:graphicFrame>
        <p:nvGraphicFramePr>
          <p:cNvPr id="1455" name="Chart 1454">
            <a:extLst>
              <a:ext uri="{FF2B5EF4-FFF2-40B4-BE49-F238E27FC236}">
                <a16:creationId xmlns:a16="http://schemas.microsoft.com/office/drawing/2014/main" id="{52D2596E-C8E9-1D5B-DDDD-E363BF5FCDD1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212260554"/>
              </p:ext>
            </p:extLst>
          </p:nvPr>
        </p:nvGraphicFramePr>
        <p:xfrm>
          <a:off x="1974850" y="3179763"/>
          <a:ext cx="1776413" cy="159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6"/>
          </a:graphicData>
        </a:graphic>
      </p:graphicFrame>
      <p:sp>
        <p:nvSpPr>
          <p:cNvPr id="174" name="Rectangle 173">
            <a:extLst>
              <a:ext uri="{FF2B5EF4-FFF2-40B4-BE49-F238E27FC236}">
                <a16:creationId xmlns:a16="http://schemas.microsoft.com/office/drawing/2014/main" id="{248BBBD5-BF01-A436-F9F7-E9E4B5375D1F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2922588" y="4343400"/>
            <a:ext cx="152400" cy="109538"/>
          </a:xfrm>
          <a:prstGeom prst="rect">
            <a:avLst/>
          </a:prstGeom>
          <a:solidFill>
            <a:srgbClr val="6F8DB9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7179F72B-7D13-410F-BA17-9861C4E2CAA3}" type="datetime'''''''4''''''''%'''''''''''''''''''''''''''''''''''">
              <a:rPr lang="en-GB" altLang="en-US" sz="8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4%</a:t>
            </a:fld>
            <a:endParaRPr lang="en-GB" sz="800" dirty="0">
              <a:solidFill>
                <a:schemeClr val="bg1"/>
              </a:solidFill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BF79F60A-DB9D-8786-E60A-A3CB0197114C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2795588" y="4233863"/>
            <a:ext cx="152400" cy="109538"/>
          </a:xfrm>
          <a:prstGeom prst="rect">
            <a:avLst/>
          </a:prstGeom>
          <a:solidFill>
            <a:srgbClr val="9DB1CF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A458BBC-0DCD-41B0-96A0-4B82BD32FBFC}" type="datetime'''''''''''''''''''''''''''''''''5''''''''''''''''''''%'''''">
              <a:rPr lang="en-GB" altLang="en-US" sz="8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5%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FD3C709-67CF-0587-8F38-4EAAE9048736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3500438" y="3435350"/>
            <a:ext cx="142875" cy="106363"/>
          </a:xfrm>
          <a:prstGeom prst="rect">
            <a:avLst/>
          </a:prstGeom>
          <a:solidFill>
            <a:srgbClr val="364D6E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ECA4FB32-C729-985C-8829-82621FFA4EA0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500438" y="3608388"/>
            <a:ext cx="142875" cy="106363"/>
          </a:xfrm>
          <a:prstGeom prst="rect">
            <a:avLst/>
          </a:prstGeom>
          <a:solidFill>
            <a:srgbClr val="4C6C9C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61836207-3974-EF6C-79D3-10FC40DBEF11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3500438" y="3781425"/>
            <a:ext cx="142875" cy="106363"/>
          </a:xfrm>
          <a:prstGeom prst="rect">
            <a:avLst/>
          </a:prstGeom>
          <a:solidFill>
            <a:srgbClr val="6F8DB9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07D2C74D-067F-0DC1-711C-CB55D14056E8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500438" y="3954463"/>
            <a:ext cx="142875" cy="106363"/>
          </a:xfrm>
          <a:prstGeom prst="rect">
            <a:avLst/>
          </a:prstGeom>
          <a:solidFill>
            <a:srgbClr val="9DB1CF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4EE0CB66-7182-80B5-CE3C-181DE87F0867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3500438" y="4127500"/>
            <a:ext cx="142875" cy="106363"/>
          </a:xfrm>
          <a:prstGeom prst="rect">
            <a:avLst/>
          </a:prstGeom>
          <a:solidFill>
            <a:srgbClr val="C3CFE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87AB5DF-002B-F64D-76F8-1CB62ED0D244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3694113" y="3430588"/>
            <a:ext cx="722313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E48F2AA6-F7C3-4C0F-A2B2-23552FF02251}" type="datetime'Lar''''''''''''''ge''''''''''s''t'''' Cu''st''omer'''''''">
              <a:rPr lang="en-GB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Largest Customer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578C134D-3178-C9D3-0786-18FAA4557CAA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3694113" y="3603625"/>
            <a:ext cx="500063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5EC3C7F1-585E-4F2B-901F-653C5119B804}" type="datetime'2''''n''''d'''' an''d ''3''''''''''''''''''''''''''''''rd'">
              <a:rPr lang="en-GB" altLang="en-US" sz="800" smtClean="0">
                <a:solidFill>
                  <a:schemeClr val="tx1"/>
                </a:solidFill>
              </a:rPr>
              <a:pPr/>
              <a:t>2nd and 3rd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6784AA70-DFC6-DDA6-F564-479BE51F3373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3694113" y="3776663"/>
            <a:ext cx="477838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7A85A761-4F40-445A-AEA9-C3AF81E0DDDE}" type="datetime'''4''''''''''t''''''h ''a''''''''''nd'''''''''''''''' ''5th'''">
              <a:rPr lang="en-GB" altLang="en-US" sz="800" smtClean="0">
                <a:solidFill>
                  <a:schemeClr val="tx1"/>
                </a:solidFill>
              </a:rPr>
              <a:pPr/>
              <a:t>4th and 5th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562CA84-00A3-2833-237F-3D4D61D2B47D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3694113" y="3949700"/>
            <a:ext cx="458788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FB56C05A-7E3B-4B9D-B34B-482AD6E47CFD}" type="datetime'''''''''6th'''''''''''' ''t''o'''''''' 1''''''0t''''h'''''">
              <a:rPr lang="en-GB" altLang="en-US" sz="800" smtClean="0">
                <a:solidFill>
                  <a:schemeClr val="tx1"/>
                </a:solidFill>
              </a:rPr>
              <a:pPr/>
              <a:t>6th to 10th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7923578B-2315-41FB-EC40-99478EDC6FDB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3694113" y="4122738"/>
            <a:ext cx="490538" cy="24447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34F9FDDC-32D5-4AE8-B739-50563662B8D2}" type="datetime'''''''Other'' ''6,''''''''000''&#10;''''''''C''us''tomer''''s'''">
              <a:rPr lang="en-GB" altLang="en-US" sz="800" smtClean="0">
                <a:solidFill>
                  <a:schemeClr val="tx1"/>
                </a:solidFill>
              </a:rPr>
              <a:pPr/>
              <a:t>Other 6,000
Customers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66FCA101-66E6-6D2D-E628-09F48E24EAD4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2716213" y="3819525"/>
            <a:ext cx="292100" cy="31432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34925" rIns="1588" bIns="34925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b="1" dirty="0">
                <a:solidFill>
                  <a:schemeClr val="tx1"/>
                </a:solidFill>
                <a:effectLst/>
              </a:rPr>
              <a:t>CHF 7.8m</a:t>
            </a:r>
            <a:endParaRPr lang="en-GB" sz="800" b="1" dirty="0">
              <a:solidFill>
                <a:schemeClr val="tx1"/>
              </a:solidFill>
            </a:endParaRPr>
          </a:p>
        </p:txBody>
      </p:sp>
      <p:graphicFrame>
        <p:nvGraphicFramePr>
          <p:cNvPr id="1436" name="Chart 1435">
            <a:extLst>
              <a:ext uri="{FF2B5EF4-FFF2-40B4-BE49-F238E27FC236}">
                <a16:creationId xmlns:a16="http://schemas.microsoft.com/office/drawing/2014/main" id="{C08B7E1B-6026-12DB-B0A9-6FC910951C38}"/>
              </a:ext>
            </a:extLst>
          </p:cNvPr>
          <p:cNvGraphicFramePr/>
          <p:nvPr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2678570692"/>
              </p:ext>
            </p:extLst>
          </p:nvPr>
        </p:nvGraphicFramePr>
        <p:xfrm>
          <a:off x="4849813" y="3598863"/>
          <a:ext cx="2254250" cy="9064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7"/>
          </a:graphicData>
        </a:graphic>
      </p:graphicFrame>
      <p:cxnSp>
        <p:nvCxnSpPr>
          <p:cNvPr id="1321" name="Straight Connector 1320">
            <a:extLst>
              <a:ext uri="{FF2B5EF4-FFF2-40B4-BE49-F238E27FC236}">
                <a16:creationId xmlns:a16="http://schemas.microsoft.com/office/drawing/2014/main" id="{7DF18762-6C22-3622-BA72-15AB5B858FD0}"/>
              </a:ext>
            </a:extLst>
          </p:cNvPr>
          <p:cNvCxnSpPr>
            <a:cxnSpLocks/>
          </p:cNvCxnSpPr>
          <p:nvPr>
            <p:custDataLst>
              <p:tags r:id="rId29"/>
            </p:custDataLst>
          </p:nvPr>
        </p:nvCxnSpPr>
        <p:spPr bwMode="auto">
          <a:xfrm flipV="1">
            <a:off x="5059363" y="3794125"/>
            <a:ext cx="858838" cy="6985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5" name="Straight Connector 1334">
            <a:extLst>
              <a:ext uri="{FF2B5EF4-FFF2-40B4-BE49-F238E27FC236}">
                <a16:creationId xmlns:a16="http://schemas.microsoft.com/office/drawing/2014/main" id="{E88268F3-F488-AE3D-699F-3588B4967E04}"/>
              </a:ext>
            </a:extLst>
          </p:cNvPr>
          <p:cNvCxnSpPr>
            <a:cxnSpLocks/>
          </p:cNvCxnSpPr>
          <p:nvPr>
            <p:custDataLst>
              <p:tags r:id="rId30"/>
            </p:custDataLst>
          </p:nvPr>
        </p:nvCxnSpPr>
        <p:spPr bwMode="auto">
          <a:xfrm flipV="1">
            <a:off x="5918200" y="3454400"/>
            <a:ext cx="858838" cy="3397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DE104AB-E769-5BA8-F468-2232F0BCFE3D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>
            <a:off x="5162550" y="4129088"/>
            <a:ext cx="0" cy="1889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0E18BA67-55F1-39AD-09D2-DCC55CC6131B}"/>
              </a:ext>
            </a:extLst>
          </p:cNvPr>
          <p:cNvCxnSpPr/>
          <p:nvPr>
            <p:custDataLst>
              <p:tags r:id="rId32"/>
            </p:custDataLst>
          </p:nvPr>
        </p:nvCxnSpPr>
        <p:spPr bwMode="auto">
          <a:xfrm>
            <a:off x="5970588" y="4205288"/>
            <a:ext cx="0" cy="2381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4" name="Straight Connector 1203">
            <a:extLst>
              <a:ext uri="{FF2B5EF4-FFF2-40B4-BE49-F238E27FC236}">
                <a16:creationId xmlns:a16="http://schemas.microsoft.com/office/drawing/2014/main" id="{7ECF75F6-BC88-EB00-AA2F-1AB89A9FDE1C}"/>
              </a:ext>
            </a:extLst>
          </p:cNvPr>
          <p:cNvCxnSpPr/>
          <p:nvPr>
            <p:custDataLst>
              <p:tags r:id="rId33"/>
            </p:custDataLst>
          </p:nvPr>
        </p:nvCxnSpPr>
        <p:spPr bwMode="auto">
          <a:xfrm>
            <a:off x="5111750" y="4238625"/>
            <a:ext cx="0" cy="238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737B7E54-BC52-52EF-A4FB-0AF00BB5B2B7}"/>
              </a:ext>
            </a:extLst>
          </p:cNvPr>
          <p:cNvCxnSpPr/>
          <p:nvPr>
            <p:custDataLst>
              <p:tags r:id="rId34"/>
            </p:custDataLst>
          </p:nvPr>
        </p:nvCxnSpPr>
        <p:spPr bwMode="auto">
          <a:xfrm>
            <a:off x="6329363" y="4090988"/>
            <a:ext cx="0" cy="2111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06E81B2-4955-25CE-8C51-38643A2A6C2B}"/>
              </a:ext>
            </a:extLst>
          </p:cNvPr>
          <p:cNvCxnSpPr/>
          <p:nvPr>
            <p:custDataLst>
              <p:tags r:id="rId35"/>
            </p:custDataLst>
          </p:nvPr>
        </p:nvCxnSpPr>
        <p:spPr bwMode="auto">
          <a:xfrm>
            <a:off x="5448300" y="4127500"/>
            <a:ext cx="0" cy="1905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724DFCB9-4A45-3508-F49B-BD3D6B1505B5}"/>
              </a:ext>
            </a:extLst>
          </p:cNvPr>
          <p:cNvCxnSpPr/>
          <p:nvPr>
            <p:custDataLst>
              <p:tags r:id="rId36"/>
            </p:custDataLst>
          </p:nvPr>
        </p:nvCxnSpPr>
        <p:spPr bwMode="auto">
          <a:xfrm>
            <a:off x="6256338" y="4200525"/>
            <a:ext cx="0" cy="2381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827C65F5-A606-A5CB-DE21-2E17EB4DFE29}"/>
              </a:ext>
            </a:extLst>
          </p:cNvPr>
          <p:cNvCxnSpPr/>
          <p:nvPr>
            <p:custDataLst>
              <p:tags r:id="rId37"/>
            </p:custDataLst>
          </p:nvPr>
        </p:nvCxnSpPr>
        <p:spPr bwMode="auto">
          <a:xfrm>
            <a:off x="5397500" y="4237038"/>
            <a:ext cx="0" cy="238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770175E-E33C-1F03-50AA-E51908ED5011}"/>
              </a:ext>
            </a:extLst>
          </p:cNvPr>
          <p:cNvCxnSpPr/>
          <p:nvPr>
            <p:custDataLst>
              <p:tags r:id="rId38"/>
            </p:custDataLst>
          </p:nvPr>
        </p:nvCxnSpPr>
        <p:spPr bwMode="auto">
          <a:xfrm>
            <a:off x="6643688" y="4235450"/>
            <a:ext cx="0" cy="539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A3A9A21-B8D4-5762-89C4-3AF9220E0089}"/>
              </a:ext>
            </a:extLst>
          </p:cNvPr>
          <p:cNvCxnSpPr/>
          <p:nvPr>
            <p:custDataLst>
              <p:tags r:id="rId39"/>
            </p:custDataLst>
          </p:nvPr>
        </p:nvCxnSpPr>
        <p:spPr bwMode="auto">
          <a:xfrm>
            <a:off x="6542088" y="4170363"/>
            <a:ext cx="0" cy="238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7" name="Straight Connector 1426">
            <a:extLst>
              <a:ext uri="{FF2B5EF4-FFF2-40B4-BE49-F238E27FC236}">
                <a16:creationId xmlns:a16="http://schemas.microsoft.com/office/drawing/2014/main" id="{F7AE89A1-F006-252B-2FB9-F218224CF0C1}"/>
              </a:ext>
            </a:extLst>
          </p:cNvPr>
          <p:cNvCxnSpPr/>
          <p:nvPr>
            <p:custDataLst>
              <p:tags r:id="rId40"/>
            </p:custDataLst>
          </p:nvPr>
        </p:nvCxnSpPr>
        <p:spPr bwMode="auto">
          <a:xfrm>
            <a:off x="5772150" y="4130675"/>
            <a:ext cx="0" cy="1889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EBCFA52A-14C9-C8D2-C6BA-C3528D2FCED3}"/>
              </a:ext>
            </a:extLst>
          </p:cNvPr>
          <p:cNvCxnSpPr/>
          <p:nvPr>
            <p:custDataLst>
              <p:tags r:id="rId41"/>
            </p:custDataLst>
          </p:nvPr>
        </p:nvCxnSpPr>
        <p:spPr bwMode="auto">
          <a:xfrm>
            <a:off x="6829425" y="4124325"/>
            <a:ext cx="0" cy="2381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6048116-E4E3-D3A0-730D-D1F14B655922}"/>
              </a:ext>
            </a:extLst>
          </p:cNvPr>
          <p:cNvCxnSpPr>
            <a:cxnSpLocks/>
          </p:cNvCxnSpPr>
          <p:nvPr>
            <p:custDataLst>
              <p:tags r:id="rId42"/>
            </p:custDataLst>
          </p:nvPr>
        </p:nvCxnSpPr>
        <p:spPr bwMode="auto">
          <a:xfrm>
            <a:off x="5684838" y="4240213"/>
            <a:ext cx="0" cy="238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5" name="Straight Connector 1434">
            <a:extLst>
              <a:ext uri="{FF2B5EF4-FFF2-40B4-BE49-F238E27FC236}">
                <a16:creationId xmlns:a16="http://schemas.microsoft.com/office/drawing/2014/main" id="{9284EF7C-750C-53A6-E8BE-CE446914ECBB}"/>
              </a:ext>
            </a:extLst>
          </p:cNvPr>
          <p:cNvCxnSpPr/>
          <p:nvPr>
            <p:custDataLst>
              <p:tags r:id="rId43"/>
            </p:custDataLst>
          </p:nvPr>
        </p:nvCxnSpPr>
        <p:spPr bwMode="auto">
          <a:xfrm>
            <a:off x="6923088" y="4198938"/>
            <a:ext cx="0" cy="730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0CB33564-CA4A-D29A-E4BC-B192908ACCC4}"/>
              </a:ext>
            </a:extLst>
          </p:cNvPr>
          <p:cNvCxnSpPr/>
          <p:nvPr>
            <p:custDataLst>
              <p:tags r:id="rId44"/>
            </p:custDataLst>
          </p:nvPr>
        </p:nvCxnSpPr>
        <p:spPr bwMode="auto">
          <a:xfrm>
            <a:off x="6043613" y="4095750"/>
            <a:ext cx="0" cy="2095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6" name="Rectangle 1195">
            <a:extLst>
              <a:ext uri="{FF2B5EF4-FFF2-40B4-BE49-F238E27FC236}">
                <a16:creationId xmlns:a16="http://schemas.microsoft.com/office/drawing/2014/main" id="{E6ACE224-D363-3391-22DE-150A61FA0A64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5035550" y="4129088"/>
            <a:ext cx="152400" cy="1095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FE277C8-0585-4B21-9083-C2F694C3CF9E}" type="datetime'''''''''''''''''''''''''''''''''''''''4''''''''''''''''''%'">
              <a:rPr lang="en-GB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4%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22CCADDC-FC4A-0661-294B-6FA23DDFA066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5022850" y="4352925"/>
            <a:ext cx="176213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54A8DD47-2D2F-4A3C-B660-117B12E913B8}" type="datetime'''2''2''''A'''''''''">
              <a:rPr lang="en-GB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22A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>
        <p:nvSpPr>
          <p:cNvPr id="1197" name="Rectangle 1196">
            <a:extLst>
              <a:ext uri="{FF2B5EF4-FFF2-40B4-BE49-F238E27FC236}">
                <a16:creationId xmlns:a16="http://schemas.microsoft.com/office/drawing/2014/main" id="{3A810DC2-B4DD-8811-0E02-87BA6A66D487}"/>
              </a:ext>
            </a:extLst>
          </p:cNvPr>
          <p:cNvSpPr/>
          <p:nvPr>
            <p:custDataLst>
              <p:tags r:id="rId47"/>
            </p:custDataLst>
          </p:nvPr>
        </p:nvSpPr>
        <p:spPr bwMode="gray">
          <a:xfrm>
            <a:off x="5321300" y="4127500"/>
            <a:ext cx="152400" cy="1095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BD935A0-B0E4-4868-9ED9-3A5BDF31119E}" type="datetime'''6''''''''''''%'''''''''''''''">
              <a:rPr lang="en-GB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6%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8A362824-2D9D-3DF4-61E4-6DAFCC038CC7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5310188" y="4352925"/>
            <a:ext cx="176213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7B4B083-934A-43AA-A97D-54D1AB5C3356}" type="datetime'''''''''23''''''''''''''''''A'''''''''''''">
              <a:rPr lang="en-GB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23A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>
        <p:nvSpPr>
          <p:cNvPr id="1408" name="Rectangle 1407">
            <a:extLst>
              <a:ext uri="{FF2B5EF4-FFF2-40B4-BE49-F238E27FC236}">
                <a16:creationId xmlns:a16="http://schemas.microsoft.com/office/drawing/2014/main" id="{BB1BCBAB-1893-F36B-9755-A7CB9CD0F60C}"/>
              </a:ext>
            </a:extLst>
          </p:cNvPr>
          <p:cNvSpPr/>
          <p:nvPr>
            <p:custDataLst>
              <p:tags r:id="rId49"/>
            </p:custDataLst>
          </p:nvPr>
        </p:nvSpPr>
        <p:spPr bwMode="gray">
          <a:xfrm>
            <a:off x="5664200" y="4021138"/>
            <a:ext cx="215900" cy="1095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en-US" sz="800" dirty="0">
                <a:solidFill>
                  <a:schemeClr val="tx1"/>
                </a:solidFill>
              </a:rPr>
              <a:t>(0.1)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198" name="Rectangle 1197">
            <a:extLst>
              <a:ext uri="{FF2B5EF4-FFF2-40B4-BE49-F238E27FC236}">
                <a16:creationId xmlns:a16="http://schemas.microsoft.com/office/drawing/2014/main" id="{5EC13D14-E003-9FA4-675E-8CEFB15D052F}"/>
              </a:ext>
            </a:extLst>
          </p:cNvPr>
          <p:cNvSpPr/>
          <p:nvPr>
            <p:custDataLst>
              <p:tags r:id="rId50"/>
            </p:custDataLst>
          </p:nvPr>
        </p:nvSpPr>
        <p:spPr bwMode="gray">
          <a:xfrm>
            <a:off x="5578475" y="4130675"/>
            <a:ext cx="212725" cy="1095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en-US" sz="800" dirty="0">
                <a:solidFill>
                  <a:schemeClr val="tx1"/>
                </a:solidFill>
              </a:rPr>
              <a:t>(3%)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4E783A5F-B7C1-2C40-C0D8-C9CC8FA18E4C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595938" y="4352925"/>
            <a:ext cx="176213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FDF300F-FEF1-4B27-95C1-A81495CCC75C}" type="datetime'''''''''''''''''''''''2''4''''''''''''''''''''''''A'''''''''''">
              <a:rPr lang="en-GB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24A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E266CC5A-D05A-179A-9945-C010CD7F7177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6170613" y="4352925"/>
            <a:ext cx="168275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2425AAD2-0E1D-471D-936B-0B803E71AE92}" type="datetime'2''''''''6''P'''''''''''''''">
              <a:rPr lang="en-GB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26P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57CB699F-4E19-C6FD-962F-F69B90661166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6457950" y="4352925"/>
            <a:ext cx="168275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D23C7C0-BC73-4947-B355-2239D90B3253}" type="datetime'''''''''''2''7''''''''''''''''''''''''''P'''''''''''''''">
              <a:rPr lang="en-GB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27P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 useBgFill="1">
        <p:nvSpPr>
          <p:cNvPr id="1202" name="Rectangle 1201">
            <a:extLst>
              <a:ext uri="{FF2B5EF4-FFF2-40B4-BE49-F238E27FC236}">
                <a16:creationId xmlns:a16="http://schemas.microsoft.com/office/drawing/2014/main" id="{B65941A2-E322-9690-2DBF-93E0CCBEC213}"/>
              </a:ext>
            </a:extLst>
          </p:cNvPr>
          <p:cNvSpPr/>
          <p:nvPr>
            <p:custDataLst>
              <p:tags r:id="rId54"/>
            </p:custDataLst>
          </p:nvPr>
        </p:nvSpPr>
        <p:spPr bwMode="gray">
          <a:xfrm>
            <a:off x="6727825" y="4014788"/>
            <a:ext cx="203200" cy="109538"/>
          </a:xfrm>
          <a:prstGeom prst="rect">
            <a:avLst/>
          </a:pr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201C0E90-C15E-4B58-B8B1-CC11F8A9CAA9}" type="datetime'''''''''''''21''''''''''''''''''''%'''">
              <a:rPr lang="en-GB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21%</a:t>
            </a:fld>
            <a:endParaRPr lang="en-GB" sz="800" dirty="0">
              <a:solidFill>
                <a:schemeClr val="tx1"/>
              </a:solidFill>
            </a:endParaRPr>
          </a:p>
        </p:txBody>
      </p:sp>
      <p:sp useBgFill="1">
        <p:nvSpPr>
          <p:cNvPr id="1200" name="Rectangle 1199">
            <a:extLst>
              <a:ext uri="{FF2B5EF4-FFF2-40B4-BE49-F238E27FC236}">
                <a16:creationId xmlns:a16="http://schemas.microsoft.com/office/drawing/2014/main" id="{E384BBBC-50C7-381E-0716-E4D7E67D2116}"/>
              </a:ext>
            </a:extLst>
          </p:cNvPr>
          <p:cNvSpPr/>
          <p:nvPr>
            <p:custDataLst>
              <p:tags r:id="rId55"/>
            </p:custDataLst>
          </p:nvPr>
        </p:nvSpPr>
        <p:spPr bwMode="gray">
          <a:xfrm>
            <a:off x="6154738" y="4090988"/>
            <a:ext cx="203200" cy="109538"/>
          </a:xfrm>
          <a:prstGeom prst="rect">
            <a:avLst/>
          </a:pr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6667AF0-AEDB-454C-AF4A-318BB0827090}" type="datetime'''''''1''''''''''''6''''''''''''''''''''''%'''''''''">
              <a:rPr lang="en-GB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16%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24DE8E61-3BAC-A1EE-7E6D-9C31A567843C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6743700" y="4352925"/>
            <a:ext cx="168275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541AE6A-2A5A-41B8-A861-127B4F6976CB}" type="datetime'''2''''''''''''''''8P'''''''''''''''''''''''''''''''''''''''''">
              <a:rPr lang="en-GB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28P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F0103D70-5F06-EECD-5D6F-9237695C9E47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5888038" y="4352925"/>
            <a:ext cx="163513" cy="1222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3A7FE1E-465F-4266-8C02-DFD242C052C2}" type="datetime'2''''''5''''''''''''''''E'''''''''''''''''''''''''''''">
              <a:rPr lang="en-GB" sz="800" b="1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25E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>
        <p:nvSpPr>
          <p:cNvPr id="1199" name="Rectangle 1198">
            <a:extLst>
              <a:ext uri="{FF2B5EF4-FFF2-40B4-BE49-F238E27FC236}">
                <a16:creationId xmlns:a16="http://schemas.microsoft.com/office/drawing/2014/main" id="{1F361337-C8F1-2DB1-8C5D-3B1A13CDEFB3}"/>
              </a:ext>
            </a:extLst>
          </p:cNvPr>
          <p:cNvSpPr/>
          <p:nvPr>
            <p:custDataLst>
              <p:tags r:id="rId58"/>
            </p:custDataLst>
          </p:nvPr>
        </p:nvSpPr>
        <p:spPr bwMode="gray">
          <a:xfrm>
            <a:off x="5868988" y="4095750"/>
            <a:ext cx="203200" cy="1095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81F9110-038C-481A-8F03-EB6AC20C97D4}" type="datetime'''''''''''''''''''''''''''''2''''''''''''''''''''5%'''">
              <a:rPr lang="en-GB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25%</a:t>
            </a:fld>
            <a:endParaRPr lang="en-GB" sz="800" dirty="0">
              <a:solidFill>
                <a:schemeClr val="tx1"/>
              </a:solidFill>
            </a:endParaRPr>
          </a:p>
        </p:txBody>
      </p:sp>
      <p:sp useBgFill="1">
        <p:nvSpPr>
          <p:cNvPr id="1434" name="Rectangle 1433">
            <a:extLst>
              <a:ext uri="{FF2B5EF4-FFF2-40B4-BE49-F238E27FC236}">
                <a16:creationId xmlns:a16="http://schemas.microsoft.com/office/drawing/2014/main" id="{A914EEE2-96BB-4058-8675-33FE0D62B8FF}"/>
              </a:ext>
            </a:extLst>
          </p:cNvPr>
          <p:cNvSpPr/>
          <p:nvPr>
            <p:custDataLst>
              <p:tags r:id="rId59"/>
            </p:custDataLst>
          </p:nvPr>
        </p:nvSpPr>
        <p:spPr bwMode="gray">
          <a:xfrm>
            <a:off x="6643688" y="4125913"/>
            <a:ext cx="155575" cy="109538"/>
          </a:xfrm>
          <a:prstGeom prst="rect">
            <a:avLst/>
          </a:pr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4C79FA3-D290-41A2-AAD2-F28B6ECF361C}" type="datetime'4''''''''''''.''0'''''''''''''''''''''''''''''''">
              <a:rPr lang="en-GB" altLang="en-US" sz="8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4.0</a:t>
            </a:fld>
            <a:endParaRPr lang="en-GB" sz="800">
              <a:solidFill>
                <a:schemeClr val="tx1"/>
              </a:solidFill>
            </a:endParaRPr>
          </a:p>
        </p:txBody>
      </p:sp>
      <p:sp useBgFill="1">
        <p:nvSpPr>
          <p:cNvPr id="1201" name="Rectangle 1200">
            <a:extLst>
              <a:ext uri="{FF2B5EF4-FFF2-40B4-BE49-F238E27FC236}">
                <a16:creationId xmlns:a16="http://schemas.microsoft.com/office/drawing/2014/main" id="{2F9F2D15-E2A0-3262-0314-EDFDC6F5EE65}"/>
              </a:ext>
            </a:extLst>
          </p:cNvPr>
          <p:cNvSpPr/>
          <p:nvPr>
            <p:custDataLst>
              <p:tags r:id="rId60"/>
            </p:custDataLst>
          </p:nvPr>
        </p:nvSpPr>
        <p:spPr bwMode="gray">
          <a:xfrm>
            <a:off x="6440488" y="4060825"/>
            <a:ext cx="203200" cy="109538"/>
          </a:xfrm>
          <a:prstGeom prst="rect">
            <a:avLst/>
          </a:pr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1756171-F370-4FE7-85A8-1E42ED657A49}" type="datetime'''''''''1''''8''''''''''''''''''''%'''''''">
              <a:rPr lang="en-GB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18%</a:t>
            </a:fld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09DCD0E0-AE67-C55E-9BCD-E41B50C99E93}"/>
              </a:ext>
            </a:extLst>
          </p:cNvPr>
          <p:cNvSpPr/>
          <p:nvPr>
            <p:custDataLst>
              <p:tags r:id="rId61"/>
            </p:custDataLst>
          </p:nvPr>
        </p:nvSpPr>
        <p:spPr bwMode="gray">
          <a:xfrm>
            <a:off x="5084763" y="4019550"/>
            <a:ext cx="155575" cy="109538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76EEECA-A824-4E8D-A09C-67022D97F989}" type="datetime'''''''''''''0.''''''''''1'''''''''''''''''''''''''''''''">
              <a:rPr lang="en-GB" altLang="en-US" sz="8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0.1</a:t>
            </a:fld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1320" name="Oval 1319">
            <a:extLst>
              <a:ext uri="{FF2B5EF4-FFF2-40B4-BE49-F238E27FC236}">
                <a16:creationId xmlns:a16="http://schemas.microsoft.com/office/drawing/2014/main" id="{516279A6-EE94-F329-EC82-930967C603D5}"/>
              </a:ext>
            </a:extLst>
          </p:cNvPr>
          <p:cNvSpPr/>
          <p:nvPr>
            <p:custDataLst>
              <p:tags r:id="rId62"/>
            </p:custDataLst>
          </p:nvPr>
        </p:nvSpPr>
        <p:spPr bwMode="auto">
          <a:xfrm>
            <a:off x="5327650" y="3743325"/>
            <a:ext cx="322263" cy="173038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856ECE9F-973A-4B42-B35C-B1871B1B6FF9}" type="datetime'''''''+''''''''''''3''7''''''''''''''''''''%'">
              <a:rPr lang="en-GB" altLang="en-US" sz="800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+37%</a:t>
            </a:fld>
            <a:endParaRPr lang="en-GB" sz="800" b="1" dirty="0">
              <a:solidFill>
                <a:schemeClr val="tx1"/>
              </a:solidFill>
            </a:endParaRPr>
          </a:p>
        </p:txBody>
      </p:sp>
      <p:sp>
        <p:nvSpPr>
          <p:cNvPr id="1333" name="Oval 1332">
            <a:extLst>
              <a:ext uri="{FF2B5EF4-FFF2-40B4-BE49-F238E27FC236}">
                <a16:creationId xmlns:a16="http://schemas.microsoft.com/office/drawing/2014/main" id="{A57702F2-5751-21F5-8DBE-59CABBD826B0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6186488" y="3538538"/>
            <a:ext cx="322263" cy="173038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8D2FD37-D20E-4576-9102-EEF066F34E83}" type="datetime'''''+''''''''''''59''%'''''''''">
              <a:rPr lang="en-GB" altLang="en-US" sz="800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+59%</a:t>
            </a:fld>
            <a:endParaRPr lang="en-GB" sz="800" b="1" dirty="0">
              <a:solidFill>
                <a:schemeClr val="tx1"/>
              </a:solidFill>
            </a:endParaRPr>
          </a:p>
        </p:txBody>
      </p:sp>
      <p:cxnSp>
        <p:nvCxnSpPr>
          <p:cNvPr id="1409" name="Gerader Verbinder 17">
            <a:extLst>
              <a:ext uri="{FF2B5EF4-FFF2-40B4-BE49-F238E27FC236}">
                <a16:creationId xmlns:a16="http://schemas.microsoft.com/office/drawing/2014/main" id="{57DA56E0-0F47-7CBD-D6E9-204F3EBDD0BD}"/>
              </a:ext>
            </a:extLst>
          </p:cNvPr>
          <p:cNvCxnSpPr>
            <a:cxnSpLocks/>
          </p:cNvCxnSpPr>
          <p:nvPr/>
        </p:nvCxnSpPr>
        <p:spPr bwMode="auto">
          <a:xfrm>
            <a:off x="7255650" y="3771259"/>
            <a:ext cx="14922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10" name="TextBox 1409">
            <a:extLst>
              <a:ext uri="{FF2B5EF4-FFF2-40B4-BE49-F238E27FC236}">
                <a16:creationId xmlns:a16="http://schemas.microsoft.com/office/drawing/2014/main" id="{55E006B6-6103-0576-37D9-73BE110ABD48}"/>
              </a:ext>
            </a:extLst>
          </p:cNvPr>
          <p:cNvSpPr txBox="1"/>
          <p:nvPr/>
        </p:nvSpPr>
        <p:spPr>
          <a:xfrm>
            <a:off x="7260432" y="3571234"/>
            <a:ext cx="1489869" cy="1698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 b="1" noProof="0" dirty="0">
                <a:solidFill>
                  <a:schemeClr val="tx2"/>
                </a:solidFill>
              </a:rPr>
              <a:t>Acquisition Strategy</a:t>
            </a:r>
          </a:p>
        </p:txBody>
      </p:sp>
      <p:cxnSp>
        <p:nvCxnSpPr>
          <p:cNvPr id="30" name="Gerader Verbinder 17">
            <a:extLst>
              <a:ext uri="{FF2B5EF4-FFF2-40B4-BE49-F238E27FC236}">
                <a16:creationId xmlns:a16="http://schemas.microsoft.com/office/drawing/2014/main" id="{4A14B837-1E09-2346-F6BE-A9A05D2338C0}"/>
              </a:ext>
            </a:extLst>
          </p:cNvPr>
          <p:cNvCxnSpPr>
            <a:cxnSpLocks/>
          </p:cNvCxnSpPr>
          <p:nvPr/>
        </p:nvCxnSpPr>
        <p:spPr bwMode="auto">
          <a:xfrm>
            <a:off x="7255650" y="2796538"/>
            <a:ext cx="14922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BFB60E3A-A357-6ED3-0F80-05BB2EF41E36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7265988" y="346710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A36C62-E7CE-F576-6301-2904B7B3215A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7267575" y="331470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0683C62-171C-DA9A-9F61-C61BD9133F1D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7265988" y="3165475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51C18BA-C116-E70E-94C9-6836166D947D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7267575" y="301625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94BF872-EB6C-60FF-E77C-3C4046B0F1BD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7265988" y="2867025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1C318BD-D89C-C408-EBDD-695395CDF488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8178800" y="331470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260C579-6973-466D-6EA9-5A36EDAFE18C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8178800" y="316706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CCEA023-20D7-75B7-C7EA-32CE1164BFB0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8178800" y="301625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55CCA83-B1AB-A365-7545-CF5FF3EC8445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8178800" y="2867025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GB" sz="8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351" name="Rectangle 1350">
            <a:extLst>
              <a:ext uri="{FF2B5EF4-FFF2-40B4-BE49-F238E27FC236}">
                <a16:creationId xmlns:a16="http://schemas.microsoft.com/office/drawing/2014/main" id="{B84A3530-595E-764E-1592-E74E9521E997}"/>
              </a:ext>
            </a:extLst>
          </p:cNvPr>
          <p:cNvSpPr/>
          <p:nvPr>
            <p:custDataLst>
              <p:tags r:id="rId73"/>
            </p:custDataLst>
          </p:nvPr>
        </p:nvSpPr>
        <p:spPr>
          <a:xfrm>
            <a:off x="7367587" y="2862263"/>
            <a:ext cx="777582" cy="82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EBITDA (EUR 1.0m)</a:t>
            </a:r>
          </a:p>
        </p:txBody>
      </p:sp>
      <p:sp>
        <p:nvSpPr>
          <p:cNvPr id="1353" name="Rectangle 1352">
            <a:extLst>
              <a:ext uri="{FF2B5EF4-FFF2-40B4-BE49-F238E27FC236}">
                <a16:creationId xmlns:a16="http://schemas.microsoft.com/office/drawing/2014/main" id="{091AFB1E-16B5-B8B7-777A-97BA61A0246B}"/>
              </a:ext>
            </a:extLst>
          </p:cNvPr>
          <p:cNvSpPr/>
          <p:nvPr>
            <p:custDataLst>
              <p:tags r:id="rId74"/>
            </p:custDataLst>
          </p:nvPr>
        </p:nvSpPr>
        <p:spPr>
          <a:xfrm>
            <a:off x="7367588" y="3011488"/>
            <a:ext cx="777582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EBITDA margin (10%)</a:t>
            </a:r>
          </a:p>
        </p:txBody>
      </p:sp>
      <p:sp>
        <p:nvSpPr>
          <p:cNvPr id="1354" name="Rectangle 1353">
            <a:extLst>
              <a:ext uri="{FF2B5EF4-FFF2-40B4-BE49-F238E27FC236}">
                <a16:creationId xmlns:a16="http://schemas.microsoft.com/office/drawing/2014/main" id="{5234A1C5-5DCD-AECB-8870-F69507339223}"/>
              </a:ext>
            </a:extLst>
          </p:cNvPr>
          <p:cNvSpPr/>
          <p:nvPr>
            <p:custDataLst>
              <p:tags r:id="rId75"/>
            </p:custDataLst>
          </p:nvPr>
        </p:nvSpPr>
        <p:spPr>
          <a:xfrm>
            <a:off x="7367588" y="3160713"/>
            <a:ext cx="777582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Digitization</a:t>
            </a:r>
            <a:r>
              <a:rPr lang="hu-HU" sz="700" dirty="0">
                <a:solidFill>
                  <a:schemeClr val="tx1"/>
                </a:solidFill>
              </a:rPr>
              <a:t> potential</a:t>
            </a:r>
            <a:endParaRPr lang="en-GB" sz="700" dirty="0">
              <a:solidFill>
                <a:schemeClr val="tx1"/>
              </a:solidFill>
            </a:endParaRPr>
          </a:p>
        </p:txBody>
      </p:sp>
      <p:sp>
        <p:nvSpPr>
          <p:cNvPr id="1355" name="Rectangle 1354">
            <a:extLst>
              <a:ext uri="{FF2B5EF4-FFF2-40B4-BE49-F238E27FC236}">
                <a16:creationId xmlns:a16="http://schemas.microsoft.com/office/drawing/2014/main" id="{615398AB-6D13-C771-7AF6-67BAE41E4C3E}"/>
              </a:ext>
            </a:extLst>
          </p:cNvPr>
          <p:cNvSpPr/>
          <p:nvPr>
            <p:custDataLst>
              <p:tags r:id="rId76"/>
            </p:custDataLst>
          </p:nvPr>
        </p:nvSpPr>
        <p:spPr>
          <a:xfrm>
            <a:off x="7367588" y="3308350"/>
            <a:ext cx="777582" cy="85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Buy &amp; Build</a:t>
            </a:r>
            <a:r>
              <a:rPr lang="hu-HU" sz="700" dirty="0">
                <a:solidFill>
                  <a:schemeClr val="tx1"/>
                </a:solidFill>
              </a:rPr>
              <a:t> potential</a:t>
            </a:r>
            <a:endParaRPr lang="en-GB" sz="700" dirty="0">
              <a:solidFill>
                <a:schemeClr val="tx1"/>
              </a:solidFill>
            </a:endParaRPr>
          </a:p>
        </p:txBody>
      </p:sp>
      <p:sp>
        <p:nvSpPr>
          <p:cNvPr id="1356" name="Rectangle 1355">
            <a:extLst>
              <a:ext uri="{FF2B5EF4-FFF2-40B4-BE49-F238E27FC236}">
                <a16:creationId xmlns:a16="http://schemas.microsoft.com/office/drawing/2014/main" id="{A31E3EA6-87E5-A3E3-ECD2-B1E7DFB3988A}"/>
              </a:ext>
            </a:extLst>
          </p:cNvPr>
          <p:cNvSpPr/>
          <p:nvPr>
            <p:custDataLst>
              <p:tags r:id="rId77"/>
            </p:custDataLst>
          </p:nvPr>
        </p:nvSpPr>
        <p:spPr>
          <a:xfrm>
            <a:off x="7367587" y="3460750"/>
            <a:ext cx="1201738" cy="87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hu-HU" sz="700" dirty="0">
                <a:solidFill>
                  <a:schemeClr val="tx1"/>
                </a:solidFill>
              </a:rPr>
              <a:t>Market</a:t>
            </a:r>
            <a:r>
              <a:rPr lang="en-GB" sz="700" dirty="0">
                <a:solidFill>
                  <a:schemeClr val="tx1"/>
                </a:solidFill>
              </a:rPr>
              <a:t> fragmentation</a:t>
            </a:r>
          </a:p>
        </p:txBody>
      </p:sp>
      <p:sp>
        <p:nvSpPr>
          <p:cNvPr id="1357" name="Rectangle 1356">
            <a:extLst>
              <a:ext uri="{FF2B5EF4-FFF2-40B4-BE49-F238E27FC236}">
                <a16:creationId xmlns:a16="http://schemas.microsoft.com/office/drawing/2014/main" id="{653A1FF3-B57A-D45D-8166-DC7B9F703EB4}"/>
              </a:ext>
            </a:extLst>
          </p:cNvPr>
          <p:cNvSpPr/>
          <p:nvPr>
            <p:custDataLst>
              <p:tags r:id="rId78"/>
            </p:custDataLst>
          </p:nvPr>
        </p:nvSpPr>
        <p:spPr>
          <a:xfrm>
            <a:off x="8277225" y="2862263"/>
            <a:ext cx="555625" cy="82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DACH</a:t>
            </a:r>
          </a:p>
        </p:txBody>
      </p:sp>
      <p:sp>
        <p:nvSpPr>
          <p:cNvPr id="1358" name="Rectangle 1357">
            <a:extLst>
              <a:ext uri="{FF2B5EF4-FFF2-40B4-BE49-F238E27FC236}">
                <a16:creationId xmlns:a16="http://schemas.microsoft.com/office/drawing/2014/main" id="{B53A7488-E23C-13AD-2CEA-EC2EC106E60B}"/>
              </a:ext>
            </a:extLst>
          </p:cNvPr>
          <p:cNvSpPr/>
          <p:nvPr>
            <p:custDataLst>
              <p:tags r:id="rId79"/>
            </p:custDataLst>
          </p:nvPr>
        </p:nvSpPr>
        <p:spPr>
          <a:xfrm>
            <a:off x="8277225" y="3011488"/>
            <a:ext cx="555625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Majority stake</a:t>
            </a:r>
          </a:p>
        </p:txBody>
      </p:sp>
      <p:sp>
        <p:nvSpPr>
          <p:cNvPr id="1359" name="Rectangle 1358">
            <a:extLst>
              <a:ext uri="{FF2B5EF4-FFF2-40B4-BE49-F238E27FC236}">
                <a16:creationId xmlns:a16="http://schemas.microsoft.com/office/drawing/2014/main" id="{6A3C5BA7-4DE0-6D31-3031-906AE41088F5}"/>
              </a:ext>
            </a:extLst>
          </p:cNvPr>
          <p:cNvSpPr/>
          <p:nvPr>
            <p:custDataLst>
              <p:tags r:id="rId80"/>
            </p:custDataLst>
          </p:nvPr>
        </p:nvSpPr>
        <p:spPr>
          <a:xfrm>
            <a:off x="8277225" y="3160713"/>
            <a:ext cx="555625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Asset light</a:t>
            </a:r>
          </a:p>
        </p:txBody>
      </p:sp>
      <p:sp>
        <p:nvSpPr>
          <p:cNvPr id="1360" name="Rectangle 1359">
            <a:extLst>
              <a:ext uri="{FF2B5EF4-FFF2-40B4-BE49-F238E27FC236}">
                <a16:creationId xmlns:a16="http://schemas.microsoft.com/office/drawing/2014/main" id="{ABD1326F-FC7E-0CAB-57CE-8ECCA0A6BC36}"/>
              </a:ext>
            </a:extLst>
          </p:cNvPr>
          <p:cNvSpPr/>
          <p:nvPr>
            <p:custDataLst>
              <p:tags r:id="rId81"/>
            </p:custDataLst>
          </p:nvPr>
        </p:nvSpPr>
        <p:spPr>
          <a:xfrm>
            <a:off x="8277225" y="3308350"/>
            <a:ext cx="555625" cy="85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ESG</a:t>
            </a:r>
          </a:p>
        </p:txBody>
      </p:sp>
      <p:sp>
        <p:nvSpPr>
          <p:cNvPr id="1363" name="Rectangle 1362">
            <a:extLst>
              <a:ext uri="{FF2B5EF4-FFF2-40B4-BE49-F238E27FC236}">
                <a16:creationId xmlns:a16="http://schemas.microsoft.com/office/drawing/2014/main" id="{1C3129D2-B7E3-D544-6098-BDD0CA46118D}"/>
              </a:ext>
            </a:extLst>
          </p:cNvPr>
          <p:cNvSpPr/>
          <p:nvPr>
            <p:custDataLst>
              <p:tags r:id="rId82"/>
            </p:custDataLst>
          </p:nvPr>
        </p:nvSpPr>
        <p:spPr bwMode="auto">
          <a:xfrm>
            <a:off x="7267575" y="383381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1364" name="Rectangle 1363">
            <a:extLst>
              <a:ext uri="{FF2B5EF4-FFF2-40B4-BE49-F238E27FC236}">
                <a16:creationId xmlns:a16="http://schemas.microsoft.com/office/drawing/2014/main" id="{EE43CB1D-9EBF-51F7-A87A-24085546B17F}"/>
              </a:ext>
            </a:extLst>
          </p:cNvPr>
          <p:cNvSpPr/>
          <p:nvPr>
            <p:custDataLst>
              <p:tags r:id="rId83"/>
            </p:custDataLst>
          </p:nvPr>
        </p:nvSpPr>
        <p:spPr bwMode="auto">
          <a:xfrm>
            <a:off x="8178800" y="383381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1365" name="Rectangle 1364">
            <a:extLst>
              <a:ext uri="{FF2B5EF4-FFF2-40B4-BE49-F238E27FC236}">
                <a16:creationId xmlns:a16="http://schemas.microsoft.com/office/drawing/2014/main" id="{BD496183-CF87-EBA0-F7DC-6B2C80690B41}"/>
              </a:ext>
            </a:extLst>
          </p:cNvPr>
          <p:cNvSpPr/>
          <p:nvPr>
            <p:custDataLst>
              <p:tags r:id="rId84"/>
            </p:custDataLst>
          </p:nvPr>
        </p:nvSpPr>
        <p:spPr>
          <a:xfrm>
            <a:off x="7367589" y="3827463"/>
            <a:ext cx="701675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Vertical</a:t>
            </a:r>
          </a:p>
        </p:txBody>
      </p:sp>
      <p:sp>
        <p:nvSpPr>
          <p:cNvPr id="1366" name="Rectangle 1365">
            <a:extLst>
              <a:ext uri="{FF2B5EF4-FFF2-40B4-BE49-F238E27FC236}">
                <a16:creationId xmlns:a16="http://schemas.microsoft.com/office/drawing/2014/main" id="{D9C6C656-ADB4-CE63-2DC8-FB00B96092A2}"/>
              </a:ext>
            </a:extLst>
          </p:cNvPr>
          <p:cNvSpPr/>
          <p:nvPr>
            <p:custDataLst>
              <p:tags r:id="rId85"/>
            </p:custDataLst>
          </p:nvPr>
        </p:nvSpPr>
        <p:spPr>
          <a:xfrm>
            <a:off x="8277225" y="3827463"/>
            <a:ext cx="555625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Horizontal</a:t>
            </a:r>
          </a:p>
        </p:txBody>
      </p:sp>
      <p:sp>
        <p:nvSpPr>
          <p:cNvPr id="1370" name="Rectangle 1369">
            <a:extLst>
              <a:ext uri="{FF2B5EF4-FFF2-40B4-BE49-F238E27FC236}">
                <a16:creationId xmlns:a16="http://schemas.microsoft.com/office/drawing/2014/main" id="{E3ABDCBF-FD5B-DA63-A208-3589C83A15C2}"/>
              </a:ext>
            </a:extLst>
          </p:cNvPr>
          <p:cNvSpPr/>
          <p:nvPr>
            <p:custDataLst>
              <p:tags r:id="rId86"/>
            </p:custDataLst>
          </p:nvPr>
        </p:nvSpPr>
        <p:spPr bwMode="auto">
          <a:xfrm>
            <a:off x="7265988" y="3957638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8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1378" name="Rectangle 1377">
            <a:extLst>
              <a:ext uri="{FF2B5EF4-FFF2-40B4-BE49-F238E27FC236}">
                <a16:creationId xmlns:a16="http://schemas.microsoft.com/office/drawing/2014/main" id="{A25894FD-5589-A74C-25C4-F93ABED3C1C8}"/>
              </a:ext>
            </a:extLst>
          </p:cNvPr>
          <p:cNvSpPr/>
          <p:nvPr>
            <p:custDataLst>
              <p:tags r:id="rId87"/>
            </p:custDataLst>
          </p:nvPr>
        </p:nvSpPr>
        <p:spPr>
          <a:xfrm>
            <a:off x="7367588" y="3952875"/>
            <a:ext cx="701675" cy="841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GB" sz="700" dirty="0">
                <a:solidFill>
                  <a:schemeClr val="tx1"/>
                </a:solidFill>
              </a:rPr>
              <a:t>Geographical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F25C50-CC74-9CF7-D319-4A015653A035}"/>
              </a:ext>
            </a:extLst>
          </p:cNvPr>
          <p:cNvSpPr/>
          <p:nvPr>
            <p:custDataLst>
              <p:tags r:id="rId88"/>
            </p:custDataLst>
          </p:nvPr>
        </p:nvSpPr>
        <p:spPr bwMode="auto">
          <a:xfrm>
            <a:off x="4159621" y="4734539"/>
            <a:ext cx="108000" cy="72000"/>
          </a:xfrm>
          <a:prstGeom prst="rect">
            <a:avLst/>
          </a:prstGeom>
          <a:solidFill>
            <a:srgbClr val="364D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00" noProof="0" dirty="0">
              <a:solidFill>
                <a:schemeClr val="tx1"/>
              </a:solidFill>
            </a:endParaRP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EB76DAAA-FA7D-2ED4-E9DB-28DAFF0DEBA6}"/>
              </a:ext>
            </a:extLst>
          </p:cNvPr>
          <p:cNvSpPr>
            <a:spLocks noGrp="1"/>
          </p:cNvSpPr>
          <p:nvPr>
            <p:custDataLst>
              <p:tags r:id="rId89"/>
            </p:custDataLst>
          </p:nvPr>
        </p:nvSpPr>
        <p:spPr bwMode="auto">
          <a:xfrm>
            <a:off x="4293919" y="4714502"/>
            <a:ext cx="257465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hu-HU" sz="600" noProof="0" dirty="0">
                <a:solidFill>
                  <a:srgbClr val="000000"/>
                </a:solidFill>
                <a:sym typeface="CKNord Book" panose="020B0604020101010102"/>
              </a:rPr>
              <a:t>Revenue</a:t>
            </a:r>
            <a:endParaRPr lang="en-GB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F794AD5C-3E08-0C2D-6FBA-2222C725D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648680"/>
              </p:ext>
            </p:extLst>
          </p:nvPr>
        </p:nvGraphicFramePr>
        <p:xfrm>
          <a:off x="4961467" y="4477578"/>
          <a:ext cx="1982148" cy="15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164">
                  <a:extLst>
                    <a:ext uri="{9D8B030D-6E8A-4147-A177-3AD203B41FA5}">
                      <a16:colId xmlns:a16="http://schemas.microsoft.com/office/drawing/2014/main" val="232548218"/>
                    </a:ext>
                  </a:extLst>
                </a:gridCol>
                <a:gridCol w="283164">
                  <a:extLst>
                    <a:ext uri="{9D8B030D-6E8A-4147-A177-3AD203B41FA5}">
                      <a16:colId xmlns:a16="http://schemas.microsoft.com/office/drawing/2014/main" val="376615012"/>
                    </a:ext>
                  </a:extLst>
                </a:gridCol>
                <a:gridCol w="283164">
                  <a:extLst>
                    <a:ext uri="{9D8B030D-6E8A-4147-A177-3AD203B41FA5}">
                      <a16:colId xmlns:a16="http://schemas.microsoft.com/office/drawing/2014/main" val="2944890319"/>
                    </a:ext>
                  </a:extLst>
                </a:gridCol>
                <a:gridCol w="283164">
                  <a:extLst>
                    <a:ext uri="{9D8B030D-6E8A-4147-A177-3AD203B41FA5}">
                      <a16:colId xmlns:a16="http://schemas.microsoft.com/office/drawing/2014/main" val="3719164646"/>
                    </a:ext>
                  </a:extLst>
                </a:gridCol>
                <a:gridCol w="283164">
                  <a:extLst>
                    <a:ext uri="{9D8B030D-6E8A-4147-A177-3AD203B41FA5}">
                      <a16:colId xmlns:a16="http://schemas.microsoft.com/office/drawing/2014/main" val="39257741"/>
                    </a:ext>
                  </a:extLst>
                </a:gridCol>
                <a:gridCol w="283164">
                  <a:extLst>
                    <a:ext uri="{9D8B030D-6E8A-4147-A177-3AD203B41FA5}">
                      <a16:colId xmlns:a16="http://schemas.microsoft.com/office/drawing/2014/main" val="3992533551"/>
                    </a:ext>
                  </a:extLst>
                </a:gridCol>
                <a:gridCol w="283164">
                  <a:extLst>
                    <a:ext uri="{9D8B030D-6E8A-4147-A177-3AD203B41FA5}">
                      <a16:colId xmlns:a16="http://schemas.microsoft.com/office/drawing/2014/main" val="2637130293"/>
                    </a:ext>
                  </a:extLst>
                </a:gridCol>
              </a:tblGrid>
              <a:tr h="156640">
                <a:tc>
                  <a:txBody>
                    <a:bodyPr/>
                    <a:lstStyle/>
                    <a:p>
                      <a:pPr algn="ctr"/>
                      <a:r>
                        <a:rPr lang="hu-HU" sz="800" b="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8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de-CH" sz="800" b="0" dirty="0">
                          <a:solidFill>
                            <a:schemeClr val="tx1"/>
                          </a:solidFill>
                        </a:rPr>
                        <a:t>9</a:t>
                      </a:r>
                      <a:r>
                        <a:rPr lang="hu-HU" sz="800" b="0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hu-HU" sz="8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CH" sz="8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hu-HU" sz="800" b="0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8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de-CH" sz="800" b="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hu-HU" sz="800" b="0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800" b="0" dirty="0">
                          <a:solidFill>
                            <a:schemeClr val="tx1"/>
                          </a:solidFill>
                        </a:rPr>
                        <a:t>13.6%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b="0" dirty="0">
                          <a:solidFill>
                            <a:schemeClr val="tx1"/>
                          </a:solidFill>
                        </a:rPr>
                        <a:t>9.0%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800" b="0" dirty="0">
                          <a:solidFill>
                            <a:schemeClr val="tx1"/>
                          </a:solidFill>
                        </a:rPr>
                        <a:t>6.5%</a:t>
                      </a:r>
                      <a:endParaRPr lang="en-GB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482604"/>
                  </a:ext>
                </a:extLst>
              </a:tr>
            </a:tbl>
          </a:graphicData>
        </a:graphic>
      </p:graphicFrame>
      <p:sp>
        <p:nvSpPr>
          <p:cNvPr id="1398" name="TextBox 1397">
            <a:extLst>
              <a:ext uri="{FF2B5EF4-FFF2-40B4-BE49-F238E27FC236}">
                <a16:creationId xmlns:a16="http://schemas.microsoft.com/office/drawing/2014/main" id="{CE8151A8-9737-4BA0-C752-6616FDA67EFD}"/>
              </a:ext>
            </a:extLst>
          </p:cNvPr>
          <p:cNvSpPr txBox="1"/>
          <p:nvPr/>
        </p:nvSpPr>
        <p:spPr>
          <a:xfrm>
            <a:off x="4735609" y="4494343"/>
            <a:ext cx="25472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800" dirty="0" err="1"/>
              <a:t>CapEx</a:t>
            </a:r>
            <a:endParaRPr lang="en-GB" sz="800" dirty="0"/>
          </a:p>
        </p:txBody>
      </p:sp>
      <p:pic>
        <p:nvPicPr>
          <p:cNvPr id="1438" name="Picture 1437">
            <a:extLst>
              <a:ext uri="{FF2B5EF4-FFF2-40B4-BE49-F238E27FC236}">
                <a16:creationId xmlns:a16="http://schemas.microsoft.com/office/drawing/2014/main" id="{FF058BDF-F6B4-6C56-C09C-B3DC9ED64810}"/>
              </a:ext>
            </a:extLst>
      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4767897" y="1596279"/>
            <a:ext cx="2209206" cy="314531"/>
          </a:xfrm>
          <a:prstGeom prst="rect">
            <a:avLst/>
          </a:prstGeom>
        </p:spPr>
      </p:pic>
      <p:sp>
        <p:nvSpPr>
          <p:cNvPr id="1461" name="Rectangle 1460">
            <a:extLst>
              <a:ext uri="{FF2B5EF4-FFF2-40B4-BE49-F238E27FC236}">
                <a16:creationId xmlns:a16="http://schemas.microsoft.com/office/drawing/2014/main" id="{53CD4990-849A-065A-C160-9A5BFB9F6910}"/>
              </a:ext>
            </a:extLst>
          </p:cNvPr>
          <p:cNvSpPr/>
          <p:nvPr/>
        </p:nvSpPr>
        <p:spPr>
          <a:xfrm>
            <a:off x="4774784" y="1606874"/>
            <a:ext cx="422161" cy="281781"/>
          </a:xfrm>
          <a:prstGeom prst="rect">
            <a:avLst/>
          </a:prstGeom>
          <a:solidFill>
            <a:srgbClr val="35BB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400" dirty="0"/>
              <a:t>Engineering, Product Development &amp; Sourcing of Components</a:t>
            </a:r>
            <a:endParaRPr lang="en-GB" sz="400" dirty="0"/>
          </a:p>
        </p:txBody>
      </p:sp>
      <p:sp>
        <p:nvSpPr>
          <p:cNvPr id="1462" name="Rectangle 1461">
            <a:extLst>
              <a:ext uri="{FF2B5EF4-FFF2-40B4-BE49-F238E27FC236}">
                <a16:creationId xmlns:a16="http://schemas.microsoft.com/office/drawing/2014/main" id="{33BBAF63-E85D-192B-27B1-3A0C860B62DC}"/>
              </a:ext>
            </a:extLst>
          </p:cNvPr>
          <p:cNvSpPr/>
          <p:nvPr/>
        </p:nvSpPr>
        <p:spPr>
          <a:xfrm>
            <a:off x="5269618" y="1606874"/>
            <a:ext cx="348894" cy="281781"/>
          </a:xfrm>
          <a:prstGeom prst="rect">
            <a:avLst/>
          </a:prstGeom>
          <a:solidFill>
            <a:srgbClr val="35BB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400" dirty="0"/>
              <a:t>Assembly of</a:t>
            </a:r>
          </a:p>
          <a:p>
            <a:pPr algn="ctr"/>
            <a:r>
              <a:rPr lang="en-US" sz="400" dirty="0"/>
              <a:t>Cartridges &amp;</a:t>
            </a:r>
          </a:p>
          <a:p>
            <a:pPr algn="ctr"/>
            <a:r>
              <a:rPr lang="en-US" sz="400" dirty="0"/>
              <a:t>Filter Systems</a:t>
            </a:r>
            <a:endParaRPr lang="en-GB" sz="400" dirty="0"/>
          </a:p>
        </p:txBody>
      </p:sp>
      <p:sp>
        <p:nvSpPr>
          <p:cNvPr id="1463" name="Rectangle 1462">
            <a:extLst>
              <a:ext uri="{FF2B5EF4-FFF2-40B4-BE49-F238E27FC236}">
                <a16:creationId xmlns:a16="http://schemas.microsoft.com/office/drawing/2014/main" id="{F2E43C30-4CD0-EED3-4567-674924F50BF7}"/>
              </a:ext>
            </a:extLst>
          </p:cNvPr>
          <p:cNvSpPr/>
          <p:nvPr/>
        </p:nvSpPr>
        <p:spPr>
          <a:xfrm>
            <a:off x="5714474" y="1606874"/>
            <a:ext cx="348894" cy="281781"/>
          </a:xfrm>
          <a:prstGeom prst="rect">
            <a:avLst/>
          </a:prstGeom>
          <a:solidFill>
            <a:srgbClr val="35BB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400" dirty="0"/>
              <a:t>Warehousing &amp;</a:t>
            </a:r>
          </a:p>
          <a:p>
            <a:pPr algn="ctr"/>
            <a:r>
              <a:rPr lang="en-US" sz="400" dirty="0"/>
              <a:t>Logistics</a:t>
            </a:r>
            <a:endParaRPr lang="en-GB" sz="400" dirty="0"/>
          </a:p>
        </p:txBody>
      </p:sp>
      <p:sp>
        <p:nvSpPr>
          <p:cNvPr id="1464" name="Rectangle 1463">
            <a:extLst>
              <a:ext uri="{FF2B5EF4-FFF2-40B4-BE49-F238E27FC236}">
                <a16:creationId xmlns:a16="http://schemas.microsoft.com/office/drawing/2014/main" id="{54C27F1A-B1B9-7740-42E6-AFBE7B81C695}"/>
              </a:ext>
            </a:extLst>
          </p:cNvPr>
          <p:cNvSpPr/>
          <p:nvPr/>
        </p:nvSpPr>
        <p:spPr>
          <a:xfrm>
            <a:off x="6139778" y="1606874"/>
            <a:ext cx="348894" cy="281781"/>
          </a:xfrm>
          <a:prstGeom prst="rect">
            <a:avLst/>
          </a:prstGeom>
          <a:solidFill>
            <a:srgbClr val="35BB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400" dirty="0"/>
              <a:t>Sales B2B / B2C &amp;</a:t>
            </a:r>
          </a:p>
          <a:p>
            <a:pPr algn="ctr"/>
            <a:r>
              <a:rPr lang="en-US" sz="400" dirty="0"/>
              <a:t>Installation</a:t>
            </a:r>
          </a:p>
          <a:p>
            <a:pPr algn="ctr"/>
            <a:r>
              <a:rPr lang="en-US" sz="400" dirty="0"/>
              <a:t>Management</a:t>
            </a:r>
            <a:endParaRPr lang="en-GB" sz="400" dirty="0"/>
          </a:p>
        </p:txBody>
      </p:sp>
      <p:sp>
        <p:nvSpPr>
          <p:cNvPr id="1465" name="Rectangle 1464">
            <a:extLst>
              <a:ext uri="{FF2B5EF4-FFF2-40B4-BE49-F238E27FC236}">
                <a16:creationId xmlns:a16="http://schemas.microsoft.com/office/drawing/2014/main" id="{61812B93-BFFF-EC1B-5655-889FE7DF9B2B}"/>
              </a:ext>
            </a:extLst>
          </p:cNvPr>
          <p:cNvSpPr/>
          <p:nvPr/>
        </p:nvSpPr>
        <p:spPr>
          <a:xfrm>
            <a:off x="6571546" y="1606874"/>
            <a:ext cx="348894" cy="281781"/>
          </a:xfrm>
          <a:prstGeom prst="rect">
            <a:avLst/>
          </a:prstGeom>
          <a:solidFill>
            <a:srgbClr val="35BB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400" dirty="0"/>
              <a:t>After Sales &amp; Service</a:t>
            </a:r>
            <a:endParaRPr lang="en-GB" sz="400" dirty="0"/>
          </a:p>
        </p:txBody>
      </p:sp>
      <p:pic>
        <p:nvPicPr>
          <p:cNvPr id="1466" name="Picture 2" descr="Kompetenznetzwerk Ernährungswirtschaft - Evodrop AG">
            <a:extLst>
              <a:ext uri="{FF2B5EF4-FFF2-40B4-BE49-F238E27FC236}">
                <a16:creationId xmlns:a16="http://schemas.microsoft.com/office/drawing/2014/main" id="{EC6D395C-91C8-36B5-A82D-A57DD518B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956" y="276481"/>
            <a:ext cx="843955" cy="183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A58BF99-E5AC-1AAE-641B-3FFB43FA1001}"/>
              </a:ext>
            </a:extLst>
      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771170" y="2059618"/>
            <a:ext cx="702530" cy="403009"/>
          </a:xfrm>
          <a:prstGeom prst="rect">
            <a:avLst/>
          </a:prstGeom>
          <a:ln>
            <a:solidFill>
              <a:srgbClr val="35BBE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6023075-B04B-1FE6-5238-5ADC6FCE521E}"/>
              </a:ext>
            </a:extLst>
      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5534057" y="2059618"/>
            <a:ext cx="685852" cy="406230"/>
          </a:xfrm>
          <a:prstGeom prst="rect">
            <a:avLst/>
          </a:prstGeom>
          <a:ln>
            <a:solidFill>
              <a:srgbClr val="35BBE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474A1D60-72EF-BE7D-F4C2-A9BBE8792C6F}"/>
              </a:ext>
            </a:extLst>
      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6280267" y="2059618"/>
            <a:ext cx="685852" cy="406230"/>
          </a:xfrm>
          <a:prstGeom prst="rect">
            <a:avLst/>
          </a:prstGeom>
          <a:ln>
            <a:solidFill>
              <a:srgbClr val="35BBE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A3CB3EC7-B71A-520D-D619-608E24396AA4}"/>
              </a:ext>
            </a:extLst>
          </p:cNvPr>
          <p:cNvSpPr/>
          <p:nvPr/>
        </p:nvSpPr>
        <p:spPr>
          <a:xfrm>
            <a:off x="4771170" y="1932364"/>
            <a:ext cx="702530" cy="226917"/>
          </a:xfrm>
          <a:prstGeom prst="rect">
            <a:avLst/>
          </a:prstGeom>
          <a:solidFill>
            <a:srgbClr val="35BBEF"/>
          </a:solidFill>
          <a:ln>
            <a:solidFill>
              <a:srgbClr val="35BBE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800" dirty="0"/>
              <a:t>Private </a:t>
            </a:r>
            <a:br>
              <a:rPr lang="en-GB" sz="800" dirty="0"/>
            </a:br>
            <a:r>
              <a:rPr lang="en-GB" sz="800" dirty="0"/>
              <a:t>households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4184C53-D8D7-A936-DDAF-696AE942D041}"/>
              </a:ext>
            </a:extLst>
          </p:cNvPr>
          <p:cNvSpPr/>
          <p:nvPr/>
        </p:nvSpPr>
        <p:spPr>
          <a:xfrm>
            <a:off x="5534025" y="1932364"/>
            <a:ext cx="688976" cy="226917"/>
          </a:xfrm>
          <a:prstGeom prst="rect">
            <a:avLst/>
          </a:prstGeom>
          <a:solidFill>
            <a:srgbClr val="35BBEF"/>
          </a:solidFill>
          <a:ln>
            <a:solidFill>
              <a:srgbClr val="35BBE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800" dirty="0"/>
              <a:t>Restaurants &amp; businesses</a:t>
            </a:r>
          </a:p>
        </p:txBody>
      </p:sp>
      <p:sp>
        <p:nvSpPr>
          <p:cNvPr id="1344" name="Rectangle 1343">
            <a:extLst>
              <a:ext uri="{FF2B5EF4-FFF2-40B4-BE49-F238E27FC236}">
                <a16:creationId xmlns:a16="http://schemas.microsoft.com/office/drawing/2014/main" id="{1EFDA092-61AF-67CA-5930-578644626E04}"/>
              </a:ext>
            </a:extLst>
          </p:cNvPr>
          <p:cNvSpPr/>
          <p:nvPr/>
        </p:nvSpPr>
        <p:spPr>
          <a:xfrm>
            <a:off x="6280266" y="1932364"/>
            <a:ext cx="682680" cy="226917"/>
          </a:xfrm>
          <a:prstGeom prst="rect">
            <a:avLst/>
          </a:prstGeom>
          <a:solidFill>
            <a:srgbClr val="35BBEF"/>
          </a:solidFill>
          <a:ln>
            <a:solidFill>
              <a:srgbClr val="35BBE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800" dirty="0"/>
              <a:t>Large </a:t>
            </a:r>
            <a:br>
              <a:rPr lang="en-GB" sz="800" dirty="0"/>
            </a:br>
            <a:r>
              <a:rPr lang="en-GB" sz="800" dirty="0"/>
              <a:t>properties</a:t>
            </a:r>
          </a:p>
        </p:txBody>
      </p:sp>
    </p:spTree>
    <p:extLst>
      <p:ext uri="{BB962C8B-B14F-4D97-AF65-F5344CB8AC3E}">
        <p14:creationId xmlns:p14="http://schemas.microsoft.com/office/powerpoint/2010/main" val="214718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F9B65E-0CC9-1072-9FEA-3498CF03E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7C0BD8-461E-550E-0720-1C1940742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B7838-183F-7170-82AD-F94881E26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D63766-C39E-5E11-EBB8-376AB1D1C9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3192F9-DD5D-F9DA-4F91-9D314F65BB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03627E-5120-44E9-E1A9-37876E7F3256}"/>
              </a:ext>
            </a:extLst>
          </p:cNvPr>
          <p:cNvSpPr txBox="1"/>
          <p:nvPr/>
        </p:nvSpPr>
        <p:spPr>
          <a:xfrm>
            <a:off x="225519" y="925145"/>
            <a:ext cx="816772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solidFill>
                  <a:srgbClr val="000000"/>
                </a:solidFill>
                <a:latin typeface="Calibri" panose="020F0502020204030204" pitchFamily="34" charset="0"/>
              </a:rPr>
              <a:t>EVODROP ist ein Schweizer Wasserfilterunternehmen mit preisgekrönten und branchenverändernden Produkten und Dienstleistungen für den B2B- und B2C-Markt.− Wasseraufbereitungsprodukte der nächsten Generation, die ausschließlich auf biologischer Technologie basieren und einen biobasierten Kalkschutz durch Apfelsäure kombinieren.</a:t>
            </a:r>
          </a:p>
          <a:p>
            <a:r>
              <a:rPr lang="de-DE" sz="800" dirty="0">
                <a:solidFill>
                  <a:srgbClr val="000000"/>
                </a:solidFill>
                <a:latin typeface="Calibri" panose="020F0502020204030204" pitchFamily="34" charset="0"/>
              </a:rPr>
              <a:t>− Patentierte Filtertechnologie ohne Stromverbrauch und/oder Abwasserproduktion </a:t>
            </a:r>
          </a:p>
          <a:p>
            <a:r>
              <a:rPr lang="de-DE" sz="800" dirty="0">
                <a:solidFill>
                  <a:srgbClr val="000000"/>
                </a:solidFill>
                <a:latin typeface="Calibri" panose="020F0502020204030204" pitchFamily="34" charset="0"/>
              </a:rPr>
              <a:t>– Branchenanerkennung: 12 Auszeichnungen in den Jahren 2024/2025.</a:t>
            </a:r>
          </a:p>
          <a:p>
            <a:r>
              <a:rPr lang="de-DE" sz="800" dirty="0">
                <a:solidFill>
                  <a:srgbClr val="000000"/>
                </a:solidFill>
                <a:latin typeface="Calibri" panose="020F0502020204030204" pitchFamily="34" charset="0"/>
              </a:rPr>
              <a:t>− Modulare und wartungsarme zertifizierte Systeme für eine einfache Installation.</a:t>
            </a:r>
          </a:p>
          <a:p>
            <a:r>
              <a:rPr lang="de-DE" sz="800" dirty="0">
                <a:solidFill>
                  <a:srgbClr val="000000"/>
                </a:solidFill>
                <a:latin typeface="Calibri" panose="020F0502020204030204" pitchFamily="34" charset="0"/>
              </a:rPr>
              <a:t>− Kartuschen-Abonnementservice, der hohe wiederkehrende Umsätze mit erheblichem Skalierungspotenzial generiert(14% wiederkehrende Umsätze im Jahr 2025)</a:t>
            </a:r>
          </a:p>
          <a:p>
            <a:r>
              <a:rPr lang="de-DE" sz="800" dirty="0">
                <a:solidFill>
                  <a:srgbClr val="000000"/>
                </a:solidFill>
                <a:latin typeface="Calibri" panose="020F0502020204030204" pitchFamily="34" charset="0"/>
              </a:rPr>
              <a:t>− Breites IP-Portfolio mit 8 Erfindungen und verschiedenen Technologielösungen für unterschiedliche Märkte und Anwendungen</a:t>
            </a:r>
          </a:p>
          <a:p>
            <a:r>
              <a:rPr lang="de-DE" sz="800" dirty="0">
                <a:solidFill>
                  <a:srgbClr val="000000"/>
                </a:solidFill>
                <a:latin typeface="Calibri" panose="020F0502020204030204" pitchFamily="34" charset="0"/>
              </a:rPr>
              <a:t>− Hybrides B2B2C-Modell: Verkauf über professionelle Händler und Installateure (B2B), eigene Kanäle(B2C), ergänzt durch OEM-Partner (B2B) </a:t>
            </a:r>
            <a:r>
              <a:rPr lang="de-DE" sz="800" b="1" dirty="0">
                <a:solidFill>
                  <a:srgbClr val="000000"/>
                </a:solidFill>
                <a:latin typeface="Calibri" panose="020F0502020204030204" pitchFamily="34" charset="0"/>
              </a:rPr>
              <a:t>30% B2C, 70% B2B</a:t>
            </a:r>
          </a:p>
          <a:p>
            <a:r>
              <a:rPr lang="de-DE" sz="800" dirty="0">
                <a:solidFill>
                  <a:srgbClr val="000000"/>
                </a:solidFill>
                <a:latin typeface="Calibri" panose="020F0502020204030204" pitchFamily="34" charset="0"/>
              </a:rPr>
              <a:t>− Signifikante Zugkraft: über 7.000 verkaufte Systeme, über 30.000 Nutzer für Produkte sowohl am Eintrittspunkt(Wasserleitung) als auch am Verwendungsort (Küche)</a:t>
            </a:r>
          </a:p>
          <a:p>
            <a:r>
              <a:rPr lang="de-DE" sz="800" dirty="0">
                <a:solidFill>
                  <a:srgbClr val="000000"/>
                </a:solidFill>
                <a:latin typeface="Calibri" panose="020F0502020204030204" pitchFamily="34" charset="0"/>
              </a:rPr>
              <a:t>− Kartusche basierend auf Schweizer Technologie und Ingenieurskunst, kombiniert mit der Produktion in einer </a:t>
            </a:r>
            <a:r>
              <a:rPr lang="de-DE" sz="800" dirty="0" err="1">
                <a:solidFill>
                  <a:srgbClr val="000000"/>
                </a:solidFill>
                <a:latin typeface="Calibri" panose="020F0502020204030204" pitchFamily="34" charset="0"/>
              </a:rPr>
              <a:t>eigenenTochtergesellschaft</a:t>
            </a:r>
            <a:r>
              <a:rPr lang="de-DE" sz="800" dirty="0">
                <a:solidFill>
                  <a:srgbClr val="000000"/>
                </a:solidFill>
                <a:latin typeface="Calibri" panose="020F0502020204030204" pitchFamily="34" charset="0"/>
              </a:rPr>
              <a:t> an einem kostengünstigeren Standort in Asien</a:t>
            </a:r>
          </a:p>
          <a:p>
            <a:r>
              <a:rPr lang="de-DE" sz="800" dirty="0">
                <a:solidFill>
                  <a:srgbClr val="000000"/>
                </a:solidFill>
                <a:latin typeface="Calibri" panose="020F0502020204030204" pitchFamily="34" charset="0"/>
              </a:rPr>
              <a:t>− Drei Gründer und ein hochkarätiger Beirat aus Branchenexperten, </a:t>
            </a:r>
            <a:r>
              <a:rPr lang="de-DE" sz="800" dirty="0" err="1">
                <a:solidFill>
                  <a:srgbClr val="000000"/>
                </a:solidFill>
                <a:latin typeface="Calibri" panose="020F0502020204030204" pitchFamily="34" charset="0"/>
              </a:rPr>
              <a:t>diein</a:t>
            </a:r>
            <a:r>
              <a:rPr lang="de-DE" sz="800" dirty="0">
                <a:solidFill>
                  <a:srgbClr val="000000"/>
                </a:solidFill>
                <a:latin typeface="Calibri" panose="020F0502020204030204" pitchFamily="34" charset="0"/>
              </a:rPr>
              <a:t> einem Team von 15 Mitarbeitern + Fertigungsressourcen in Asien </a:t>
            </a:r>
            <a:r>
              <a:rPr lang="de-DE" sz="800" dirty="0" err="1">
                <a:solidFill>
                  <a:srgbClr val="000000"/>
                </a:solidFill>
                <a:latin typeface="Calibri" panose="020F0502020204030204" pitchFamily="34" charset="0"/>
              </a:rPr>
              <a:t>zusammenarbeitenÜbersetzt</a:t>
            </a:r>
            <a:r>
              <a:rPr lang="de-DE" sz="800" dirty="0">
                <a:solidFill>
                  <a:srgbClr val="000000"/>
                </a:solidFill>
                <a:latin typeface="Calibri" panose="020F0502020204030204" pitchFamily="34" charset="0"/>
              </a:rPr>
              <a:t> mit DeepL.com (kostenlose Version)</a:t>
            </a:r>
            <a:endParaRPr lang="de-DE" sz="800" i="0" dirty="0">
              <a:solidFill>
                <a:srgbClr val="1C2F5D"/>
              </a:solidFill>
              <a:effectLst/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3744255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76B8D-9EC2-6AF6-8511-A3B7E716B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ECE2EB-B184-4F20-6B5F-1A9234E88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CONSTELLATION CAPITAL AG</a:t>
            </a:r>
            <a:endParaRPr lang="en-GB" dirty="0">
              <a:ea typeface="ＭＳ Ｐゴシック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A52C8B-643D-5AB3-D0B4-DAF67EFB0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ea typeface="ＭＳ Ｐゴシック"/>
              </a:rPr>
              <a:t>Strictly Private &amp; Confidential</a:t>
            </a:r>
            <a:endParaRPr lang="en-GB" dirty="0">
              <a:ea typeface="ＭＳ Ｐゴシック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A3E15-C360-4194-7DA9-5B2BD8BF8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709C5-D592-4784-B331-5CC8F77FAAFB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28FA5C-6413-6CF2-C2F1-7FCAACEB7F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546708-A909-B0B0-023D-3FDCF81CDF5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3220EC-585E-47EA-C3FA-F9C3DE1B5C0C}"/>
              </a:ext>
            </a:extLst>
          </p:cNvPr>
          <p:cNvSpPr txBox="1"/>
          <p:nvPr/>
        </p:nvSpPr>
        <p:spPr>
          <a:xfrm>
            <a:off x="225519" y="925145"/>
            <a:ext cx="816772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de-DE" sz="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EVEREST</a:t>
            </a:r>
            <a:r>
              <a:rPr lang="de-DE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weist das folgende Unternehmens-Profil auf:</a:t>
            </a:r>
            <a:endParaRPr lang="de-DE" sz="800" b="0" i="0" dirty="0">
              <a:solidFill>
                <a:srgbClr val="1C2F5D"/>
              </a:solidFill>
              <a:effectLst/>
              <a:latin typeface="Manrope"/>
            </a:endParaRPr>
          </a:p>
          <a:p>
            <a:pPr algn="l">
              <a:buNone/>
            </a:pPr>
            <a:r>
              <a:rPr lang="de-DE" sz="800" b="0" i="0" dirty="0">
                <a:solidFill>
                  <a:srgbClr val="1C2F5D"/>
                </a:solidFill>
                <a:effectLst/>
                <a:latin typeface="Manrope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DE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Proprietäre, patentgeschützte Technologie in den Bereichen kalkfreie Hausinstallation und Hochleistungsfiltration – Lösungen sowohl für Wasser-Hauptzuleitung und für Küchen-</a:t>
            </a:r>
            <a:r>
              <a:rPr lang="de-DE" sz="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Wasserhahnen</a:t>
            </a:r>
            <a:endParaRPr lang="de-DE" sz="8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sz="800" dirty="0">
                <a:solidFill>
                  <a:srgbClr val="000000"/>
                </a:solidFill>
                <a:latin typeface="Manrope"/>
              </a:rPr>
              <a:t>Wasseraufbereitungsprodukte, die ausschließlich auf biologischer Technologie basieren –Kombination aus biobasiertem Kalkschutz durch Apfelsäure</a:t>
            </a:r>
            <a:endParaRPr lang="de-DE" sz="800" b="0" i="0" dirty="0">
              <a:solidFill>
                <a:srgbClr val="000000"/>
              </a:solidFill>
              <a:effectLst/>
              <a:latin typeface="Manrop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de-DE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Geschäftsmodell kombiniert Hardware-Verkauf mit margenstarkem und planbaren Service-Geschäft (Anteil wiederkehrende Umsätze 2025 von 14% und wachsende installierte Basis)</a:t>
            </a:r>
            <a:endParaRPr lang="de-DE" sz="800" b="0" i="0" dirty="0">
              <a:solidFill>
                <a:srgbClr val="000000"/>
              </a:solidFill>
              <a:effectLst/>
              <a:latin typeface="Manrop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de-DE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Hybrides B2B2C-Vertriebsmodell mit professionellen Installateuren, OEM-Partnern sowie Endkunden ohne Abhängigkeit von einem einzelnen Vertriebskanal</a:t>
            </a:r>
            <a:endParaRPr lang="de-DE" sz="800" b="0" i="0" dirty="0">
              <a:solidFill>
                <a:srgbClr val="000000"/>
              </a:solidFill>
              <a:effectLst/>
              <a:latin typeface="Manrop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de-DE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Mit dem Aufbau einer eigenen Produktionsstruktur in Asien entsteht eine skalierbare Wertschöpfungskette mit voller Kontrolle über IP, Qualität und Marge</a:t>
            </a:r>
            <a:endParaRPr lang="de-DE" sz="800" b="0" i="0" dirty="0">
              <a:solidFill>
                <a:srgbClr val="000000"/>
              </a:solidFill>
              <a:effectLst/>
              <a:latin typeface="Manrop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de-DE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Adressiert einen globalen Markt von über CHF 100 Mrd. mit einer klar differenzierten Lösung, die ohne Salz, ohne Stromverbrauch und ohne Abwasserproduktion auskommt</a:t>
            </a:r>
            <a:endParaRPr lang="de-DE" sz="800" b="0" i="0" dirty="0">
              <a:solidFill>
                <a:srgbClr val="000000"/>
              </a:solidFill>
              <a:effectLst/>
              <a:latin typeface="Manrop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de-DE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Wachstumsfinanzierung dient der beschleunigten Skalierung, insbesondere der Internationalisierung, Produktionsausbau, Zertifizierungen und dem Ausbau der wiederkehrenden Erlösbasis</a:t>
            </a:r>
            <a:endParaRPr lang="de-DE" sz="800" b="0" i="0" dirty="0">
              <a:solidFill>
                <a:srgbClr val="000000"/>
              </a:solidFill>
              <a:effectLst/>
              <a:latin typeface="Manrop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de-DE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3 Gründer / Eigentümer als erfahrenes Management-Team mit insgesamt 15 Mitarbeitenden</a:t>
            </a:r>
            <a:endParaRPr lang="de-DE" sz="800" b="0" i="0" dirty="0">
              <a:solidFill>
                <a:srgbClr val="000000"/>
              </a:solidFill>
              <a:effectLst/>
              <a:latin typeface="Manrop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de-DE" sz="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Kennzahlen 2025: CHF 7.8M Nettoumsatz, 55% Bruttomarge, 24% EBITDA-Marge</a:t>
            </a:r>
            <a:endParaRPr lang="de-DE" sz="800" b="0" i="0" dirty="0">
              <a:solidFill>
                <a:srgbClr val="000000"/>
              </a:solidFill>
              <a:effectLst/>
              <a:latin typeface="Manrope"/>
            </a:endParaRPr>
          </a:p>
          <a:p>
            <a:pPr algn="l">
              <a:buNone/>
            </a:pPr>
            <a:r>
              <a:rPr lang="de-DE" sz="800" b="0" i="0" dirty="0">
                <a:solidFill>
                  <a:srgbClr val="1C2F5D"/>
                </a:solidFill>
                <a:effectLst/>
                <a:latin typeface="Manrope"/>
              </a:rPr>
              <a:t> </a:t>
            </a:r>
          </a:p>
          <a:p>
            <a:pPr algn="l">
              <a:buNone/>
            </a:pPr>
            <a:r>
              <a:rPr lang="de-DE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Die Eigentümer streben grundsätzlich ein </a:t>
            </a:r>
            <a:r>
              <a:rPr lang="de-DE" sz="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Minderheits-Investment</a:t>
            </a:r>
            <a:r>
              <a:rPr lang="de-DE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an – sind aber bei einer interessanten Bewertung auch </a:t>
            </a:r>
            <a:r>
              <a:rPr lang="de-DE" sz="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offen für eine Mehrheitsbeteiligung bis zu 51%</a:t>
            </a:r>
            <a:r>
              <a:rPr lang="de-DE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in einer Kombination von Kapitalerhöhung und Aktienverkauf. In jedem Fall möchten die Gründer das Unternehmen weiter durch die nächste Phase führen.</a:t>
            </a:r>
            <a:endParaRPr lang="de-DE" sz="800" b="0" i="0" dirty="0">
              <a:solidFill>
                <a:srgbClr val="1C2F5D"/>
              </a:solidFill>
              <a:effectLst/>
              <a:latin typeface="Manrope"/>
            </a:endParaRPr>
          </a:p>
          <a:p>
            <a:pPr algn="l">
              <a:buNone/>
            </a:pPr>
            <a:r>
              <a:rPr lang="de-DE" sz="800" b="0" i="0" dirty="0">
                <a:solidFill>
                  <a:srgbClr val="1C2F5D"/>
                </a:solidFill>
                <a:effectLst/>
                <a:latin typeface="Manrope"/>
              </a:rPr>
              <a:t> </a:t>
            </a:r>
          </a:p>
          <a:p>
            <a:pPr algn="l">
              <a:buNone/>
            </a:pPr>
            <a:r>
              <a:rPr lang="de-DE" sz="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Warum JETZT?</a:t>
            </a:r>
            <a:endParaRPr lang="de-DE" sz="800" b="0" i="0" dirty="0">
              <a:solidFill>
                <a:srgbClr val="1C2F5D"/>
              </a:solidFill>
              <a:effectLst/>
              <a:latin typeface="Manrope"/>
            </a:endParaRPr>
          </a:p>
          <a:p>
            <a:pPr algn="l">
              <a:buNone/>
            </a:pPr>
            <a:r>
              <a:rPr lang="de-DE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Marktdruck durch Mikroverunreinigungen, PFAS und steigende regulatorische Anforderungen / Substitution veralteter Ionenaustauscher-Systeme durch nachhaltige Alternativen / Skalierungsreife Organisation mit validiertem Go-</a:t>
            </a:r>
            <a:r>
              <a:rPr lang="de-DE" sz="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</a:t>
            </a:r>
            <a:r>
              <a:rPr lang="de-DE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-Market / Sichtbare Pipeline im OEM- und Immobilienbereich / Klare Margenexpansion durch Produktions- und Volumenhebel</a:t>
            </a:r>
            <a:endParaRPr lang="de-DE" sz="800" b="0" i="0" dirty="0">
              <a:solidFill>
                <a:srgbClr val="1C2F5D"/>
              </a:solidFill>
              <a:effectLst/>
              <a:latin typeface="Manrope"/>
            </a:endParaRPr>
          </a:p>
          <a:p>
            <a:pPr algn="l">
              <a:buNone/>
            </a:pPr>
            <a:r>
              <a:rPr lang="de-DE" sz="800" b="0" i="0" dirty="0">
                <a:solidFill>
                  <a:srgbClr val="1C2F5D"/>
                </a:solidFill>
                <a:effectLst/>
                <a:latin typeface="Manrope"/>
              </a:rPr>
              <a:t> </a:t>
            </a:r>
          </a:p>
          <a:p>
            <a:pPr algn="l">
              <a:buNone/>
            </a:pPr>
            <a:r>
              <a:rPr lang="de-DE" sz="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Warum EVEREST?</a:t>
            </a:r>
            <a:endParaRPr lang="de-DE" sz="800" b="0" i="0" dirty="0">
              <a:solidFill>
                <a:srgbClr val="1C2F5D"/>
              </a:solidFill>
              <a:effectLst/>
              <a:latin typeface="Manrope"/>
            </a:endParaRPr>
          </a:p>
          <a:p>
            <a:pPr algn="l">
              <a:buNone/>
            </a:pPr>
            <a:r>
              <a:rPr lang="de-DE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Disruptive und eigene Technologien welche patentiert und/oder zum Patent angemeldet sind / Kombination aus Kalkelimination, Nanofiltration und modularer Plattform / 7’000+ installierte Systeme, 30’000+ Nutzer / Advisory Board mit internationaler Wasserexpertise / Profitabel &amp; stark wachsend</a:t>
            </a:r>
            <a:endParaRPr lang="de-DE" sz="800" b="0" i="0" dirty="0">
              <a:solidFill>
                <a:srgbClr val="1C2F5D"/>
              </a:solidFill>
              <a:effectLst/>
              <a:latin typeface="Manrope"/>
            </a:endParaRPr>
          </a:p>
          <a:p>
            <a:pPr algn="l">
              <a:buNone/>
            </a:pPr>
            <a:r>
              <a:rPr lang="de-DE" sz="800" b="0" i="0" dirty="0">
                <a:solidFill>
                  <a:srgbClr val="1C2F5D"/>
                </a:solidFill>
                <a:effectLst/>
                <a:latin typeface="Manrope"/>
              </a:rPr>
              <a:t> </a:t>
            </a:r>
          </a:p>
          <a:p>
            <a:pPr algn="l">
              <a:buNone/>
            </a:pPr>
            <a:r>
              <a:rPr lang="de-DE" sz="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Warum SKALIERBAR?</a:t>
            </a:r>
            <a:endParaRPr lang="de-DE" sz="800" b="0" i="0" dirty="0">
              <a:solidFill>
                <a:srgbClr val="1C2F5D"/>
              </a:solidFill>
              <a:effectLst/>
              <a:latin typeface="Manrope"/>
            </a:endParaRPr>
          </a:p>
          <a:p>
            <a:pPr algn="l">
              <a:buNone/>
            </a:pPr>
            <a:r>
              <a:rPr lang="de-DE" sz="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Cartridge</a:t>
            </a:r>
            <a:r>
              <a:rPr lang="de-DE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-Modell mit planbarem Lifetime-Value / Produktionskontrolle bei gleichzeitig kosteneffizienter Struktur / Erweiterbare Plattform (OEM, Coffee, Real Estate, </a:t>
            </a:r>
            <a:r>
              <a:rPr lang="de-DE" sz="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Longevity</a:t>
            </a:r>
            <a:r>
              <a:rPr lang="de-DE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Industrial) / Hoher operativer </a:t>
            </a:r>
            <a:r>
              <a:rPr lang="de-DE" sz="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Leverage</a:t>
            </a:r>
            <a:r>
              <a:rPr lang="de-DE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bei steigender Installationsbasis</a:t>
            </a:r>
            <a:endParaRPr lang="de-DE" sz="800" b="0" i="0" dirty="0">
              <a:solidFill>
                <a:srgbClr val="1C2F5D"/>
              </a:solidFill>
              <a:effectLst/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42430125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594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’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′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’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1 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3&quot;&gt;&lt;elem m_fUsage=&quot;4.91813596403010055980E+00&quot;&gt;&lt;m_msothmcolidx val=&quot;0&quot;/&gt;&lt;m_rgb r=&quot;00&quot; g=&quot;B0&quot; b=&quot;50&quot;/&gt;&lt;/elem&gt;&lt;elem m_fUsage=&quot;2.19510000000000005116E+00&quot;&gt;&lt;m_msothmcolidx val=&quot;0&quot;/&gt;&lt;m_rgb r=&quot;70&quot; g=&quot;30&quot; b=&quot;A0&quot;/&gt;&lt;/elem&gt;&lt;elem m_fUsage=&quot;7.36098929100000076708E-01&quot;&gt;&lt;m_msothmcolidx val=&quot;0&quot;/&gt;&lt;m_rgb r=&quot;F5&quot; g=&quot;62&quot; b=&quot;1B&quot;/&gt;&lt;/elem&gt;&lt;elem m_fUsage=&quot;6.88845639477159155106E-01&quot;&gt;&lt;m_msothmcolidx val=&quot;0&quot;/&gt;&lt;m_rgb r=&quot;BC&quot; g=&quot;CC&quot; b=&quot;EA&quot;/&gt;&lt;/elem&gt;&lt;elem m_fUsage=&quot;4.78296900000000135833E-01&quot;&gt;&lt;m_msothmcolidx val=&quot;0&quot;/&gt;&lt;m_rgb r=&quot;44&quot; g=&quot;62&quot; b=&quot;EE&quot;/&gt;&lt;/elem&gt;&lt;elem m_fUsage=&quot;4.49566585619359360138E-01&quot;&gt;&lt;m_msothmcolidx val=&quot;0&quot;/&gt;&lt;m_rgb r=&quot;B9&quot; g=&quot;DF&quot; b=&quot;EE&quot;/&gt;&lt;/elem&gt;&lt;elem m_fUsage=&quot;2.18502814219955432407E-01&quot;&gt;&lt;m_msothmcolidx val=&quot;0&quot;/&gt;&lt;m_rgb r=&quot;25&quot; g=&quot;3F&quot; b=&quot;6A&quot;/&gt;&lt;/elem&gt;&lt;elem m_fUsage=&quot;9.47961491495192820622E-02&quot;&gt;&lt;m_msothmcolidx val=&quot;0&quot;/&gt;&lt;m_rgb r=&quot;C4&quot; g=&quot;DB&quot; b=&quot;F0&quot;/&gt;&lt;/elem&gt;&lt;elem m_fUsage=&quot;8.49031351270367468098E-02&quot;&gt;&lt;m_msothmcolidx val=&quot;0&quot;/&gt;&lt;m_rgb r=&quot;DC&quot; g=&quot;EE&quot; b=&quot;F5&quot;/&gt;&lt;/elem&gt;&lt;elem m_fUsage=&quot;4.53142882543358035963E-02&quot;&gt;&lt;m_msothmcolidx val=&quot;0&quot;/&gt;&lt;m_rgb r=&quot;41&quot; g=&quot;41&quot; b=&quot;41&quot;/&gt;&lt;/elem&gt;&lt;elem m_fUsage=&quot;1.33027946472911492298E-02&quot;&gt;&lt;m_msothmcolidx val=&quot;0&quot;/&gt;&lt;m_rgb r=&quot;F4&quot; g=&quot;F3&quot; b=&quot;E8&quot;/&gt;&lt;/elem&gt;&lt;elem m_fUsage=&quot;1.07752636643058292976E-02&quot;&gt;&lt;m_msothmcolidx val=&quot;0&quot;/&gt;&lt;m_rgb r=&quot;EF&quot; g=&quot;ED&quot; b=&quot;DA&quot;/&gt;&lt;/elem&gt;&lt;elem m_fUsage=&quot;9.69773729787524844947E-03&quot;&gt;&lt;m_msothmcolidx val=&quot;0&quot;/&gt;&lt;m_rgb r=&quot;D1&quot; g=&quot;EA&quot; b=&quot;F3&quot;/&gt;&lt;/elem&gt;&lt;elem m_fUsage=&quot;8.72796356808772273717E-03&quot;&gt;&lt;m_msothmcolidx val=&quot;0&quot;/&gt;&lt;m_rgb r=&quot;E8&quot; g=&quot;E4&quot; b=&quot;CA&quot;/&gt;&lt;/elem&gt;&lt;elem m_fUsage=&quot;8.46534434697576373963E-03&quot;&gt;&lt;m_msothmcolidx val=&quot;0&quot;/&gt;&lt;m_rgb r=&quot;59&quot; g=&quot;59&quot; b=&quot;59&quot;/&gt;&lt;/elem&gt;&lt;elem m_fUsage=&quot;4.63839768658810824853E-03&quot;&gt;&lt;m_msothmcolidx val=&quot;0&quot;/&gt;&lt;m_rgb r=&quot;D8&quot; g=&quot;E7&quot; b=&quot;F5&quot;/&gt;&lt;/elem&gt;&lt;elem m_fUsage=&quot;3.79368841093047142951E-03&quot;&gt;&lt;m_msothmcolidx val=&quot;0&quot;/&gt;&lt;m_rgb r=&quot;50&quot; g=&quot;25&quot; b=&quot;FA&quot;/&gt;&lt;/elem&gt;&lt;elem m_fUsage=&quot;3.75710212613636785478E-03&quot;&gt;&lt;m_msothmcolidx val=&quot;0&quot;/&gt;&lt;m_rgb r=&quot;AC&quot; g=&quot;F4&quot; b=&quot;FB&quot;/&gt;&lt;/elem&gt;&lt;elem m_fUsage=&quot;3.38139191352273020194E-03&quot;&gt;&lt;m_msothmcolidx val=&quot;0&quot;/&gt;&lt;m_rgb r=&quot;EB&quot; g=&quot;F3&quot; b=&quot;FA&quot;/&gt;&lt;/elem&gt;&lt;elem m_fUsage=&quot;3.04325272217045731185E-03&quot;&gt;&lt;m_msothmcolidx val=&quot;0&quot;/&gt;&lt;m_rgb r=&quot;AC&quot; g=&quot;A8&quot; b=&quot;A8&quot;/&gt;&lt;/elem&gt;&lt;elem m_fUsage=&quot;2.46503470495807114685E-03&quot;&gt;&lt;m_msothmcolidx val=&quot;0&quot;/&gt;&lt;m_rgb r=&quot;69&quot; g=&quot;88&quot; b=&quot;B6&quot;/&gt;&lt;/elem&gt;&lt;elem m_fUsage=&quot;2.21853123446226355511E-03&quot;&gt;&lt;m_msothmcolidx val=&quot;0&quot;/&gt;&lt;m_rgb r=&quot;17&quot; g=&quot;2C&quot; b=&quot;4A&quot;/&gt;&lt;/elem&gt;&lt;elem m_fUsage=&quot;1.61730926992299014339E-03&quot;&gt;&lt;m_msothmcolidx val=&quot;0&quot;/&gt;&lt;m_rgb r=&quot;FE&quot; g=&quot;CC&quot; b=&quot;56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tmSplye2SuxMuDfYmp1V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dqyzt8PV1OTFEAyd96MJ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CfYZVPZIhLEAKF0UJY49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CfYZVPZIhLEAKF0UJY49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  <p:tag name="THINKCELLSHAPEDONOTDELETE" val="pfDYr2t8jNIypJBq4bknX4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Q_0oEwPb0EokOAkChUe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MmU0dXCc9tAlOVXc2J.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jm06wZVgw.7eP7ysSST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TXoo5pb4XaC8s39ie4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nWkyHFR39HbAAx3gXKK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0M9nolBmLv879M3gU3X0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jZjXS3MRw.d21ANPuFz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fjqgQCl2oUgFuiC8_AF1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S4230g.BlsfwiuIXM40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ApxCFDqrfhMG5V0K3NGa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bj1nYGjFaQ45SCoUsdzP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elo3co9.BShPXriX.aF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CM1czAANo..mXKXshgKz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hoPg_il_qVA1.RSbxbc6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wQOrcobVP3IWj1QjJCBww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25Uz9Vo8mdnLkVipfQNh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Zsys01yS1svRFPT1H3e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9QeP50dlptPHo1T5ZozY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cBs3T9lXyK6l7o1LgQf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qt8Z9ovTdal9Zr3xUk_D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Co2fRDUl4CfGa7oYyQk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e0uE2PVi5bLQC99TMMpE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c3nJmQJZJj5SvgizlTBZ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.6waqCArq2AEdfbnRKQ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q4L38QK0MRJL0kjxT2X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4L1hrnuyjkAaA1utiF5m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.wNhLVeizXUFX2WFkpd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fXmE5YF0WqxOmynowfNN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7KlYFc5NFFMXZf49TU3V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R7O1x_B7V.jchF2_agQy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SZ3inCVvBnAtx_0x634W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ihVt7l570ED2NC0qf1d9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oZZVBLMVHsTLzVerafU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8ymrHV5.4XR2E7QFYmC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WB61xsgpmedxXVp4ALKW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r_J3SkED16.zVJ9CYWwO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eQAGEo1lXatEsqnnmrNz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BbDJM4Tr0dEkwSqAds5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Kqf_A2U4kldoZ.x9T0Lv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WaD3BTxDfxGTzB4UVg2b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eng_7kAnxuQzeI0O_PnP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2feBZzdU.xVJfNvKxHM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vz5CSgGuWxT5KMdRVAmP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Cz1IV7gepf7sMekpyDLO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kBE_DOEnZxb.Lc9L3PBx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FoqiINGPf9gQy43dA.rB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0EqsKCaficwTxbfLgiaP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EOJUb3kFk9oRD2qVdOm_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f_lZieJNH9ewDxuxTlx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5rYFTD39e_Emy_AqCtn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2i6urI0WpwtWLyeypra5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UDizBwou6FaaTdC.wOP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1XZs2vyiPDIDFjPD4cFO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UlmCEF5ogDoyv7GAJ2nA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vK7SR5lskVWXZ0L3.JOC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jHv88tkUrm9DdEIzSns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9suJRTpz.BBNTv4hp9Y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SXar4jx2z4Gm1df8.Yka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uLjwOL9lI.LGikRVcT0c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7TPEhLoJa1NGN_4k3x.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LIuY85I0LZtqSv2vNsx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magkM0pMOxOpRKhZB8dWQ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4rjK2pMFPjpyc6VmMYZVQ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3X75uqju6ZlUUXe3XTHK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xxQ.wZ5dMEIb9k8DAGX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3HmWlQoj98YrH9IZ99W7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562Zc_0YAI9Ns7f72GZp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V3OlY51L0cDp7.8PNuFM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HnexWDeCaoW2ExnbqfyC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i0pi2CMIAgymG1PdMeBo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PP.adES.2vEiaGyM3nNh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ULuixfS8gAS3Uc9Sxvj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RQDMgkTc5iPfm7xshH0z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EVC3BrXsHzz_5wxaM3DM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HAf6_cHsWnGy3spbgmqw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MK71JMBj0QzIpRljgfzW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Q_0oEwPb0EokOAkChUeA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s70UqnnU3emEKvAaUJBNw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gWjbFysJBjhkYXwIutQ9g"/>
</p:tagLst>
</file>

<file path=ppt/theme/theme1.xml><?xml version="1.0" encoding="utf-8"?>
<a:theme xmlns:a="http://schemas.openxmlformats.org/drawingml/2006/main" name="2_Master Constellation wide">
  <a:themeElements>
    <a:clrScheme name="CONSTELLATION">
      <a:dk1>
        <a:srgbClr val="000000"/>
      </a:dk1>
      <a:lt1>
        <a:srgbClr val="FFFFFF"/>
      </a:lt1>
      <a:dk2>
        <a:srgbClr val="223F6A"/>
      </a:dk2>
      <a:lt2>
        <a:srgbClr val="8FAADC"/>
      </a:lt2>
      <a:accent1>
        <a:srgbClr val="9DC3E6"/>
      </a:accent1>
      <a:accent2>
        <a:srgbClr val="AAAAAA"/>
      </a:accent2>
      <a:accent3>
        <a:srgbClr val="D0CECE"/>
      </a:accent3>
      <a:accent4>
        <a:srgbClr val="DFDFDF"/>
      </a:accent4>
      <a:accent5>
        <a:srgbClr val="B81908"/>
      </a:accent5>
      <a:accent6>
        <a:srgbClr val="00B050"/>
      </a:accent6>
      <a:hlink>
        <a:srgbClr val="0000FF"/>
      </a:hlink>
      <a:folHlink>
        <a:srgbClr val="0070C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Master Constellation w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cabe56c-7e26-4c02-8d85-b4fad8b06d2c">
      <Terms xmlns="http://schemas.microsoft.com/office/infopath/2007/PartnerControls"/>
    </lcf76f155ced4ddcb4097134ff3c332f>
    <TaxCatchAll xmlns="2a11dabe-1bed-4248-9727-f03e5cc57e90" xsi:nil="true"/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44BB5FEBE7854D8D3E08ADDB8D8F5C" ma:contentTypeVersion="2424" ma:contentTypeDescription="Create a new document." ma:contentTypeScope="" ma:versionID="236d0c89c8b60c28872562f4ca736cc1">
  <xsd:schema xmlns:xsd="http://www.w3.org/2001/XMLSchema" xmlns:xs="http://www.w3.org/2001/XMLSchema" xmlns:p="http://schemas.microsoft.com/office/2006/metadata/properties" xmlns:ns2="2a11dabe-1bed-4248-9727-f03e5cc57e90" xmlns:ns3="4cabe56c-7e26-4c02-8d85-b4fad8b06d2c" targetNamespace="http://schemas.microsoft.com/office/2006/metadata/properties" ma:root="true" ma:fieldsID="037a120f32d96f430347f8ad48088456" ns2:_="" ns3:_="">
    <xsd:import namespace="2a11dabe-1bed-4248-9727-f03e5cc57e90"/>
    <xsd:import namespace="4cabe56c-7e26-4c02-8d85-b4fad8b06d2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2:SharedWithUsers" minOccurs="0"/>
                <xsd:element ref="ns2:SharedWithDetails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11dabe-1bed-4248-9727-f03e5cc57e9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957c9b77-ac52-44fc-befc-e36bf3f09653}" ma:internalName="TaxCatchAll" ma:showField="CatchAllData" ma:web="2a11dabe-1bed-4248-9727-f03e5cc57e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abe56c-7e26-4c02-8d85-b4fad8b06d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6ca949ac-152e-4478-8bdc-791c22970b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3040A15-7557-4FD4-987E-E85778EF1C4C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12B47698-2234-4648-BDC5-807819D731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4CA7C6-6EF8-493D-B2CC-2C62053374D6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4cabe56c-7e26-4c02-8d85-b4fad8b06d2c"/>
    <ds:schemaRef ds:uri="http://purl.org/dc/dcmitype/"/>
    <ds:schemaRef ds:uri="2a11dabe-1bed-4248-9727-f03e5cc57e90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178B4DE6-1ED9-45F8-8918-5533B15D70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11dabe-1bed-4248-9727-f03e5cc57e90"/>
    <ds:schemaRef ds:uri="4cabe56c-7e26-4c02-8d85-b4fad8b06d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1014</Words>
  <Application>Microsoft Office PowerPoint</Application>
  <PresentationFormat>On-screen Show (16:9)</PresentationFormat>
  <Paragraphs>194</Paragraphs>
  <Slides>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ＭＳ Ｐゴシック</vt:lpstr>
      <vt:lpstr>Apercu</vt:lpstr>
      <vt:lpstr>Arial</vt:lpstr>
      <vt:lpstr>Calibri</vt:lpstr>
      <vt:lpstr>CKNord Book</vt:lpstr>
      <vt:lpstr>Manrope</vt:lpstr>
      <vt:lpstr>Symbol</vt:lpstr>
      <vt:lpstr>Times New Roman</vt:lpstr>
      <vt:lpstr>Wingdings</vt:lpstr>
      <vt:lpstr>2_Master Constellation wide</vt:lpstr>
      <vt:lpstr>think-cell Slide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Susskind</dc:creator>
  <cp:lastModifiedBy>Felix Leis</cp:lastModifiedBy>
  <cp:revision>1259</cp:revision>
  <cp:lastPrinted>2023-04-14T12:16:15Z</cp:lastPrinted>
  <dcterms:created xsi:type="dcterms:W3CDTF">2017-10-02T06:30:19Z</dcterms:created>
  <dcterms:modified xsi:type="dcterms:W3CDTF">2026-02-27T14:11:00Z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0x0101002B4163104AD42E45AF657F262F2691C4</vt:lpwstr>
  </property>
  <property fmtid="{D5CDD505-2E9C-101B-9397-08002B2CF9AE}" pid="3" name="MediaServiceImageTags">
    <vt:lpwstr/>
  </property>
</Properties>
</file>